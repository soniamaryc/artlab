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sldIdLst>
    <p:sldId id="257" r:id="rId2"/>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3F423-9D9D-B999-BC3E-8A794FB6D595}" v="65" dt="2025-04-25T00:21:05.698"/>
    <p1510:client id="{963CADC6-16AC-4826-2D61-680C5E64ED64}" v="20" dt="2025-04-26T16:07:51.330"/>
    <p1510:client id="{E3928BAA-813E-C45D-1F81-B37246BA03C2}" v="55" dt="2025-04-26T04:14:00.067"/>
    <p1510:client id="{FBF42F14-4DDE-A0EA-9DD1-523DCA06D390}" v="5037" dt="2025-04-26T04:01:42.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11" autoAdjust="0"/>
    <p:restoredTop sz="97404" autoAdjust="0"/>
  </p:normalViewPr>
  <p:slideViewPr>
    <p:cSldViewPr>
      <p:cViewPr varScale="1">
        <p:scale>
          <a:sx n="30" d="100"/>
          <a:sy n="30" d="100"/>
        </p:scale>
        <p:origin x="1080" y="77"/>
      </p:cViewPr>
      <p:guideLst>
        <p:guide orient="horz" pos="6912"/>
        <p:guide pos="979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cs.espressif.com/projects/arduino-esp32/en/latest/getting_started.html" TargetMode="External"/><Relationship Id="rId13" Type="http://schemas.openxmlformats.org/officeDocument/2006/relationships/hyperlink" Target="https://www.airspayce.com/mikem/arduino/AccelStepper/" TargetMode="External"/><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hyperlink" Target="https://github.com/ESP32Async/ESPAsyncWebServer"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hyperlink" Target="https://developer.mozilla.org/en-US/docs/Web/HTTP#reference_documentation" TargetMode="External"/><Relationship Id="rId5" Type="http://schemas.openxmlformats.org/officeDocument/2006/relationships/image" Target="../media/image4.jpeg"/><Relationship Id="rId10" Type="http://schemas.openxmlformats.org/officeDocument/2006/relationships/hyperlink" Target="https://components101.com/motors/nema17-stepper-motor" TargetMode="External"/><Relationship Id="rId4" Type="http://schemas.openxmlformats.org/officeDocument/2006/relationships/image" Target="../media/image3.PNG"/><Relationship Id="rId9" Type="http://schemas.openxmlformats.org/officeDocument/2006/relationships/hyperlink" Target="https://docs.arduino.cc/language-reference/" TargetMode="External"/><Relationship Id="rId1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851052" y="5433164"/>
            <a:ext cx="6823710" cy="6077146"/>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defRPr/>
            </a:pPr>
            <a:endParaRPr lang="en-US" sz="2500">
              <a:ea typeface="Calibri"/>
              <a:cs typeface="Calibri"/>
            </a:endParaRPr>
          </a:p>
          <a:p>
            <a:pPr defTabSz="3135215">
              <a:defRPr/>
            </a:pPr>
            <a:endParaRPr lang="en-US" sz="2500" b="1" dirty="0">
              <a:latin typeface="Quattrocento" panose="02020802030000000404" pitchFamily="18" charset="0"/>
            </a:endParaRPr>
          </a:p>
        </p:txBody>
      </p:sp>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6172200" y="215613"/>
            <a:ext cx="17907000"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000" b="1" dirty="0">
                <a:latin typeface="Quattrocento"/>
              </a:rPr>
              <a:t>AutoPCRS: Automated Photochemical Reaction System</a:t>
            </a:r>
            <a:br>
              <a:rPr lang="en-US" sz="5650" b="1">
                <a:latin typeface="Quattrocento" panose="02020802030000000404" pitchFamily="18" charset="0"/>
              </a:rPr>
            </a:br>
            <a:r>
              <a:rPr lang="en-US" sz="5500">
                <a:latin typeface="Quattrocento"/>
              </a:rPr>
              <a:t>Cameron </a:t>
            </a:r>
            <a:r>
              <a:rPr lang="en-US" sz="5500" dirty="0">
                <a:latin typeface="Quattrocento"/>
              </a:rPr>
              <a:t>Collins, Brandon Emmerich</a:t>
            </a:r>
            <a:endParaRPr lang="en-US" sz="5000" dirty="0">
              <a:latin typeface="Quattrocento" panose="02020802030000000404" pitchFamily="18" charset="0"/>
            </a:endParaRP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455892" y="4602748"/>
            <a:ext cx="6881860"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5968878" y="4576145"/>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274355" y="4560967"/>
            <a:ext cx="6730998" cy="6239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1391459" y="12103510"/>
            <a:ext cx="6400800" cy="582201"/>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317063" y="9935830"/>
            <a:ext cx="662008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References</a:t>
            </a: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361870" y="5427087"/>
            <a:ext cx="7097490" cy="16064658"/>
          </a:xfrm>
          <a:prstGeom prst="round2DiagRect">
            <a:avLst>
              <a:gd name="adj1" fmla="val 6827"/>
              <a:gd name="adj2" fmla="val 346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buNone/>
            </a:pPr>
            <a:r>
              <a:rPr lang="en-US" sz="2400" b="1" dirty="0"/>
              <a:t>Research Phase:</a:t>
            </a:r>
            <a:br>
              <a:rPr lang="en-US" sz="2400" dirty="0"/>
            </a:br>
            <a:r>
              <a:rPr lang="en-US" sz="2400" dirty="0"/>
              <a:t>Collaborated with PhD photochemistry students at </a:t>
            </a:r>
          </a:p>
          <a:p>
            <a:pPr>
              <a:buNone/>
            </a:pPr>
            <a:r>
              <a:rPr lang="en-US" sz="2400" dirty="0"/>
              <a:t>BGSU to understand the manual workflow and </a:t>
            </a:r>
          </a:p>
          <a:p>
            <a:pPr>
              <a:buNone/>
            </a:pPr>
            <a:r>
              <a:rPr lang="en-US" sz="2400" dirty="0"/>
              <a:t>identify key variables for automation. Measured </a:t>
            </a:r>
          </a:p>
          <a:p>
            <a:pPr>
              <a:buNone/>
            </a:pPr>
            <a:r>
              <a:rPr lang="en-US" sz="2400" dirty="0"/>
              <a:t>the lab's fume hood and light source to define </a:t>
            </a:r>
          </a:p>
          <a:p>
            <a:pPr>
              <a:buNone/>
            </a:pPr>
            <a:r>
              <a:rPr lang="en-US" sz="2400" dirty="0"/>
              <a:t>design constraints and developed an initial </a:t>
            </a:r>
          </a:p>
          <a:p>
            <a:pPr>
              <a:buNone/>
            </a:pPr>
            <a:r>
              <a:rPr lang="en-US" sz="2400" dirty="0"/>
              <a:t>automation concept.</a:t>
            </a:r>
          </a:p>
          <a:p>
            <a:pPr>
              <a:buNone/>
            </a:pPr>
            <a:r>
              <a:rPr lang="en-US" sz="2400" b="1" dirty="0"/>
              <a:t>Prototyping:</a:t>
            </a:r>
            <a:br>
              <a:rPr lang="en-US" sz="2400" dirty="0"/>
            </a:br>
            <a:r>
              <a:rPr lang="en-US" sz="2400" dirty="0"/>
              <a:t>Constructed a basic prototype using an ESP32-S3 </a:t>
            </a:r>
          </a:p>
          <a:p>
            <a:pPr>
              <a:buNone/>
            </a:pPr>
            <a:r>
              <a:rPr lang="en-US" sz="2400" dirty="0"/>
              <a:t>microcontroller, a stepper motor, and a light source. </a:t>
            </a:r>
          </a:p>
          <a:p>
            <a:pPr>
              <a:buNone/>
            </a:pPr>
            <a:r>
              <a:rPr lang="en-US" sz="2400" dirty="0"/>
              <a:t>Successfully tested light activation and basic motion </a:t>
            </a:r>
          </a:p>
          <a:p>
            <a:pPr>
              <a:buNone/>
            </a:pPr>
            <a:r>
              <a:rPr lang="en-US" sz="2400" dirty="0"/>
              <a:t>control.</a:t>
            </a:r>
          </a:p>
          <a:p>
            <a:pPr>
              <a:buNone/>
            </a:pPr>
            <a:r>
              <a:rPr lang="en-US" sz="2400" b="1" dirty="0"/>
              <a:t>Hardware Development:</a:t>
            </a:r>
            <a:br>
              <a:rPr lang="en-US" sz="2400" dirty="0"/>
            </a:br>
            <a:r>
              <a:rPr lang="en-US" sz="2400" dirty="0"/>
              <a:t>Engineered a custom mount to hold the test tube </a:t>
            </a:r>
          </a:p>
          <a:p>
            <a:pPr>
              <a:buNone/>
            </a:pPr>
            <a:r>
              <a:rPr lang="en-US" sz="2400" dirty="0"/>
              <a:t>rack on a linear actuator and designed a light-shielded</a:t>
            </a:r>
          </a:p>
          <a:p>
            <a:pPr>
              <a:buNone/>
            </a:pPr>
            <a:r>
              <a:rPr lang="en-US" sz="2400" dirty="0"/>
              <a:t>enclosure to prevent unwanted exposure. Assembled </a:t>
            </a:r>
          </a:p>
          <a:p>
            <a:pPr>
              <a:buNone/>
            </a:pPr>
            <a:r>
              <a:rPr lang="en-US" sz="2400" dirty="0"/>
              <a:t>and wired all components into a working unit.</a:t>
            </a:r>
          </a:p>
          <a:p>
            <a:pPr>
              <a:buNone/>
            </a:pPr>
            <a:r>
              <a:rPr lang="en-US" sz="2400" b="1" dirty="0"/>
              <a:t>Software Development:</a:t>
            </a:r>
            <a:br>
              <a:rPr lang="en-US" sz="2400" dirty="0"/>
            </a:br>
            <a:r>
              <a:rPr lang="en-US" sz="2400" dirty="0"/>
              <a:t>Programmed the ESP32-S3 to manage actuator </a:t>
            </a:r>
          </a:p>
          <a:p>
            <a:pPr>
              <a:buNone/>
            </a:pPr>
            <a:r>
              <a:rPr lang="en-US" sz="2400" dirty="0"/>
              <a:t>movement and light timing. Built a Wi-Fi-enabled </a:t>
            </a:r>
          </a:p>
          <a:p>
            <a:pPr>
              <a:buNone/>
            </a:pPr>
            <a:r>
              <a:rPr lang="en-US" sz="2400" dirty="0"/>
              <a:t>web interface for setting exposure parameters and </a:t>
            </a:r>
          </a:p>
          <a:p>
            <a:pPr>
              <a:buNone/>
            </a:pPr>
            <a:r>
              <a:rPr lang="en-US" sz="2400" dirty="0"/>
              <a:t>viewing system status. Developed both frontend and </a:t>
            </a:r>
          </a:p>
          <a:p>
            <a:pPr>
              <a:buNone/>
            </a:pPr>
            <a:r>
              <a:rPr lang="en-US" sz="2400" dirty="0"/>
              <a:t>backend systems to support real-time control and</a:t>
            </a:r>
          </a:p>
          <a:p>
            <a:pPr>
              <a:buNone/>
            </a:pPr>
            <a:r>
              <a:rPr lang="en-US" sz="2400" dirty="0"/>
              <a:t>monitoring.</a:t>
            </a:r>
          </a:p>
          <a:p>
            <a:r>
              <a:rPr lang="en-US" sz="2400" b="1" dirty="0"/>
              <a:t>Testing and Refinement:</a:t>
            </a:r>
            <a:br>
              <a:rPr lang="en-US" sz="2400" dirty="0"/>
            </a:br>
            <a:r>
              <a:rPr lang="en-US" sz="2400" dirty="0"/>
              <a:t>Enhanced the web interface for better user </a:t>
            </a:r>
          </a:p>
          <a:p>
            <a:r>
              <a:rPr lang="en-US" sz="2400" dirty="0"/>
              <a:t>experience. Validated the accuracy of light </a:t>
            </a:r>
          </a:p>
          <a:p>
            <a:r>
              <a:rPr lang="en-US" sz="2400" dirty="0"/>
              <a:t>exposure timing and refined actuator travel to </a:t>
            </a:r>
          </a:p>
          <a:p>
            <a:r>
              <a:rPr lang="en-US" sz="2400" dirty="0"/>
              <a:t>match test tube positions. Integrated all systems </a:t>
            </a:r>
          </a:p>
          <a:p>
            <a:r>
              <a:rPr lang="en-US" sz="2400" dirty="0"/>
              <a:t>into a final enclosure and confirmed full functionality </a:t>
            </a:r>
          </a:p>
          <a:p>
            <a:r>
              <a:rPr lang="en-US" sz="2400" dirty="0"/>
              <a:t>of the system.</a:t>
            </a:r>
            <a:endParaRPr lang="en-US" sz="2400" dirty="0">
              <a:ea typeface="Calibri"/>
              <a:cs typeface="Calibri"/>
            </a:endParaRP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183649" y="5371789"/>
            <a:ext cx="6730998" cy="4325087"/>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endParaRPr lang="en-US" sz="2400" dirty="0">
              <a:latin typeface="Calibri"/>
              <a:ea typeface="Calibri"/>
              <a:cs typeface="Calibri"/>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6128746" y="5371789"/>
            <a:ext cx="6565208" cy="897946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t" anchorCtr="0"/>
          <a:lstStyle>
            <a:defPPr>
              <a:defRPr kern="1200"/>
            </a:defPPr>
          </a:lstStyle>
          <a:p>
            <a:pPr marL="285750" indent="-285750" defTabSz="3135215">
              <a:lnSpc>
                <a:spcPct val="90000"/>
              </a:lnSpc>
              <a:spcBef>
                <a:spcPts val="1000"/>
              </a:spcBef>
              <a:buFont typeface="Arial"/>
              <a:buChar char="•"/>
            </a:pPr>
            <a:endParaRPr lang="en-US" sz="2000" b="1" dirty="0">
              <a:latin typeface="Aptos"/>
              <a:ea typeface="Calibri"/>
              <a:cs typeface="Calibri"/>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841941" y="13169613"/>
            <a:ext cx="7138830" cy="8373121"/>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buNone/>
            </a:pPr>
            <a:endParaRPr lang="en-US" sz="2500" dirty="0">
              <a:ea typeface="Calibri"/>
              <a:cs typeface="Calibri"/>
            </a:endParaRPr>
          </a:p>
        </p:txBody>
      </p:sp>
      <p:sp>
        <p:nvSpPr>
          <p:cNvPr id="22" name="Rectangle 10">
            <a:extLst>
              <a:ext uri="{FF2B5EF4-FFF2-40B4-BE49-F238E27FC236}">
                <a16:creationId xmlns:a16="http://schemas.microsoft.com/office/drawing/2014/main" id="{02D32A73-8566-BD19-AA5F-CF4418B1357A}"/>
              </a:ext>
            </a:extLst>
          </p:cNvPr>
          <p:cNvSpPr>
            <a:spLocks noChangeArrowheads="1"/>
          </p:cNvSpPr>
          <p:nvPr/>
        </p:nvSpPr>
        <p:spPr bwMode="auto">
          <a:xfrm>
            <a:off x="23513847" y="13940964"/>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 Team</a:t>
            </a: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39" y="910131"/>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628003" y="17847537"/>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628003" y="18656227"/>
            <a:ext cx="6408652" cy="3172639"/>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marL="342900" indent="-342900" defTabSz="3135215">
              <a:buFont typeface="Wingdings"/>
              <a:buChar char="§"/>
            </a:pPr>
            <a:endParaRPr lang="en-US" sz="2400" dirty="0">
              <a:latin typeface="Aptos"/>
              <a:ea typeface="Calibri"/>
              <a:cs typeface="Calibri"/>
            </a:endParaRPr>
          </a:p>
          <a:p>
            <a:pPr marL="342900" indent="-342900" defTabSz="3135215">
              <a:buFont typeface="Wingdings"/>
              <a:buChar char="§"/>
            </a:pPr>
            <a:endParaRPr lang="en-US" sz="2400" dirty="0">
              <a:latin typeface="Aptos"/>
              <a:ea typeface="Calibri"/>
              <a:cs typeface="Calibri"/>
            </a:endParaRPr>
          </a:p>
          <a:p>
            <a:pPr defTabSz="3135215"/>
            <a:endParaRPr lang="en-US" sz="2400" dirty="0">
              <a:latin typeface="Aptos"/>
              <a:ea typeface="Calibri"/>
              <a:cs typeface="Calibri"/>
            </a:endParaRPr>
          </a:p>
          <a:p>
            <a:pPr algn="ctr" defTabSz="3135215"/>
            <a:endParaRPr lang="en-US" sz="2400" b="1" dirty="0">
              <a:latin typeface="Quattrocento" panose="02020802030000000404" pitchFamily="18" charset="0"/>
              <a:ea typeface="Calibri"/>
              <a:cs typeface="Calibri"/>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910398" y="4560981"/>
            <a:ext cx="6881861"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Abstract</a:t>
            </a: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9855" y="1023840"/>
            <a:ext cx="5318761" cy="1521452"/>
          </a:xfrm>
          <a:prstGeom prst="rect">
            <a:avLst/>
          </a:prstGeom>
        </p:spPr>
      </p:pic>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128745" y="14615902"/>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Project/Prototype Images</a:t>
            </a:r>
          </a:p>
        </p:txBody>
      </p:sp>
      <p:sp>
        <p:nvSpPr>
          <p:cNvPr id="32" name="Rectangle 10">
            <a:extLst>
              <a:ext uri="{FF2B5EF4-FFF2-40B4-BE49-F238E27FC236}">
                <a16:creationId xmlns:a16="http://schemas.microsoft.com/office/drawing/2014/main" id="{69FF1C72-F5A1-A64F-C5A6-937B4CA2462B}"/>
              </a:ext>
            </a:extLst>
          </p:cNvPr>
          <p:cNvSpPr>
            <a:spLocks noChangeArrowheads="1"/>
          </p:cNvSpPr>
          <p:nvPr/>
        </p:nvSpPr>
        <p:spPr bwMode="auto">
          <a:xfrm>
            <a:off x="23395364" y="10658731"/>
            <a:ext cx="6464421" cy="3071442"/>
          </a:xfrm>
          <a:prstGeom prst="round2DiagRect">
            <a:avLst>
              <a:gd name="adj1" fmla="val 6827"/>
              <a:gd name="adj2" fmla="val 2794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pic>
        <p:nvPicPr>
          <p:cNvPr id="15" name="Picture 14" descr="A diagram of a system architecture&#10;&#10;AI-generated content may be incorrect.">
            <a:extLst>
              <a:ext uri="{FF2B5EF4-FFF2-40B4-BE49-F238E27FC236}">
                <a16:creationId xmlns:a16="http://schemas.microsoft.com/office/drawing/2014/main" id="{83209672-B875-672C-5040-351C7CD773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4942" y="17186892"/>
            <a:ext cx="6728316" cy="3949506"/>
          </a:xfrm>
          <a:prstGeom prst="rect">
            <a:avLst/>
          </a:prstGeom>
        </p:spPr>
      </p:pic>
      <p:pic>
        <p:nvPicPr>
          <p:cNvPr id="11" name="Picture 10" descr="A screenshot of a test tube timing&#10;&#10;AI-generated content may be incorrect.">
            <a:extLst>
              <a:ext uri="{FF2B5EF4-FFF2-40B4-BE49-F238E27FC236}">
                <a16:creationId xmlns:a16="http://schemas.microsoft.com/office/drawing/2014/main" id="{A978D320-3DED-9D7D-EF96-653222D860FB}"/>
              </a:ext>
            </a:extLst>
          </p:cNvPr>
          <p:cNvPicPr>
            <a:picLocks noChangeAspect="1"/>
          </p:cNvPicPr>
          <p:nvPr/>
        </p:nvPicPr>
        <p:blipFill>
          <a:blip r:embed="rId5"/>
          <a:stretch>
            <a:fillRect/>
          </a:stretch>
        </p:blipFill>
        <p:spPr>
          <a:xfrm>
            <a:off x="16417397" y="15221945"/>
            <a:ext cx="5915868" cy="3057606"/>
          </a:xfrm>
          <a:prstGeom prst="rect">
            <a:avLst/>
          </a:prstGeom>
        </p:spPr>
      </p:pic>
      <p:pic>
        <p:nvPicPr>
          <p:cNvPr id="13" name="Picture 12" descr="A box with wires and electronics&#10;&#10;AI-generated content may be incorrect.">
            <a:extLst>
              <a:ext uri="{FF2B5EF4-FFF2-40B4-BE49-F238E27FC236}">
                <a16:creationId xmlns:a16="http://schemas.microsoft.com/office/drawing/2014/main" id="{1D6E81BC-E6E0-B037-B21E-8A4EB3D47C8C}"/>
              </a:ext>
            </a:extLst>
          </p:cNvPr>
          <p:cNvPicPr>
            <a:picLocks noChangeAspect="1"/>
          </p:cNvPicPr>
          <p:nvPr/>
        </p:nvPicPr>
        <p:blipFill>
          <a:blip r:embed="rId6"/>
          <a:srcRect l="11459" t="-6474" r="-1072" b="13468"/>
          <a:stretch/>
        </p:blipFill>
        <p:spPr>
          <a:xfrm>
            <a:off x="16761548" y="10368408"/>
            <a:ext cx="5040499" cy="3949801"/>
          </a:xfrm>
          <a:prstGeom prst="rect">
            <a:avLst/>
          </a:prstGeom>
        </p:spPr>
      </p:pic>
      <p:pic>
        <p:nvPicPr>
          <p:cNvPr id="27" name="Picture 26" descr="A machine on a table&#10;&#10;AI-generated content may be incorrect.">
            <a:extLst>
              <a:ext uri="{FF2B5EF4-FFF2-40B4-BE49-F238E27FC236}">
                <a16:creationId xmlns:a16="http://schemas.microsoft.com/office/drawing/2014/main" id="{D1BD6AC3-7D60-C1D5-5EB2-2135A8ABE521}"/>
              </a:ext>
            </a:extLst>
          </p:cNvPr>
          <p:cNvPicPr>
            <a:picLocks noChangeAspect="1"/>
          </p:cNvPicPr>
          <p:nvPr/>
        </p:nvPicPr>
        <p:blipFill>
          <a:blip r:embed="rId7"/>
          <a:srcRect l="22857" t="25410" r="20000" b="22446"/>
          <a:stretch/>
        </p:blipFill>
        <p:spPr>
          <a:xfrm>
            <a:off x="16501779" y="18443963"/>
            <a:ext cx="5565019" cy="3058503"/>
          </a:xfrm>
          <a:prstGeom prst="rect">
            <a:avLst/>
          </a:prstGeom>
        </p:spPr>
      </p:pic>
      <p:sp>
        <p:nvSpPr>
          <p:cNvPr id="12" name="TextBox 11">
            <a:extLst>
              <a:ext uri="{FF2B5EF4-FFF2-40B4-BE49-F238E27FC236}">
                <a16:creationId xmlns:a16="http://schemas.microsoft.com/office/drawing/2014/main" id="{A93DE195-AC1F-EA8E-02C1-DF139A9C7C2A}"/>
              </a:ext>
            </a:extLst>
          </p:cNvPr>
          <p:cNvSpPr txBox="1"/>
          <p:nvPr/>
        </p:nvSpPr>
        <p:spPr>
          <a:xfrm>
            <a:off x="908253" y="5497688"/>
            <a:ext cx="6837853" cy="7478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dirty="0">
                <a:ea typeface="+mn-lt"/>
                <a:cs typeface="+mn-lt"/>
              </a:rPr>
              <a:t>Traditional photochemical experiments require manual test tube positioning and light source timing, leading to a labor-intensive, variable, and inefficient process. The Automated Photochemical Reaction System (</a:t>
            </a:r>
            <a:r>
              <a:rPr lang="en-US" sz="2500" dirty="0" err="1">
                <a:ea typeface="+mn-lt"/>
                <a:cs typeface="+mn-lt"/>
              </a:rPr>
              <a:t>AutoPCRS</a:t>
            </a:r>
            <a:r>
              <a:rPr lang="en-US" sz="2500" dirty="0">
                <a:ea typeface="+mn-lt"/>
                <a:cs typeface="+mn-lt"/>
              </a:rPr>
              <a:t>) aims to address these issues by automating test tube movement and light exposure control using an ESP32-S3 microcontroller and ball screw linear actuator. </a:t>
            </a:r>
            <a:endParaRPr lang="en-US">
              <a:ea typeface="+mn-lt"/>
              <a:cs typeface="+mn-lt"/>
            </a:endParaRPr>
          </a:p>
          <a:p>
            <a:endParaRPr lang="en-US" sz="2500" dirty="0">
              <a:ea typeface="+mn-lt"/>
              <a:cs typeface="+mn-lt"/>
            </a:endParaRPr>
          </a:p>
          <a:p>
            <a:r>
              <a:rPr lang="en-US" sz="2500" dirty="0">
                <a:ea typeface="+mn-lt"/>
                <a:cs typeface="+mn-lt"/>
              </a:rPr>
              <a:t> Featuring a web-based interface for real-time monitoring and parameter setting, the system also includes a light shielding enclosure and electronic housing for enhanced safety and reliability. By improving precision, repeatability, and throughput, </a:t>
            </a:r>
            <a:r>
              <a:rPr lang="en-US" sz="2500" dirty="0" err="1">
                <a:ea typeface="+mn-lt"/>
                <a:cs typeface="+mn-lt"/>
              </a:rPr>
              <a:t>AutoPCRS</a:t>
            </a:r>
            <a:r>
              <a:rPr lang="en-US" sz="2500" dirty="0">
                <a:ea typeface="+mn-lt"/>
                <a:cs typeface="+mn-lt"/>
              </a:rPr>
              <a:t> offers a scalable solution for photochemical research.</a:t>
            </a:r>
            <a:endParaRPr lang="en-US">
              <a:ea typeface="Calibri"/>
              <a:cs typeface="Calibri"/>
            </a:endParaRPr>
          </a:p>
          <a:p>
            <a:endParaRPr lang="en-US" sz="2000" dirty="0">
              <a:ea typeface="Calibri"/>
              <a:cs typeface="Calibri"/>
            </a:endParaRPr>
          </a:p>
          <a:p>
            <a:endParaRPr lang="en-US" sz="2000" dirty="0">
              <a:ea typeface="Calibri"/>
              <a:cs typeface="Calibri"/>
            </a:endParaRPr>
          </a:p>
          <a:p>
            <a:endParaRPr lang="en-US" sz="2000" dirty="0">
              <a:ea typeface="Calibri"/>
              <a:cs typeface="Calibri"/>
            </a:endParaRPr>
          </a:p>
          <a:p>
            <a:endParaRPr lang="en-US" sz="2000" dirty="0">
              <a:ea typeface="Calibri"/>
              <a:cs typeface="Calibri"/>
            </a:endParaRPr>
          </a:p>
        </p:txBody>
      </p:sp>
      <p:sp>
        <p:nvSpPr>
          <p:cNvPr id="16" name="TextBox 15">
            <a:extLst>
              <a:ext uri="{FF2B5EF4-FFF2-40B4-BE49-F238E27FC236}">
                <a16:creationId xmlns:a16="http://schemas.microsoft.com/office/drawing/2014/main" id="{C6EB9864-B1F0-7AC9-BE14-82BA198A8F52}"/>
              </a:ext>
            </a:extLst>
          </p:cNvPr>
          <p:cNvSpPr txBox="1"/>
          <p:nvPr/>
        </p:nvSpPr>
        <p:spPr>
          <a:xfrm>
            <a:off x="23771534" y="19281204"/>
            <a:ext cx="6109569" cy="22043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8" name="TextBox 17">
            <a:extLst>
              <a:ext uri="{FF2B5EF4-FFF2-40B4-BE49-F238E27FC236}">
                <a16:creationId xmlns:a16="http://schemas.microsoft.com/office/drawing/2014/main" id="{B852C7C8-62DF-8BFA-DA7A-0FD8B5ACD881}"/>
              </a:ext>
            </a:extLst>
          </p:cNvPr>
          <p:cNvSpPr txBox="1"/>
          <p:nvPr/>
        </p:nvSpPr>
        <p:spPr>
          <a:xfrm>
            <a:off x="23741054" y="18655496"/>
            <a:ext cx="6334958" cy="3073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Sans-Serif"/>
              <a:buChar char="§"/>
            </a:pPr>
            <a:r>
              <a:rPr lang="en-US" sz="2200" dirty="0">
                <a:latin typeface="Aptos"/>
              </a:rPr>
              <a:t>Thanks to </a:t>
            </a:r>
            <a:r>
              <a:rPr lang="en-US" sz="2200" b="1" dirty="0">
                <a:latin typeface="Aptos"/>
              </a:rPr>
              <a:t>Dr. Jayaraman Sivaguru and his team</a:t>
            </a:r>
            <a:r>
              <a:rPr lang="en-US" sz="2200" dirty="0">
                <a:latin typeface="Aptos"/>
              </a:rPr>
              <a:t> for the project’s inception idea. </a:t>
            </a:r>
          </a:p>
          <a:p>
            <a:pPr marL="342900" indent="-342900">
              <a:buFont typeface="Wingdings,Sans-Serif"/>
              <a:buChar char="§"/>
            </a:pPr>
            <a:r>
              <a:rPr lang="en-US" sz="2200" dirty="0">
                <a:latin typeface="Aptos"/>
              </a:rPr>
              <a:t>Thanks to </a:t>
            </a:r>
            <a:r>
              <a:rPr lang="en-US" sz="2200" b="1" dirty="0">
                <a:latin typeface="Aptos"/>
              </a:rPr>
              <a:t>Dr. Sonia Chacko</a:t>
            </a:r>
            <a:r>
              <a:rPr lang="en-US" sz="2200" dirty="0">
                <a:latin typeface="Aptos"/>
              </a:rPr>
              <a:t> for the support and valuable advice throughout this project.</a:t>
            </a:r>
          </a:p>
          <a:p>
            <a:pPr marL="285750" indent="-285750">
              <a:lnSpc>
                <a:spcPct val="90000"/>
              </a:lnSpc>
              <a:spcBef>
                <a:spcPts val="500"/>
              </a:spcBef>
              <a:buFont typeface="Wingdings,Sans-Serif"/>
              <a:buChar char="§"/>
            </a:pPr>
            <a:r>
              <a:rPr lang="en-US" sz="2200" dirty="0">
                <a:latin typeface="Aptos"/>
              </a:rPr>
              <a:t>Thanks to </a:t>
            </a:r>
            <a:r>
              <a:rPr lang="en-US" sz="2200" b="1" dirty="0">
                <a:latin typeface="Aptos"/>
              </a:rPr>
              <a:t>Dr. </a:t>
            </a:r>
            <a:r>
              <a:rPr lang="en-US" sz="2200" b="1" dirty="0" err="1">
                <a:latin typeface="Aptos"/>
              </a:rPr>
              <a:t>Zahabul</a:t>
            </a:r>
            <a:r>
              <a:rPr lang="en-US" sz="2200" b="1" dirty="0">
                <a:latin typeface="Aptos"/>
              </a:rPr>
              <a:t> Islam</a:t>
            </a:r>
            <a:r>
              <a:rPr lang="en-US" sz="2200" dirty="0">
                <a:latin typeface="Aptos"/>
              </a:rPr>
              <a:t> for assisting with use of the lab 3D printers.</a:t>
            </a:r>
          </a:p>
          <a:p>
            <a:pPr marL="285750" indent="-285750">
              <a:lnSpc>
                <a:spcPct val="90000"/>
              </a:lnSpc>
              <a:spcBef>
                <a:spcPts val="500"/>
              </a:spcBef>
              <a:buFont typeface="Wingdings,Sans-Serif"/>
              <a:buChar char="§"/>
            </a:pPr>
            <a:endParaRPr lang="en-US" sz="2200" dirty="0">
              <a:latin typeface="Aptos"/>
            </a:endParaRPr>
          </a:p>
          <a:p>
            <a:pPr defTabSz="3135215"/>
            <a:r>
              <a:rPr lang="en-US" sz="2000" b="1" dirty="0">
                <a:latin typeface="Quattrocento" panose="02020802030000000404" pitchFamily="18" charset="0"/>
              </a:rPr>
              <a:t>Funding Source: </a:t>
            </a:r>
            <a:r>
              <a:rPr lang="en-US" sz="1800" dirty="0">
                <a:latin typeface="Quattrocento" panose="02020802030000000404" pitchFamily="18" charset="0"/>
              </a:rPr>
              <a:t>Center for Undergraduate Research and Scholarship (CURS)</a:t>
            </a:r>
            <a:endParaRPr lang="en-US" dirty="0"/>
          </a:p>
        </p:txBody>
      </p:sp>
      <p:sp>
        <p:nvSpPr>
          <p:cNvPr id="24" name="TextBox 23">
            <a:extLst>
              <a:ext uri="{FF2B5EF4-FFF2-40B4-BE49-F238E27FC236}">
                <a16:creationId xmlns:a16="http://schemas.microsoft.com/office/drawing/2014/main" id="{AF5F3733-3D75-E7EA-47D1-42D32196C28F}"/>
              </a:ext>
            </a:extLst>
          </p:cNvPr>
          <p:cNvSpPr txBox="1"/>
          <p:nvPr/>
        </p:nvSpPr>
        <p:spPr>
          <a:xfrm>
            <a:off x="16113082" y="5555442"/>
            <a:ext cx="6619468" cy="51169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Wingdings"/>
              <a:buChar char="q"/>
            </a:pPr>
            <a:r>
              <a:rPr lang="en-US" sz="2000" b="1" dirty="0">
                <a:latin typeface="Aptos"/>
              </a:rPr>
              <a:t>Main accomplishments:</a:t>
            </a:r>
            <a:endParaRPr lang="en-US" sz="2000" dirty="0">
              <a:latin typeface="Aptos"/>
            </a:endParaRPr>
          </a:p>
          <a:p>
            <a:pPr marL="742950" lvl="1" indent="-285750">
              <a:lnSpc>
                <a:spcPct val="90000"/>
              </a:lnSpc>
              <a:spcBef>
                <a:spcPts val="500"/>
              </a:spcBef>
              <a:buFont typeface="Wingdings,Sans-Serif"/>
              <a:buChar char="§"/>
            </a:pPr>
            <a:r>
              <a:rPr lang="en-US" sz="1700" dirty="0">
                <a:latin typeface="Aptos"/>
              </a:rPr>
              <a:t>Developed an automated system which offers precise light exposure control and precise movement of test tubes for photochemical experiments.</a:t>
            </a:r>
          </a:p>
          <a:p>
            <a:pPr marL="742950" lvl="1" indent="-285750">
              <a:lnSpc>
                <a:spcPct val="90000"/>
              </a:lnSpc>
              <a:spcBef>
                <a:spcPts val="500"/>
              </a:spcBef>
              <a:buFont typeface="Wingdings,Sans-Serif"/>
              <a:buChar char="§"/>
            </a:pPr>
            <a:r>
              <a:rPr lang="en-US" sz="1700" dirty="0">
                <a:latin typeface="Aptos"/>
              </a:rPr>
              <a:t>Implemented a  web-based interface for user input and monitoring of process.</a:t>
            </a:r>
          </a:p>
          <a:p>
            <a:pPr marL="742950" lvl="1" indent="-285750">
              <a:lnSpc>
                <a:spcPct val="90000"/>
              </a:lnSpc>
              <a:spcBef>
                <a:spcPts val="500"/>
              </a:spcBef>
              <a:buFont typeface="Wingdings,Sans-Serif"/>
              <a:buChar char="§"/>
            </a:pPr>
            <a:r>
              <a:rPr lang="en-US" sz="1700" dirty="0">
                <a:latin typeface="Aptos"/>
              </a:rPr>
              <a:t>Verified accurate positioning and current timing of light source based on user input.</a:t>
            </a:r>
          </a:p>
          <a:p>
            <a:pPr marL="742950" lvl="1" indent="-285750">
              <a:lnSpc>
                <a:spcPct val="90000"/>
              </a:lnSpc>
              <a:spcBef>
                <a:spcPts val="500"/>
              </a:spcBef>
              <a:buFont typeface="Wingdings,Sans-Serif"/>
              <a:buChar char="§"/>
            </a:pPr>
            <a:r>
              <a:rPr lang="en-US" sz="1700" dirty="0">
                <a:latin typeface="Aptos"/>
              </a:rPr>
              <a:t>Reduced manual workload intervention between samples.</a:t>
            </a:r>
          </a:p>
          <a:p>
            <a:pPr marL="342900" indent="-342900">
              <a:lnSpc>
                <a:spcPct val="90000"/>
              </a:lnSpc>
              <a:spcBef>
                <a:spcPts val="1000"/>
              </a:spcBef>
              <a:buFont typeface="Wingdings"/>
              <a:buChar char="q"/>
            </a:pPr>
            <a:r>
              <a:rPr lang="en-US" sz="2000" b="1" dirty="0">
                <a:latin typeface="Aptos"/>
              </a:rPr>
              <a:t>Lessons learned:</a:t>
            </a:r>
            <a:endParaRPr lang="en-US" sz="2000" dirty="0">
              <a:latin typeface="Aptos"/>
            </a:endParaRPr>
          </a:p>
          <a:p>
            <a:pPr marL="742950" lvl="1" indent="-285750">
              <a:lnSpc>
                <a:spcPct val="90000"/>
              </a:lnSpc>
              <a:spcBef>
                <a:spcPts val="500"/>
              </a:spcBef>
              <a:buFont typeface="Wingdings,Sans-Serif"/>
              <a:buChar char="§"/>
            </a:pPr>
            <a:r>
              <a:rPr lang="en-US" sz="1700" dirty="0">
                <a:latin typeface="Aptos"/>
              </a:rPr>
              <a:t>Prototyping mechanical components often requires multiple design iterations.</a:t>
            </a:r>
          </a:p>
          <a:p>
            <a:pPr marL="742950" lvl="1" indent="-285750">
              <a:lnSpc>
                <a:spcPct val="90000"/>
              </a:lnSpc>
              <a:spcBef>
                <a:spcPts val="500"/>
              </a:spcBef>
              <a:buFont typeface="Wingdings,Sans-Serif"/>
              <a:buChar char="§"/>
            </a:pPr>
            <a:r>
              <a:rPr lang="en-US" sz="1700" dirty="0">
                <a:latin typeface="Aptos"/>
              </a:rPr>
              <a:t>Effective time management is critical for meeting project deadlines.</a:t>
            </a:r>
          </a:p>
          <a:p>
            <a:pPr marL="742950" lvl="1" indent="-285750">
              <a:lnSpc>
                <a:spcPct val="90000"/>
              </a:lnSpc>
              <a:spcBef>
                <a:spcPts val="500"/>
              </a:spcBef>
              <a:buFont typeface="Wingdings,Sans-Serif"/>
              <a:buChar char="§"/>
            </a:pPr>
            <a:r>
              <a:rPr lang="en-US" sz="1700" dirty="0">
                <a:latin typeface="Aptos"/>
              </a:rPr>
              <a:t>Order parts early, and if you're unsure whether you need a part, order it anyway. It's better to have the parts on hand than to delay progress waiting for a part.</a:t>
            </a:r>
          </a:p>
          <a:p>
            <a:pPr algn="l"/>
            <a:endParaRPr lang="en-US" dirty="0">
              <a:ea typeface="Calibri"/>
              <a:cs typeface="Calibri"/>
            </a:endParaRPr>
          </a:p>
        </p:txBody>
      </p:sp>
      <p:sp>
        <p:nvSpPr>
          <p:cNvPr id="29" name="TextBox 28">
            <a:extLst>
              <a:ext uri="{FF2B5EF4-FFF2-40B4-BE49-F238E27FC236}">
                <a16:creationId xmlns:a16="http://schemas.microsoft.com/office/drawing/2014/main" id="{9B0F1A8C-E94C-81FE-1692-FA63EED46636}"/>
              </a:ext>
            </a:extLst>
          </p:cNvPr>
          <p:cNvSpPr txBox="1"/>
          <p:nvPr/>
        </p:nvSpPr>
        <p:spPr>
          <a:xfrm>
            <a:off x="23125456" y="5368683"/>
            <a:ext cx="684738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ptos"/>
                <a:ea typeface="Calibri"/>
                <a:cs typeface="Calibri"/>
              </a:rPr>
              <a:t>This project highlights the potential of laboratory automation to enhance timing precision, boost  the number of experiments that can be conducted, and significantly lessen the manual effort required from researchers when conducting such experiments.</a:t>
            </a:r>
            <a:endParaRPr lang="en-US" dirty="0">
              <a:latin typeface="Calibri" panose="020F0502020204030204"/>
              <a:ea typeface="Calibri"/>
              <a:cs typeface="Calibri"/>
            </a:endParaRPr>
          </a:p>
          <a:p>
            <a:endParaRPr lang="en-US" dirty="0">
              <a:latin typeface="Aptos"/>
              <a:ea typeface="Calibri"/>
              <a:cs typeface="Calibri"/>
            </a:endParaRPr>
          </a:p>
          <a:p>
            <a:r>
              <a:rPr lang="en-US" b="1" dirty="0">
                <a:latin typeface="Aptos"/>
                <a:ea typeface="Calibri"/>
                <a:cs typeface="Calibri"/>
              </a:rPr>
              <a:t>Future Improvements:</a:t>
            </a:r>
            <a:endParaRPr lang="en-US" dirty="0">
              <a:latin typeface="Aptos"/>
              <a:ea typeface="Calibri"/>
              <a:cs typeface="Calibri"/>
            </a:endParaRPr>
          </a:p>
          <a:p>
            <a:pPr marL="285750" indent="-285750">
              <a:buFont typeface="Arial,Sans-Serif"/>
              <a:buChar char="•"/>
            </a:pPr>
            <a:r>
              <a:rPr lang="en-US" dirty="0">
                <a:latin typeface="Aptos"/>
                <a:ea typeface="Calibri"/>
                <a:cs typeface="Calibri"/>
              </a:rPr>
              <a:t>Add sensors to confirm tube alignment and reduce reliance on fixed positions.</a:t>
            </a:r>
          </a:p>
          <a:p>
            <a:pPr marL="285750" indent="-285750">
              <a:buFont typeface="Arial,Sans-Serif"/>
              <a:buChar char="•"/>
            </a:pPr>
            <a:r>
              <a:rPr lang="en-US" dirty="0">
                <a:latin typeface="Aptos"/>
                <a:ea typeface="Calibri"/>
                <a:cs typeface="Calibri"/>
              </a:rPr>
              <a:t>Improve compatibility with a wider range of test tube rack formats.</a:t>
            </a:r>
          </a:p>
          <a:p>
            <a:pPr marL="285750" indent="-285750">
              <a:buFont typeface="Arial,Sans-Serif"/>
              <a:buChar char="•"/>
            </a:pPr>
            <a:r>
              <a:rPr lang="en-US" dirty="0">
                <a:latin typeface="Aptos"/>
                <a:ea typeface="Calibri"/>
                <a:cs typeface="Calibri"/>
              </a:rPr>
              <a:t>Implement a detachable connector for the stepper motor to simplify transport.</a:t>
            </a:r>
          </a:p>
          <a:p>
            <a:pPr marL="285750" indent="-285750">
              <a:buFont typeface="Arial,Sans-Serif"/>
              <a:buChar char="•"/>
            </a:pPr>
            <a:r>
              <a:rPr lang="en-US" dirty="0">
                <a:latin typeface="Aptos"/>
                <a:ea typeface="Calibri"/>
                <a:cs typeface="Calibri"/>
              </a:rPr>
              <a:t>Replace solid core wiring with stranded wire and terminal blocks for better durability.</a:t>
            </a:r>
          </a:p>
          <a:p>
            <a:pPr marL="285750" indent="-285750">
              <a:buFont typeface="Arial,Sans-Serif"/>
              <a:buChar char="•"/>
            </a:pPr>
            <a:r>
              <a:rPr lang="en-US" dirty="0">
                <a:latin typeface="Aptos"/>
                <a:ea typeface="Calibri"/>
                <a:cs typeface="Calibri"/>
              </a:rPr>
              <a:t>Implement pause and resume functionality.</a:t>
            </a:r>
          </a:p>
        </p:txBody>
      </p:sp>
      <p:sp>
        <p:nvSpPr>
          <p:cNvPr id="30" name="TextBox 29">
            <a:extLst>
              <a:ext uri="{FF2B5EF4-FFF2-40B4-BE49-F238E27FC236}">
                <a16:creationId xmlns:a16="http://schemas.microsoft.com/office/drawing/2014/main" id="{DADE1B17-B224-EEDE-D560-419022EC90D1}"/>
              </a:ext>
            </a:extLst>
          </p:cNvPr>
          <p:cNvSpPr txBox="1"/>
          <p:nvPr/>
        </p:nvSpPr>
        <p:spPr>
          <a:xfrm>
            <a:off x="1013588" y="13270689"/>
            <a:ext cx="6658119" cy="86792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Scientific research relies heavily on experimentation, with certain  fields,  such as  photochemistry,  being highly manual, time consuming, and labor intensive. Photochemical studies often require fine tuning variables such as exposure time, light intensity, and reactant concentration to  study the resulting chemical behavior. </a:t>
            </a:r>
          </a:p>
          <a:p>
            <a:endParaRPr lang="en-US" sz="2000" dirty="0">
              <a:ea typeface="+mn-lt"/>
              <a:cs typeface="+mn-lt"/>
            </a:endParaRPr>
          </a:p>
          <a:p>
            <a:r>
              <a:rPr lang="en-US" sz="2000" dirty="0">
                <a:ea typeface="+mn-lt"/>
                <a:cs typeface="+mn-lt"/>
              </a:rPr>
              <a:t>In traditional photochemical setups, researchers must manually prepare and place reactants into test tubes, adjust and aim light sources by hand, and start and stop the experiment based on the required exposure time.</a:t>
            </a:r>
            <a:endParaRPr lang="en-US" sz="2000">
              <a:ea typeface="Calibri"/>
              <a:cs typeface="Calibri"/>
            </a:endParaRPr>
          </a:p>
          <a:p>
            <a:endParaRPr lang="en-US" sz="2000" dirty="0">
              <a:ea typeface="+mn-lt"/>
              <a:cs typeface="+mn-lt"/>
            </a:endParaRPr>
          </a:p>
          <a:p>
            <a:r>
              <a:rPr lang="en-US" sz="2000" dirty="0">
                <a:ea typeface="+mn-lt"/>
                <a:cs typeface="+mn-lt"/>
              </a:rPr>
              <a:t>These exposures can range from seconds to several hours or even days. Researchers must be physically present to  stop the reaction with precision, which increases workload, introduces potential timing errors, and limits the number of reactions that can be run efficiently due researchers' schedules. </a:t>
            </a:r>
          </a:p>
          <a:p>
            <a:endParaRPr lang="en-US" sz="2000" dirty="0">
              <a:ea typeface="+mn-lt"/>
              <a:cs typeface="+mn-lt"/>
            </a:endParaRPr>
          </a:p>
          <a:p>
            <a:r>
              <a:rPr lang="en-US" sz="2000" dirty="0">
                <a:ea typeface="+mn-lt"/>
                <a:cs typeface="+mn-lt"/>
              </a:rPr>
              <a:t>This project aims to automate this workflow with a microcontroller-based system capable of moving test tubes into position and controlling light exposure duration with high accuracy and minimal user intervention between batch runs. The goal of this system is to create a workflow where a researchers can prepare an entire batch of samples and run them without any intervention besides the initial sample procurement.  The system will automatically handle the test tube movement and light exposure based on the user input.  </a:t>
            </a:r>
            <a:endParaRPr lang="en-US" sz="2000" dirty="0">
              <a:ea typeface="Calibri"/>
              <a:cs typeface="Calibri"/>
            </a:endParaRPr>
          </a:p>
          <a:p>
            <a:pPr algn="l"/>
            <a:endParaRPr lang="en-US" dirty="0">
              <a:ea typeface="Calibri"/>
              <a:cs typeface="Calibri"/>
            </a:endParaRPr>
          </a:p>
        </p:txBody>
      </p:sp>
      <p:sp>
        <p:nvSpPr>
          <p:cNvPr id="33" name="TextBox 32">
            <a:extLst>
              <a:ext uri="{FF2B5EF4-FFF2-40B4-BE49-F238E27FC236}">
                <a16:creationId xmlns:a16="http://schemas.microsoft.com/office/drawing/2014/main" id="{C0C73BDD-CFAA-2729-60E5-EEFD7D3B5F83}"/>
              </a:ext>
            </a:extLst>
          </p:cNvPr>
          <p:cNvSpPr txBox="1"/>
          <p:nvPr/>
        </p:nvSpPr>
        <p:spPr>
          <a:xfrm>
            <a:off x="23485054" y="10778587"/>
            <a:ext cx="641202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latin typeface="Aptos"/>
                <a:ea typeface="+mn-lt"/>
                <a:cs typeface="+mn-lt"/>
              </a:rPr>
              <a:t>[1] "Getting Started with ESP32-Arduino," </a:t>
            </a:r>
            <a:r>
              <a:rPr lang="en-US" sz="1200" i="1" dirty="0">
                <a:latin typeface="Aptos"/>
                <a:ea typeface="+mn-lt"/>
                <a:cs typeface="+mn-lt"/>
              </a:rPr>
              <a:t>ESP-IDF Programming Guide</a:t>
            </a:r>
            <a:r>
              <a:rPr lang="en-US" sz="1200" dirty="0">
                <a:latin typeface="Aptos"/>
                <a:ea typeface="+mn-lt"/>
                <a:cs typeface="+mn-lt"/>
              </a:rPr>
              <a:t>, </a:t>
            </a:r>
            <a:r>
              <a:rPr lang="en-US" sz="1200" dirty="0" err="1">
                <a:latin typeface="Aptos"/>
                <a:ea typeface="+mn-lt"/>
                <a:cs typeface="+mn-lt"/>
              </a:rPr>
              <a:t>Espressif</a:t>
            </a:r>
            <a:r>
              <a:rPr lang="en-US" sz="1200" dirty="0">
                <a:latin typeface="Aptos"/>
                <a:ea typeface="+mn-lt"/>
                <a:cs typeface="+mn-lt"/>
              </a:rPr>
              <a:t> Systems. [Online]. Available: </a:t>
            </a:r>
            <a:r>
              <a:rPr lang="en-US" sz="1200" dirty="0">
                <a:latin typeface="Aptos"/>
                <a:ea typeface="+mn-lt"/>
                <a:cs typeface="+mn-lt"/>
                <a:hlinkClick r:id="rId8"/>
              </a:rPr>
              <a:t>https://docs.espressif.com/projects/arduino-esp32/en/latest/getting_started.html</a:t>
            </a:r>
            <a:r>
              <a:rPr lang="en-US" sz="1200" dirty="0">
                <a:latin typeface="Aptos"/>
                <a:ea typeface="+mn-lt"/>
                <a:cs typeface="+mn-lt"/>
              </a:rPr>
              <a:t>. [Accessed: Apr. 25, 2025].</a:t>
            </a:r>
            <a:endParaRPr lang="en-US" sz="1200" dirty="0">
              <a:latin typeface="Aptos"/>
              <a:ea typeface="Calibri"/>
              <a:cs typeface="Calibri"/>
            </a:endParaRPr>
          </a:p>
          <a:p>
            <a:r>
              <a:rPr lang="en-US" sz="1200" dirty="0">
                <a:latin typeface="Aptos"/>
                <a:ea typeface="+mn-lt"/>
                <a:cs typeface="+mn-lt"/>
              </a:rPr>
              <a:t>[2] "Arduino Language Reference," </a:t>
            </a:r>
            <a:r>
              <a:rPr lang="en-US" sz="1200" i="1" dirty="0">
                <a:latin typeface="Aptos"/>
                <a:ea typeface="+mn-lt"/>
                <a:cs typeface="+mn-lt"/>
              </a:rPr>
              <a:t>Arduino Documentation</a:t>
            </a:r>
            <a:r>
              <a:rPr lang="en-US" sz="1200" dirty="0">
                <a:latin typeface="Aptos"/>
                <a:ea typeface="+mn-lt"/>
                <a:cs typeface="+mn-lt"/>
              </a:rPr>
              <a:t>, Arduino.cc. [Online]. Available: </a:t>
            </a:r>
            <a:r>
              <a:rPr lang="en-US" sz="1200" dirty="0">
                <a:latin typeface="Aptos"/>
                <a:ea typeface="+mn-lt"/>
                <a:cs typeface="+mn-lt"/>
                <a:hlinkClick r:id="rId9"/>
              </a:rPr>
              <a:t>https://docs.arduino.cc/language-reference/</a:t>
            </a:r>
            <a:r>
              <a:rPr lang="en-US" sz="1200" dirty="0">
                <a:latin typeface="Aptos"/>
                <a:ea typeface="+mn-lt"/>
                <a:cs typeface="+mn-lt"/>
              </a:rPr>
              <a:t>. [Accessed: Apr. 25, 2025].</a:t>
            </a:r>
            <a:endParaRPr lang="en-US" sz="1200" dirty="0">
              <a:latin typeface="Aptos"/>
              <a:ea typeface="Calibri"/>
              <a:cs typeface="Calibri"/>
            </a:endParaRPr>
          </a:p>
          <a:p>
            <a:r>
              <a:rPr lang="en-US" sz="1200" dirty="0">
                <a:latin typeface="Aptos"/>
                <a:ea typeface="+mn-lt"/>
                <a:cs typeface="+mn-lt"/>
              </a:rPr>
              <a:t>[3] "NEMA 17 Stepper Motor Datasheet and Pinout," </a:t>
            </a:r>
            <a:r>
              <a:rPr lang="en-US" sz="1200" i="1" dirty="0">
                <a:latin typeface="Aptos"/>
                <a:ea typeface="+mn-lt"/>
                <a:cs typeface="+mn-lt"/>
              </a:rPr>
              <a:t>Components101</a:t>
            </a:r>
            <a:r>
              <a:rPr lang="en-US" sz="1200" dirty="0">
                <a:latin typeface="Aptos"/>
                <a:ea typeface="+mn-lt"/>
                <a:cs typeface="+mn-lt"/>
              </a:rPr>
              <a:t>. [Online]. Available: </a:t>
            </a:r>
            <a:r>
              <a:rPr lang="en-US" sz="1200" dirty="0">
                <a:latin typeface="Aptos"/>
                <a:ea typeface="+mn-lt"/>
                <a:cs typeface="+mn-lt"/>
                <a:hlinkClick r:id="rId10"/>
              </a:rPr>
              <a:t>https://components101.com/motors/nema17-stepper-motor</a:t>
            </a:r>
            <a:r>
              <a:rPr lang="en-US" sz="1200" dirty="0">
                <a:latin typeface="Aptos"/>
                <a:ea typeface="+mn-lt"/>
                <a:cs typeface="+mn-lt"/>
              </a:rPr>
              <a:t>. [Accessed: Apr. 25, 2025].</a:t>
            </a:r>
            <a:endParaRPr lang="en-US" sz="1200" dirty="0">
              <a:latin typeface="Aptos"/>
              <a:ea typeface="Calibri"/>
              <a:cs typeface="Calibri"/>
            </a:endParaRPr>
          </a:p>
          <a:p>
            <a:r>
              <a:rPr lang="en-US" sz="1200" dirty="0">
                <a:latin typeface="Aptos"/>
                <a:ea typeface="+mn-lt"/>
                <a:cs typeface="+mn-lt"/>
              </a:rPr>
              <a:t>[4] "HTTP - Hypertext Transfer Protocol," </a:t>
            </a:r>
            <a:r>
              <a:rPr lang="en-US" sz="1200" i="1" dirty="0">
                <a:latin typeface="Aptos"/>
                <a:ea typeface="+mn-lt"/>
                <a:cs typeface="+mn-lt"/>
              </a:rPr>
              <a:t>MDN Web Docs</a:t>
            </a:r>
            <a:r>
              <a:rPr lang="en-US" sz="1200" dirty="0">
                <a:latin typeface="Aptos"/>
                <a:ea typeface="+mn-lt"/>
                <a:cs typeface="+mn-lt"/>
              </a:rPr>
              <a:t>, Mozilla Developer Network. [Online]. Available: </a:t>
            </a:r>
            <a:r>
              <a:rPr lang="en-US" sz="1200" dirty="0">
                <a:latin typeface="Aptos"/>
                <a:ea typeface="+mn-lt"/>
                <a:cs typeface="+mn-lt"/>
                <a:hlinkClick r:id="rId11"/>
              </a:rPr>
              <a:t>https://developer.mozilla.org/en-US/docs/Web/HTTP#reference_documentation</a:t>
            </a:r>
            <a:r>
              <a:rPr lang="en-US" sz="1200" dirty="0">
                <a:latin typeface="Aptos"/>
                <a:ea typeface="+mn-lt"/>
                <a:cs typeface="+mn-lt"/>
              </a:rPr>
              <a:t>. [Accessed: Apr. 25, 2025].</a:t>
            </a:r>
            <a:endParaRPr lang="en-US" sz="1200" dirty="0">
              <a:latin typeface="Aptos"/>
              <a:ea typeface="Calibri"/>
              <a:cs typeface="Calibri"/>
            </a:endParaRPr>
          </a:p>
          <a:p>
            <a:r>
              <a:rPr lang="en-US" sz="1200" dirty="0">
                <a:latin typeface="Aptos"/>
                <a:ea typeface="+mn-lt"/>
                <a:cs typeface="+mn-lt"/>
              </a:rPr>
              <a:t>[5] "</a:t>
            </a:r>
            <a:r>
              <a:rPr lang="en-US" sz="1200" dirty="0" err="1">
                <a:latin typeface="Aptos"/>
                <a:ea typeface="+mn-lt"/>
                <a:cs typeface="+mn-lt"/>
              </a:rPr>
              <a:t>ESPAsyncWebServer</a:t>
            </a:r>
            <a:r>
              <a:rPr lang="en-US" sz="1200" dirty="0">
                <a:latin typeface="Aptos"/>
                <a:ea typeface="+mn-lt"/>
                <a:cs typeface="+mn-lt"/>
              </a:rPr>
              <a:t>," </a:t>
            </a:r>
            <a:r>
              <a:rPr lang="en-US" sz="1200" i="1" dirty="0">
                <a:latin typeface="Aptos"/>
                <a:ea typeface="+mn-lt"/>
                <a:cs typeface="+mn-lt"/>
              </a:rPr>
              <a:t>GitHub</a:t>
            </a:r>
            <a:r>
              <a:rPr lang="en-US" sz="1200" dirty="0">
                <a:latin typeface="Aptos"/>
                <a:ea typeface="+mn-lt"/>
                <a:cs typeface="+mn-lt"/>
              </a:rPr>
              <a:t>, ESP32Async. [Online]. Available: </a:t>
            </a:r>
            <a:r>
              <a:rPr lang="en-US" sz="1200" dirty="0">
                <a:latin typeface="Aptos"/>
                <a:ea typeface="+mn-lt"/>
                <a:cs typeface="+mn-lt"/>
                <a:hlinkClick r:id="rId12"/>
              </a:rPr>
              <a:t>https://github.com/ESP32Async/ESPAsyncWebServer</a:t>
            </a:r>
            <a:r>
              <a:rPr lang="en-US" sz="1200" dirty="0">
                <a:latin typeface="Aptos"/>
                <a:ea typeface="+mn-lt"/>
                <a:cs typeface="+mn-lt"/>
              </a:rPr>
              <a:t>. [Accessed: Apr. 25, 2025].</a:t>
            </a:r>
            <a:endParaRPr lang="en-US" sz="1200" dirty="0">
              <a:latin typeface="Aptos"/>
              <a:ea typeface="Calibri"/>
              <a:cs typeface="Calibri"/>
            </a:endParaRPr>
          </a:p>
          <a:p>
            <a:r>
              <a:rPr lang="en-US" sz="1200" dirty="0">
                <a:latin typeface="Aptos"/>
                <a:ea typeface="+mn-lt"/>
                <a:cs typeface="+mn-lt"/>
              </a:rPr>
              <a:t>[6] "</a:t>
            </a:r>
            <a:r>
              <a:rPr lang="en-US" sz="1200" dirty="0" err="1">
                <a:latin typeface="Aptos"/>
                <a:ea typeface="+mn-lt"/>
                <a:cs typeface="+mn-lt"/>
              </a:rPr>
              <a:t>AccelStepper</a:t>
            </a:r>
            <a:r>
              <a:rPr lang="en-US" sz="1200" dirty="0">
                <a:latin typeface="Aptos"/>
                <a:ea typeface="+mn-lt"/>
                <a:cs typeface="+mn-lt"/>
              </a:rPr>
              <a:t> Library for Arduino," </a:t>
            </a:r>
            <a:r>
              <a:rPr lang="en-US" sz="1200" dirty="0" err="1">
                <a:latin typeface="Aptos"/>
                <a:ea typeface="+mn-lt"/>
                <a:cs typeface="+mn-lt"/>
              </a:rPr>
              <a:t>AirSpayce</a:t>
            </a:r>
            <a:r>
              <a:rPr lang="en-US" sz="1200" dirty="0">
                <a:latin typeface="Aptos"/>
                <a:ea typeface="+mn-lt"/>
                <a:cs typeface="+mn-lt"/>
              </a:rPr>
              <a:t>. [Online]. Available: </a:t>
            </a:r>
            <a:r>
              <a:rPr lang="en-US" sz="1200" dirty="0">
                <a:latin typeface="Aptos"/>
                <a:ea typeface="+mn-lt"/>
                <a:cs typeface="+mn-lt"/>
                <a:hlinkClick r:id="rId13"/>
              </a:rPr>
              <a:t>https://www.airspayce.com/mikem/arduino/AccelStepper/</a:t>
            </a:r>
            <a:r>
              <a:rPr lang="en-US" sz="1200" dirty="0">
                <a:latin typeface="Aptos"/>
                <a:ea typeface="+mn-lt"/>
                <a:cs typeface="+mn-lt"/>
              </a:rPr>
              <a:t>. [Accessed: Apr. 25, 2025].</a:t>
            </a:r>
            <a:endParaRPr lang="en-US" sz="1200" dirty="0">
              <a:latin typeface="Aptos"/>
              <a:ea typeface="Calibri"/>
              <a:cs typeface="Calibri"/>
            </a:endParaRPr>
          </a:p>
          <a:p>
            <a:pPr algn="l"/>
            <a:endParaRPr lang="en-US" sz="1200" dirty="0">
              <a:ea typeface="Calibri"/>
              <a:cs typeface="Calibri"/>
            </a:endParaRPr>
          </a:p>
        </p:txBody>
      </p:sp>
      <p:pic>
        <p:nvPicPr>
          <p:cNvPr id="10" name="Picture 9" descr="Two men standing in front of a window&#10;&#10;AI-generated content may be incorrect.">
            <a:extLst>
              <a:ext uri="{FF2B5EF4-FFF2-40B4-BE49-F238E27FC236}">
                <a16:creationId xmlns:a16="http://schemas.microsoft.com/office/drawing/2014/main" id="{4D0E5589-8B90-9D0A-B3A8-22D8C78686A6}"/>
              </a:ext>
            </a:extLst>
          </p:cNvPr>
          <p:cNvPicPr>
            <a:picLocks noChangeAspect="1"/>
          </p:cNvPicPr>
          <p:nvPr/>
        </p:nvPicPr>
        <p:blipFill>
          <a:blip r:embed="rId14">
            <a:extLst>
              <a:ext uri="{28A0092B-C50C-407E-A947-70E740481C1C}">
                <a14:useLocalDpi xmlns:a14="http://schemas.microsoft.com/office/drawing/2010/main" val="0"/>
              </a:ext>
            </a:extLst>
          </a:blip>
          <a:srcRect t="7217" r="-472" b="8850"/>
          <a:stretch/>
        </p:blipFill>
        <p:spPr>
          <a:xfrm>
            <a:off x="24314323" y="14560670"/>
            <a:ext cx="4799847" cy="3007305"/>
          </a:xfrm>
          <a:prstGeom prst="rect">
            <a:avLst/>
          </a:prstGeom>
        </p:spPr>
      </p:pic>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751</TotalTime>
  <Words>1075</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Arial,Sans-Serif</vt:lpstr>
      <vt:lpstr>Calibri</vt:lpstr>
      <vt:lpstr>Calibri Light</vt:lpstr>
      <vt:lpstr>Quattrocento</vt:lpstr>
      <vt:lpstr>Wingdings</vt:lpstr>
      <vt:lpstr>Wingdings,Sans-Serif</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452</cp:revision>
  <cp:lastPrinted>2003-03-25T14:30:39Z</cp:lastPrinted>
  <dcterms:created xsi:type="dcterms:W3CDTF">2003-03-14T19:43:06Z</dcterms:created>
  <dcterms:modified xsi:type="dcterms:W3CDTF">2025-04-29T12:55:32Z</dcterms:modified>
</cp:coreProperties>
</file>