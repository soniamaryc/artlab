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sldIdLst>
    <p:sldId id="257" r:id="rId2"/>
  </p:sldIdLst>
  <p:sldSz cx="31089600" cy="219456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97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90929"/>
  </p:normalViewPr>
  <p:slideViewPr>
    <p:cSldViewPr>
      <p:cViewPr>
        <p:scale>
          <a:sx n="25" d="100"/>
          <a:sy n="25" d="100"/>
        </p:scale>
        <p:origin x="2418" y="546"/>
      </p:cViewPr>
      <p:guideLst>
        <p:guide orient="horz" pos="6912"/>
        <p:guide pos="979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ia Mary Chacko" userId="32e961e1-0271-40b4-863b-f84f448e7456" providerId="ADAL" clId="{53FC1657-89F6-4582-9621-E218FBC31C2B}"/>
    <pc:docChg chg="modSld">
      <pc:chgData name="Sonia Mary Chacko" userId="32e961e1-0271-40b4-863b-f84f448e7456" providerId="ADAL" clId="{53FC1657-89F6-4582-9621-E218FBC31C2B}" dt="2025-05-11T21:57:56.965" v="0" actId="1076"/>
      <pc:docMkLst>
        <pc:docMk/>
      </pc:docMkLst>
      <pc:sldChg chg="modSp mod">
        <pc:chgData name="Sonia Mary Chacko" userId="32e961e1-0271-40b4-863b-f84f448e7456" providerId="ADAL" clId="{53FC1657-89F6-4582-9621-E218FBC31C2B}" dt="2025-05-11T21:57:56.965" v="0" actId="1076"/>
        <pc:sldMkLst>
          <pc:docMk/>
          <pc:sldMk cId="3531817014" sldId="257"/>
        </pc:sldMkLst>
        <pc:picChg chg="mod">
          <ac:chgData name="Sonia Mary Chacko" userId="32e961e1-0271-40b4-863b-f84f448e7456" providerId="ADAL" clId="{53FC1657-89F6-4582-9621-E218FBC31C2B}" dt="2025-05-11T21:57:56.965" v="0" actId="1076"/>
          <ac:picMkLst>
            <pc:docMk/>
            <pc:sldMk cId="3531817014" sldId="257"/>
            <ac:picMk id="12" creationId="{FAEA5E3D-DB8F-F031-B2DC-4480B28A483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31720" y="3591562"/>
            <a:ext cx="2642616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3886200" y="11526522"/>
            <a:ext cx="233172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87E2F82D-3616-4467-A056-E894D5735046}" type="slidenum">
              <a:rPr lang="en-US" altLang="en-US" smtClean="0"/>
              <a:pPr/>
              <a:t>‹#›</a:t>
            </a:fld>
            <a:endParaRPr lang="en-US" altLang="en-US"/>
          </a:p>
        </p:txBody>
      </p:sp>
    </p:spTree>
    <p:extLst>
      <p:ext uri="{BB962C8B-B14F-4D97-AF65-F5344CB8AC3E}">
        <p14:creationId xmlns:p14="http://schemas.microsoft.com/office/powerpoint/2010/main" val="3621052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BCA119C6-817E-4242-83A3-C8FC571DD821}" type="slidenum">
              <a:rPr lang="en-US" altLang="en-US" smtClean="0"/>
              <a:pPr/>
              <a:t>‹#›</a:t>
            </a:fld>
            <a:endParaRPr lang="en-US" altLang="en-US"/>
          </a:p>
        </p:txBody>
      </p:sp>
    </p:spTree>
    <p:extLst>
      <p:ext uri="{BB962C8B-B14F-4D97-AF65-F5344CB8AC3E}">
        <p14:creationId xmlns:p14="http://schemas.microsoft.com/office/powerpoint/2010/main" val="4056806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21219" y="5471167"/>
            <a:ext cx="2681478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121219" y="14686287"/>
            <a:ext cx="26814780" cy="4800598"/>
          </a:xfrm>
        </p:spPr>
        <p:txBody>
          <a:bodyPr/>
          <a:lstStyle>
            <a:lvl1pPr marL="0" indent="0">
              <a:buNone/>
              <a:defRPr sz="7680">
                <a:solidFill>
                  <a:schemeClr val="tx1"/>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F4192726-DD1F-4C44-94D0-F43B3C6AC185}" type="slidenum">
              <a:rPr lang="en-US" altLang="en-US" smtClean="0"/>
              <a:pPr/>
              <a:t>‹#›</a:t>
            </a:fld>
            <a:endParaRPr lang="en-US" altLang="en-US"/>
          </a:p>
        </p:txBody>
      </p:sp>
    </p:spTree>
    <p:extLst>
      <p:ext uri="{BB962C8B-B14F-4D97-AF65-F5344CB8AC3E}">
        <p14:creationId xmlns:p14="http://schemas.microsoft.com/office/powerpoint/2010/main" val="3679548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1374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7391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186C27BE-A5E0-47D6-A899-CADB1153DCDF}" type="slidenum">
              <a:rPr lang="en-US" altLang="en-US" smtClean="0"/>
              <a:pPr/>
              <a:t>‹#›</a:t>
            </a:fld>
            <a:endParaRPr lang="en-US" altLang="en-US"/>
          </a:p>
        </p:txBody>
      </p:sp>
    </p:spTree>
    <p:extLst>
      <p:ext uri="{BB962C8B-B14F-4D97-AF65-F5344CB8AC3E}">
        <p14:creationId xmlns:p14="http://schemas.microsoft.com/office/powerpoint/2010/main" val="3123835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41459" y="1168405"/>
            <a:ext cx="2681478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141463" y="5379722"/>
            <a:ext cx="13152356"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141463" y="8016240"/>
            <a:ext cx="13152356"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739112" y="5379722"/>
            <a:ext cx="13217129"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5739112" y="8016240"/>
            <a:ext cx="13217129"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fld id="{A8D83365-3921-44D2-91EA-BF09235FA2BD}" type="slidenum">
              <a:rPr lang="en-US" altLang="en-US" smtClean="0"/>
              <a:pPr/>
              <a:t>‹#›</a:t>
            </a:fld>
            <a:endParaRPr lang="en-US" altLang="en-US"/>
          </a:p>
        </p:txBody>
      </p:sp>
    </p:spTree>
    <p:extLst>
      <p:ext uri="{BB962C8B-B14F-4D97-AF65-F5344CB8AC3E}">
        <p14:creationId xmlns:p14="http://schemas.microsoft.com/office/powerpoint/2010/main" val="3338663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fld id="{934B8FBB-A22D-48A9-86F8-F488C1EC41E7}" type="slidenum">
              <a:rPr lang="en-US" altLang="en-US" smtClean="0"/>
              <a:pPr/>
              <a:t>‹#›</a:t>
            </a:fld>
            <a:endParaRPr lang="en-US" altLang="en-US"/>
          </a:p>
        </p:txBody>
      </p:sp>
    </p:spTree>
    <p:extLst>
      <p:ext uri="{BB962C8B-B14F-4D97-AF65-F5344CB8AC3E}">
        <p14:creationId xmlns:p14="http://schemas.microsoft.com/office/powerpoint/2010/main" val="144668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fld id="{0853FCE1-1DB8-4EE9-BEDE-5D17530D2F0D}" type="slidenum">
              <a:rPr lang="en-US" altLang="en-US" smtClean="0"/>
              <a:pPr/>
              <a:t>‹#›</a:t>
            </a:fld>
            <a:endParaRPr lang="en-US" altLang="en-US"/>
          </a:p>
        </p:txBody>
      </p:sp>
    </p:spTree>
    <p:extLst>
      <p:ext uri="{BB962C8B-B14F-4D97-AF65-F5344CB8AC3E}">
        <p14:creationId xmlns:p14="http://schemas.microsoft.com/office/powerpoint/2010/main" val="1974855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217129" y="3159765"/>
            <a:ext cx="1573911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536D9969-BE9E-4688-B55A-CB6B14DF5421}" type="slidenum">
              <a:rPr lang="en-US" altLang="en-US" smtClean="0"/>
              <a:pPr/>
              <a:t>‹#›</a:t>
            </a:fld>
            <a:endParaRPr lang="en-US" altLang="en-US"/>
          </a:p>
        </p:txBody>
      </p:sp>
    </p:spTree>
    <p:extLst>
      <p:ext uri="{BB962C8B-B14F-4D97-AF65-F5344CB8AC3E}">
        <p14:creationId xmlns:p14="http://schemas.microsoft.com/office/powerpoint/2010/main" val="454386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217129" y="3159765"/>
            <a:ext cx="1573911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170827FB-9D8C-4C8F-AA33-59014C04D849}" type="slidenum">
              <a:rPr lang="en-US" altLang="en-US" smtClean="0"/>
              <a:pPr/>
              <a:t>‹#›</a:t>
            </a:fld>
            <a:endParaRPr lang="en-US" altLang="en-US"/>
          </a:p>
        </p:txBody>
      </p:sp>
    </p:spTree>
    <p:extLst>
      <p:ext uri="{BB962C8B-B14F-4D97-AF65-F5344CB8AC3E}">
        <p14:creationId xmlns:p14="http://schemas.microsoft.com/office/powerpoint/2010/main" val="878328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92B3B6C8-5DF7-4ECA-B705-5E5573EEC491}" type="slidenum">
              <a:rPr lang="en-US" altLang="en-US" smtClean="0"/>
              <a:pPr/>
              <a:t>‹#›</a:t>
            </a:fld>
            <a:endParaRPr lang="en-US" altLang="en-US"/>
          </a:p>
        </p:txBody>
      </p:sp>
    </p:spTree>
    <p:extLst>
      <p:ext uri="{BB962C8B-B14F-4D97-AF65-F5344CB8AC3E}">
        <p14:creationId xmlns:p14="http://schemas.microsoft.com/office/powerpoint/2010/main" val="333730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248497" y="1168400"/>
            <a:ext cx="6703695"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137412" y="1168400"/>
            <a:ext cx="19722465"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53B11DE4-35AF-4E00-85A0-B84C18D78EE9}" type="slidenum">
              <a:rPr lang="en-US" altLang="en-US" smtClean="0"/>
              <a:pPr/>
              <a:t>‹#›</a:t>
            </a:fld>
            <a:endParaRPr lang="en-US" altLang="en-US"/>
          </a:p>
        </p:txBody>
      </p:sp>
    </p:spTree>
    <p:extLst>
      <p:ext uri="{BB962C8B-B14F-4D97-AF65-F5344CB8AC3E}">
        <p14:creationId xmlns:p14="http://schemas.microsoft.com/office/powerpoint/2010/main" val="602969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37410" y="1168405"/>
            <a:ext cx="2681478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37410" y="5842000"/>
            <a:ext cx="2681478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137410" y="20340325"/>
            <a:ext cx="699516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pPr>
              <a:defRPr/>
            </a:pPr>
            <a:endParaRPr lang="en-US" altLang="en-US"/>
          </a:p>
        </p:txBody>
      </p:sp>
      <p:sp>
        <p:nvSpPr>
          <p:cNvPr id="5" name="Footer Placeholder 4"/>
          <p:cNvSpPr>
            <a:spLocks noGrp="1"/>
          </p:cNvSpPr>
          <p:nvPr>
            <p:ph type="ftr" sz="quarter" idx="3"/>
          </p:nvPr>
        </p:nvSpPr>
        <p:spPr>
          <a:xfrm>
            <a:off x="10298430" y="20340325"/>
            <a:ext cx="1049274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pPr>
              <a:defRPr/>
            </a:pPr>
            <a:endParaRPr lang="en-US" altLang="en-US"/>
          </a:p>
        </p:txBody>
      </p:sp>
      <p:sp>
        <p:nvSpPr>
          <p:cNvPr id="6" name="Slide Number Placeholder 5"/>
          <p:cNvSpPr>
            <a:spLocks noGrp="1"/>
          </p:cNvSpPr>
          <p:nvPr>
            <p:ph type="sldNum" sz="quarter" idx="4"/>
          </p:nvPr>
        </p:nvSpPr>
        <p:spPr>
          <a:xfrm>
            <a:off x="21957030" y="20340325"/>
            <a:ext cx="699516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526495AE-97DF-403D-B20F-BDC3AFF068C2}" type="slidenum">
              <a:rPr lang="en-US" altLang="en-US" smtClean="0"/>
              <a:pPr/>
              <a:t>‹#›</a:t>
            </a:fld>
            <a:endParaRPr lang="en-US" altLang="en-US"/>
          </a:p>
        </p:txBody>
      </p:sp>
    </p:spTree>
    <p:extLst>
      <p:ext uri="{BB962C8B-B14F-4D97-AF65-F5344CB8AC3E}">
        <p14:creationId xmlns:p14="http://schemas.microsoft.com/office/powerpoint/2010/main" val="1606942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e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0">
            <a:extLst>
              <a:ext uri="{FF2B5EF4-FFF2-40B4-BE49-F238E27FC236}">
                <a16:creationId xmlns:a16="http://schemas.microsoft.com/office/drawing/2014/main" id="{C7540361-BB1D-1F97-AD38-28C1AA546DA4}"/>
              </a:ext>
            </a:extLst>
          </p:cNvPr>
          <p:cNvSpPr>
            <a:spLocks noChangeArrowheads="1"/>
          </p:cNvSpPr>
          <p:nvPr/>
        </p:nvSpPr>
        <p:spPr bwMode="auto">
          <a:xfrm>
            <a:off x="8202496" y="5474543"/>
            <a:ext cx="7348212" cy="3498746"/>
          </a:xfrm>
          <a:prstGeom prst="round2DiagRect">
            <a:avLst>
              <a:gd name="adj1" fmla="val 6827"/>
              <a:gd name="adj2" fmla="val 3468"/>
            </a:avLst>
          </a:prstGeom>
          <a:solidFill>
            <a:schemeClr val="bg1">
              <a:lumMod val="95000"/>
            </a:schemeClr>
          </a:solidFill>
          <a:ln w="12700">
            <a:noFill/>
            <a:miter lim="800000"/>
          </a:ln>
        </p:spPr>
        <p:txBody>
          <a:bodyPr wrap="none" lIns="182880" tIns="48768" rIns="182880" bIns="45709" anchor="t" anchorCtr="0"/>
          <a:lstStyle>
            <a:defPPr>
              <a:defRPr kern="1200"/>
            </a:defPPr>
          </a:lstStyle>
          <a:p>
            <a:pPr defTabSz="3135215"/>
            <a:r>
              <a:rPr lang="en-US" sz="2400" dirty="0">
                <a:noFill/>
                <a:latin typeface="Quattrocento"/>
              </a:rPr>
              <a:t> </a:t>
            </a:r>
          </a:p>
        </p:txBody>
      </p:sp>
      <p:sp>
        <p:nvSpPr>
          <p:cNvPr id="2" name="Rectangle 6">
            <a:extLst>
              <a:ext uri="{FF2B5EF4-FFF2-40B4-BE49-F238E27FC236}">
                <a16:creationId xmlns:a16="http://schemas.microsoft.com/office/drawing/2014/main" id="{DCFA9FEE-8D4E-A591-CA5E-7AFC7A209190}"/>
              </a:ext>
            </a:extLst>
          </p:cNvPr>
          <p:cNvSpPr>
            <a:spLocks noChangeArrowheads="1"/>
          </p:cNvSpPr>
          <p:nvPr/>
        </p:nvSpPr>
        <p:spPr bwMode="auto">
          <a:xfrm>
            <a:off x="337418" y="215613"/>
            <a:ext cx="30414764" cy="3541251"/>
          </a:xfrm>
          <a:prstGeom prst="round2DiagRect">
            <a:avLst/>
          </a:prstGeom>
          <a:solidFill>
            <a:schemeClr val="bg1">
              <a:lumMod val="95000"/>
            </a:schemeClr>
          </a:solidFill>
          <a:ln w="9525">
            <a:noFill/>
            <a:miter lim="800000"/>
          </a:ln>
        </p:spPr>
        <p:txBody>
          <a:bodyPr lIns="73147" tIns="36574" rIns="73147" bIns="36574" anchor="ctr"/>
          <a:lstStyle>
            <a:defPPr>
              <a:defRPr kern="1200"/>
            </a:defPPr>
          </a:lstStyle>
          <a:p>
            <a:pPr algn="ctr"/>
            <a:r>
              <a:rPr lang="en-US" sz="8500" b="1" dirty="0">
                <a:latin typeface="Quattrocento"/>
              </a:rPr>
              <a:t>Air Ladder</a:t>
            </a:r>
            <a:br>
              <a:rPr lang="en-US" sz="5650" b="1" dirty="0">
                <a:latin typeface="Quattrocento" panose="02020802030000000404" pitchFamily="18" charset="0"/>
              </a:rPr>
            </a:br>
            <a:r>
              <a:rPr lang="en-US" sz="5500" dirty="0">
                <a:latin typeface="Quattrocento"/>
              </a:rPr>
              <a:t>Cameron McClellan, Hannah Obert, Aidan Downs, Brendon Kolkemeyer</a:t>
            </a:r>
            <a:endParaRPr lang="en-US" sz="5000" dirty="0">
              <a:latin typeface="Quattrocento"/>
            </a:endParaRPr>
          </a:p>
        </p:txBody>
      </p:sp>
      <p:sp>
        <p:nvSpPr>
          <p:cNvPr id="14" name="Rectangle 10">
            <a:extLst>
              <a:ext uri="{FF2B5EF4-FFF2-40B4-BE49-F238E27FC236}">
                <a16:creationId xmlns:a16="http://schemas.microsoft.com/office/drawing/2014/main" id="{B3F2B393-920F-D261-A387-10282A2EA52A}"/>
              </a:ext>
            </a:extLst>
          </p:cNvPr>
          <p:cNvSpPr>
            <a:spLocks noChangeArrowheads="1"/>
          </p:cNvSpPr>
          <p:nvPr/>
        </p:nvSpPr>
        <p:spPr bwMode="auto">
          <a:xfrm>
            <a:off x="525096" y="5394806"/>
            <a:ext cx="7479406" cy="8701445"/>
          </a:xfrm>
          <a:prstGeom prst="round2DiagRect">
            <a:avLst>
              <a:gd name="adj1" fmla="val 6827"/>
              <a:gd name="adj2" fmla="val 113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defRPr/>
            </a:pPr>
            <a:endParaRPr lang="en-US" sz="2400" b="1">
              <a:noFill/>
              <a:latin typeface="Quattrocento" panose="02020802030000000404" pitchFamily="18" charset="0"/>
            </a:endParaRPr>
          </a:p>
        </p:txBody>
      </p:sp>
      <p:sp>
        <p:nvSpPr>
          <p:cNvPr id="16" name="TextBox 15">
            <a:extLst>
              <a:ext uri="{FF2B5EF4-FFF2-40B4-BE49-F238E27FC236}">
                <a16:creationId xmlns:a16="http://schemas.microsoft.com/office/drawing/2014/main" id="{7AA9A01D-F93E-206C-2E7F-56E3E371BD3C}"/>
              </a:ext>
            </a:extLst>
          </p:cNvPr>
          <p:cNvSpPr txBox="1"/>
          <p:nvPr/>
        </p:nvSpPr>
        <p:spPr>
          <a:xfrm>
            <a:off x="1061731" y="5468688"/>
            <a:ext cx="6687838" cy="7478970"/>
          </a:xfrm>
          <a:prstGeom prst="rect">
            <a:avLst/>
          </a:prstGeom>
          <a:noFill/>
        </p:spPr>
        <p:txBody>
          <a:bodyPr wrap="square" lIns="91440" tIns="45720" rIns="91440" bIns="45720" rtlCol="0" anchor="t">
            <a:spAutoFit/>
          </a:bodyPr>
          <a:lstStyle>
            <a:defPPr>
              <a:defRPr kern="1200"/>
            </a:defPPr>
          </a:lstStyle>
          <a:p>
            <a:r>
              <a:rPr lang="en-US" sz="2400" dirty="0">
                <a:latin typeface="Quattrocento Sans"/>
                <a:ea typeface="Open Sans"/>
                <a:cs typeface="Open Sans"/>
              </a:rPr>
              <a:t>Given the number of ladder accidents each year we sought out to find a quick and safe way to access higher areas, without the need for a big and bulky ladder. With our product, we plan to make a pair of boots that will attach to each foot that can manually be controlled by the operator to raise and lower themselves. Our compact, portable, and light design would allow a worker to walk around while raised and lowered. This boot would be sturdier than a ladder as well, given that it attaches to the operators' feet with three different leather straps. The implementation of our project in the construction industry could eliminate any hazards that occur when a worker is on top of a traditional ladder. Our product will also be easy to remove, just unclip the controller from your tool belt and unbuckle the boots. We intend to make the boot as ergonomic as possible, this way the worker won't feel any discomfort while using our product.</a:t>
            </a:r>
            <a:endParaRPr lang="en-US" sz="2400">
              <a:latin typeface="Quattrocento Sans" panose="020B0502050000020003" pitchFamily="34" charset="0"/>
              <a:ea typeface="Open Sans" panose="020B0606030504020204" pitchFamily="34" charset="0"/>
              <a:cs typeface="Open Sans" panose="020B0606030504020204" pitchFamily="34" charset="0"/>
            </a:endParaRPr>
          </a:p>
        </p:txBody>
      </p:sp>
      <p:sp>
        <p:nvSpPr>
          <p:cNvPr id="19" name="Rectangle 10">
            <a:extLst>
              <a:ext uri="{FF2B5EF4-FFF2-40B4-BE49-F238E27FC236}">
                <a16:creationId xmlns:a16="http://schemas.microsoft.com/office/drawing/2014/main" id="{55D80D3B-B48E-B2C9-F144-96673EADEE9C}"/>
              </a:ext>
            </a:extLst>
          </p:cNvPr>
          <p:cNvSpPr>
            <a:spLocks noChangeArrowheads="1"/>
          </p:cNvSpPr>
          <p:nvPr/>
        </p:nvSpPr>
        <p:spPr bwMode="auto">
          <a:xfrm>
            <a:off x="23274355" y="5430606"/>
            <a:ext cx="6730998" cy="2608170"/>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20" name="Rectangle 10">
            <a:extLst>
              <a:ext uri="{FF2B5EF4-FFF2-40B4-BE49-F238E27FC236}">
                <a16:creationId xmlns:a16="http://schemas.microsoft.com/office/drawing/2014/main" id="{085BEEBA-5CDB-2CD7-06AC-21DFBE193CBF}"/>
              </a:ext>
            </a:extLst>
          </p:cNvPr>
          <p:cNvSpPr>
            <a:spLocks noChangeArrowheads="1"/>
          </p:cNvSpPr>
          <p:nvPr/>
        </p:nvSpPr>
        <p:spPr bwMode="auto">
          <a:xfrm>
            <a:off x="15912997" y="5407589"/>
            <a:ext cx="6740915" cy="9919472"/>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21" name="Rectangle 10">
            <a:extLst>
              <a:ext uri="{FF2B5EF4-FFF2-40B4-BE49-F238E27FC236}">
                <a16:creationId xmlns:a16="http://schemas.microsoft.com/office/drawing/2014/main" id="{C8443A62-DD12-B4DF-3D4D-DF311ABE0DCB}"/>
              </a:ext>
            </a:extLst>
          </p:cNvPr>
          <p:cNvSpPr>
            <a:spLocks noChangeArrowheads="1"/>
          </p:cNvSpPr>
          <p:nvPr/>
        </p:nvSpPr>
        <p:spPr bwMode="auto">
          <a:xfrm>
            <a:off x="642443" y="15079016"/>
            <a:ext cx="7112182" cy="6606734"/>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pic>
        <p:nvPicPr>
          <p:cNvPr id="3078" name="Picture 6">
            <a:extLst>
              <a:ext uri="{FF2B5EF4-FFF2-40B4-BE49-F238E27FC236}">
                <a16:creationId xmlns:a16="http://schemas.microsoft.com/office/drawing/2014/main" id="{D414772E-614C-C824-438C-924E7FD4C4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7" t="-14379" b="-17500"/>
          <a:stretch/>
        </p:blipFill>
        <p:spPr bwMode="auto">
          <a:xfrm>
            <a:off x="637176" y="232423"/>
            <a:ext cx="5328185" cy="2041210"/>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370C77B2-6C88-9C71-7BB3-FBABF6DDFBEA}"/>
              </a:ext>
            </a:extLst>
          </p:cNvPr>
          <p:cNvSpPr txBox="1"/>
          <p:nvPr/>
        </p:nvSpPr>
        <p:spPr>
          <a:xfrm>
            <a:off x="16128151" y="5489520"/>
            <a:ext cx="6544069" cy="10125849"/>
          </a:xfrm>
          <a:prstGeom prst="rect">
            <a:avLst/>
          </a:prstGeom>
          <a:noFill/>
        </p:spPr>
        <p:txBody>
          <a:bodyPr wrap="square" lIns="91440" tIns="45720" rIns="91440" bIns="45720" rtlCol="0" anchor="t">
            <a:spAutoFit/>
          </a:bodyPr>
          <a:lstStyle>
            <a:defPPr>
              <a:defRPr kern="1200"/>
            </a:defPPr>
          </a:lstStyle>
          <a:p>
            <a:r>
              <a:rPr lang="en-US" sz="2400" dirty="0">
                <a:latin typeface="Quattrocento Sans"/>
                <a:ea typeface="Open Sans"/>
                <a:cs typeface="Open Sans"/>
              </a:rPr>
              <a:t>In the design phase of this project many considerations were made but given the project timeline and attempting to stick to cheaper options we went with the design shown today. </a:t>
            </a:r>
          </a:p>
          <a:p>
            <a:endParaRPr lang="en-US" sz="2400" dirty="0">
              <a:latin typeface="Quattrocento Sans"/>
              <a:ea typeface="Open Sans"/>
              <a:cs typeface="Open Sans"/>
            </a:endParaRPr>
          </a:p>
          <a:p>
            <a:r>
              <a:rPr lang="en-US" sz="2400" dirty="0">
                <a:latin typeface="Quattrocento Sans"/>
                <a:ea typeface="Open Sans"/>
                <a:cs typeface="Open Sans"/>
              </a:rPr>
              <a:t>Some of these future design considerations being:</a:t>
            </a:r>
            <a:endParaRPr lang="en-US" sz="2400" dirty="0">
              <a:latin typeface="Quattrocento Sans" panose="020B0502050000020003" pitchFamily="34" charset="0"/>
              <a:ea typeface="Open Sans" panose="020B0606030504020204" pitchFamily="34" charset="0"/>
              <a:cs typeface="Open Sans" panose="020B0606030504020204" pitchFamily="34" charset="0"/>
            </a:endParaRPr>
          </a:p>
          <a:p>
            <a:endParaRPr lang="en-US" sz="2400" dirty="0">
              <a:latin typeface="Quattrocento Sans"/>
              <a:ea typeface="Open Sans"/>
              <a:cs typeface="Open Sans"/>
            </a:endParaRPr>
          </a:p>
          <a:p>
            <a:pPr marL="342900" indent="-342900">
              <a:buFont typeface="Arial"/>
              <a:buChar char="•"/>
            </a:pPr>
            <a:r>
              <a:rPr lang="en-US" sz="2000" dirty="0">
                <a:latin typeface="Quattrocento Sans"/>
                <a:ea typeface="Open Sans"/>
                <a:cs typeface="Open Sans"/>
              </a:rPr>
              <a:t>Shafts mounted on the back of the plates for extra support and stability</a:t>
            </a:r>
          </a:p>
          <a:p>
            <a:pPr marL="342900" indent="-342900">
              <a:buFont typeface="Arial"/>
              <a:buChar char="•"/>
            </a:pPr>
            <a:r>
              <a:rPr lang="en-US" sz="2000" dirty="0">
                <a:latin typeface="Quattrocento Sans"/>
                <a:ea typeface="Open Sans"/>
                <a:cs typeface="Open Sans"/>
              </a:rPr>
              <a:t>A quicker method for removing the operator's foot like snowboard boot clips</a:t>
            </a:r>
          </a:p>
          <a:p>
            <a:pPr marL="342900" indent="-342900">
              <a:buFont typeface="Arial"/>
              <a:buChar char="•"/>
            </a:pPr>
            <a:r>
              <a:rPr lang="en-US" sz="2000" dirty="0">
                <a:latin typeface="Quattrocento Sans"/>
                <a:ea typeface="Open Sans"/>
                <a:cs typeface="Open Sans"/>
              </a:rPr>
              <a:t>Lighter more compact design to remain safe, but give the operator more comfort, use of aluminum or carbon fiber</a:t>
            </a:r>
          </a:p>
          <a:p>
            <a:pPr marL="342900" indent="-342900">
              <a:buFont typeface="Arial"/>
              <a:buChar char="•"/>
            </a:pPr>
            <a:r>
              <a:rPr lang="en-US" sz="2000" dirty="0">
                <a:latin typeface="Quattrocento Sans"/>
                <a:ea typeface="Open Sans"/>
                <a:cs typeface="Open Sans"/>
              </a:rPr>
              <a:t>Vest mounted controls for raising and lowering the operator rather than the lever action valve</a:t>
            </a:r>
          </a:p>
          <a:p>
            <a:endParaRPr lang="en-US" sz="2000" dirty="0">
              <a:latin typeface="Quattrocento Sans"/>
              <a:ea typeface="Open Sans"/>
              <a:cs typeface="Open Sans"/>
            </a:endParaRPr>
          </a:p>
          <a:p>
            <a:r>
              <a:rPr lang="en-US" sz="2400" dirty="0">
                <a:latin typeface="Quattrocento Sans"/>
                <a:ea typeface="Open Sans"/>
                <a:cs typeface="Open Sans"/>
              </a:rPr>
              <a:t>With these future considerations in mind, we are still overall impressed with the progress we able to make throughout  the semester.</a:t>
            </a:r>
          </a:p>
          <a:p>
            <a:endParaRPr lang="en-US" sz="2400" dirty="0">
              <a:latin typeface="Quattrocento Sans"/>
              <a:ea typeface="Open Sans"/>
              <a:cs typeface="Open Sans"/>
            </a:endParaRPr>
          </a:p>
          <a:p>
            <a:r>
              <a:rPr lang="en-US" sz="2400" dirty="0">
                <a:latin typeface="Quattrocento Sans"/>
                <a:ea typeface="Open Sans"/>
                <a:cs typeface="Open Sans"/>
              </a:rPr>
              <a:t>In the design phase of the project, our plan was to keep each boot weight under 25 lbs. per foot. Using the built in Mass Evaluation tool in SolidWorks. We were able to find that our design would be exactly where we wanted our  goal weight to be,</a:t>
            </a:r>
            <a:endParaRPr lang="en-US" sz="2400" dirty="0">
              <a:latin typeface="Quattrocento Sans" panose="020B0502050000020003" pitchFamily="34" charset="0"/>
              <a:ea typeface="Open Sans" panose="020B0606030504020204" pitchFamily="34" charset="0"/>
              <a:cs typeface="Open Sans" panose="020B0606030504020204" pitchFamily="34" charset="0"/>
            </a:endParaRPr>
          </a:p>
          <a:p>
            <a:endParaRPr lang="en-US" sz="2000" dirty="0">
              <a:latin typeface="Quattrocento Sans" panose="020B0502050000020003" pitchFamily="34" charset="0"/>
              <a:ea typeface="Open Sans" panose="020B0606030504020204" pitchFamily="34" charset="0"/>
              <a:cs typeface="Open Sans" panose="020B0606030504020204" pitchFamily="34" charset="0"/>
            </a:endParaRPr>
          </a:p>
        </p:txBody>
      </p:sp>
      <p:sp>
        <p:nvSpPr>
          <p:cNvPr id="24" name="TextBox 23">
            <a:extLst>
              <a:ext uri="{FF2B5EF4-FFF2-40B4-BE49-F238E27FC236}">
                <a16:creationId xmlns:a16="http://schemas.microsoft.com/office/drawing/2014/main" id="{7B33E45B-5D86-A98F-E55B-EE0C0F4FAFAC}"/>
              </a:ext>
            </a:extLst>
          </p:cNvPr>
          <p:cNvSpPr txBox="1"/>
          <p:nvPr/>
        </p:nvSpPr>
        <p:spPr>
          <a:xfrm>
            <a:off x="23669797" y="5473368"/>
            <a:ext cx="6369744" cy="1938992"/>
          </a:xfrm>
          <a:prstGeom prst="rect">
            <a:avLst/>
          </a:prstGeom>
          <a:noFill/>
        </p:spPr>
        <p:txBody>
          <a:bodyPr wrap="square" lIns="91440" tIns="45720" rIns="91440" bIns="45720" rtlCol="0" anchor="t">
            <a:spAutoFit/>
          </a:bodyPr>
          <a:lstStyle>
            <a:defPPr>
              <a:defRPr kern="1200"/>
            </a:defPPr>
          </a:lstStyle>
          <a:p>
            <a:r>
              <a:rPr lang="en-US" sz="2400" dirty="0">
                <a:latin typeface="Quattrocento Sans"/>
                <a:ea typeface="Open Sans"/>
                <a:cs typeface="Open Sans"/>
              </a:rPr>
              <a:t>Ideally, we would want to reduce our products weight and add in some more stability. However, as designed our concept has proven to work with not only the load of our operator, but a total load of  680 lbs. @ 100 psi.</a:t>
            </a:r>
          </a:p>
        </p:txBody>
      </p:sp>
      <p:pic>
        <p:nvPicPr>
          <p:cNvPr id="28" name="Picture 27" descr="A black and orange letter&#10;&#10;AI-generated content may be incorrect.">
            <a:extLst>
              <a:ext uri="{FF2B5EF4-FFF2-40B4-BE49-F238E27FC236}">
                <a16:creationId xmlns:a16="http://schemas.microsoft.com/office/drawing/2014/main" id="{A9F8526F-8656-CD5D-B24B-53101F7B7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38295" y="463343"/>
            <a:ext cx="5318761" cy="1521452"/>
          </a:xfrm>
          <a:prstGeom prst="rect">
            <a:avLst/>
          </a:prstGeom>
        </p:spPr>
      </p:pic>
      <p:sp>
        <p:nvSpPr>
          <p:cNvPr id="29" name="TextBox 28">
            <a:extLst>
              <a:ext uri="{FF2B5EF4-FFF2-40B4-BE49-F238E27FC236}">
                <a16:creationId xmlns:a16="http://schemas.microsoft.com/office/drawing/2014/main" id="{F0DE80D1-49BE-1DB9-57E3-4D844F5E563E}"/>
              </a:ext>
            </a:extLst>
          </p:cNvPr>
          <p:cNvSpPr txBox="1"/>
          <p:nvPr/>
        </p:nvSpPr>
        <p:spPr>
          <a:xfrm>
            <a:off x="995164" y="15179798"/>
            <a:ext cx="6400800" cy="4893647"/>
          </a:xfrm>
          <a:prstGeom prst="rect">
            <a:avLst/>
          </a:prstGeom>
          <a:noFill/>
        </p:spPr>
        <p:txBody>
          <a:bodyPr wrap="square" lIns="91440" tIns="45720" rIns="91440" bIns="45720" rtlCol="0" anchor="t">
            <a:spAutoFit/>
          </a:bodyPr>
          <a:lstStyle>
            <a:defPPr>
              <a:defRPr kern="1200"/>
            </a:defPPr>
          </a:lstStyle>
          <a:p>
            <a:r>
              <a:rPr lang="en-US" sz="2400" dirty="0">
                <a:latin typeface="Quattrocento Sans"/>
                <a:ea typeface="Open Sans"/>
                <a:cs typeface="Open Sans"/>
              </a:rPr>
              <a:t>Currently, the construction industry has a static version of these stilts for drywallers to walk around on. However, this design isn't too suitable for workers who need to consistently raise from floor level to the ceiling/ working level. Air Ladder, would eliminate the time and hassle needed for removing the static version of these stilts and putting them back on after grabbing what you need from the floor. Given that almost every construction site has a portable air compressor we felt that pneumatics was the  cleanest and safest route for our vertical travel.</a:t>
            </a:r>
            <a:endParaRPr lang="en-US" sz="2400">
              <a:latin typeface="Quattrocento Sans" panose="020B0502050000020003" pitchFamily="34" charset="0"/>
              <a:ea typeface="Open Sans" panose="020B0606030504020204" pitchFamily="34" charset="0"/>
              <a:cs typeface="Open Sans" panose="020B0606030504020204" pitchFamily="34" charset="0"/>
            </a:endParaRPr>
          </a:p>
        </p:txBody>
      </p:sp>
      <p:sp>
        <p:nvSpPr>
          <p:cNvPr id="32" name="Rectangle 10">
            <a:extLst>
              <a:ext uri="{FF2B5EF4-FFF2-40B4-BE49-F238E27FC236}">
                <a16:creationId xmlns:a16="http://schemas.microsoft.com/office/drawing/2014/main" id="{69FF1C72-F5A1-A64F-C5A6-937B4CA2462B}"/>
              </a:ext>
            </a:extLst>
          </p:cNvPr>
          <p:cNvSpPr>
            <a:spLocks noChangeArrowheads="1"/>
          </p:cNvSpPr>
          <p:nvPr/>
        </p:nvSpPr>
        <p:spPr bwMode="auto">
          <a:xfrm>
            <a:off x="23524854" y="9018337"/>
            <a:ext cx="6400800" cy="1486794"/>
          </a:xfrm>
          <a:prstGeom prst="round2DiagRect">
            <a:avLst>
              <a:gd name="adj1" fmla="val 6827"/>
              <a:gd name="adj2" fmla="val 27948"/>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33" name="TextBox 32">
            <a:extLst>
              <a:ext uri="{FF2B5EF4-FFF2-40B4-BE49-F238E27FC236}">
                <a16:creationId xmlns:a16="http://schemas.microsoft.com/office/drawing/2014/main" id="{D8A73673-DAB0-6C9B-AC2F-976E6B712EC8}"/>
              </a:ext>
            </a:extLst>
          </p:cNvPr>
          <p:cNvSpPr txBox="1"/>
          <p:nvPr/>
        </p:nvSpPr>
        <p:spPr>
          <a:xfrm>
            <a:off x="23937420" y="9184843"/>
            <a:ext cx="5731351" cy="984885"/>
          </a:xfrm>
          <a:prstGeom prst="rect">
            <a:avLst/>
          </a:prstGeom>
          <a:noFill/>
        </p:spPr>
        <p:txBody>
          <a:bodyPr wrap="square" lIns="91440" tIns="45720" rIns="91440" bIns="45720" rtlCol="0" anchor="t">
            <a:spAutoFit/>
          </a:bodyPr>
          <a:lstStyle>
            <a:defPPr>
              <a:defRPr kern="1200"/>
            </a:defPPr>
          </a:lstStyle>
          <a:p>
            <a:r>
              <a:rPr lang="en-US" sz="2000" dirty="0">
                <a:latin typeface="Quattrocento"/>
                <a:ea typeface="Open Sans"/>
                <a:cs typeface="Open Sans"/>
              </a:rPr>
              <a:t>Pneumatics Reference: </a:t>
            </a:r>
            <a:r>
              <a:rPr lang="en-US" sz="2000" dirty="0" err="1">
                <a:latin typeface="Quattrocento"/>
                <a:ea typeface="Open Sans"/>
                <a:cs typeface="Open Sans"/>
              </a:rPr>
              <a:t>Lydey</a:t>
            </a:r>
            <a:r>
              <a:rPr lang="en-US" sz="2000" dirty="0">
                <a:latin typeface="Quattrocento"/>
                <a:ea typeface="Open Sans"/>
                <a:cs typeface="Open Sans"/>
              </a:rPr>
              <a:t> Automation</a:t>
            </a:r>
          </a:p>
          <a:p>
            <a:pPr marL="285750" indent="-285750">
              <a:buFont typeface="Arial"/>
              <a:buChar char="•"/>
            </a:pPr>
            <a:r>
              <a:rPr lang="en-US" dirty="0">
                <a:latin typeface="Calibri"/>
                <a:ea typeface="Open Sans"/>
                <a:cs typeface="Open Sans"/>
              </a:rPr>
              <a:t>Jake </a:t>
            </a:r>
            <a:r>
              <a:rPr lang="en-US" dirty="0" err="1">
                <a:latin typeface="Calibri"/>
                <a:ea typeface="Open Sans"/>
                <a:cs typeface="Open Sans"/>
              </a:rPr>
              <a:t>Lydey</a:t>
            </a:r>
            <a:r>
              <a:rPr lang="en-US" dirty="0">
                <a:latin typeface="Calibri"/>
                <a:ea typeface="Open Sans"/>
                <a:cs typeface="Open Sans"/>
              </a:rPr>
              <a:t> helped with pneumatic cylinder questions</a:t>
            </a:r>
          </a:p>
          <a:p>
            <a:r>
              <a:rPr lang="en-US" sz="2000" dirty="0">
                <a:latin typeface="Quattrocento"/>
                <a:ea typeface="Open Sans"/>
                <a:cs typeface="Open Sans"/>
              </a:rPr>
              <a:t>Met-L-Tec LLC: Provided sheet metal cutouts</a:t>
            </a:r>
          </a:p>
        </p:txBody>
      </p:sp>
      <p:pic>
        <p:nvPicPr>
          <p:cNvPr id="9" name="Picture 8" descr="A green rectangle with white text&#10;&#10;AI-generated content may be incorrect.">
            <a:extLst>
              <a:ext uri="{FF2B5EF4-FFF2-40B4-BE49-F238E27FC236}">
                <a16:creationId xmlns:a16="http://schemas.microsoft.com/office/drawing/2014/main" id="{A4DC9677-16A8-86C2-9DBE-58C7BFD97825}"/>
              </a:ext>
            </a:extLst>
          </p:cNvPr>
          <p:cNvPicPr>
            <a:picLocks noChangeAspect="1"/>
          </p:cNvPicPr>
          <p:nvPr/>
        </p:nvPicPr>
        <p:blipFill>
          <a:blip r:embed="rId4"/>
          <a:stretch>
            <a:fillRect/>
          </a:stretch>
        </p:blipFill>
        <p:spPr>
          <a:xfrm>
            <a:off x="24472215" y="19620121"/>
            <a:ext cx="4965113" cy="1417643"/>
          </a:xfrm>
          <a:prstGeom prst="rect">
            <a:avLst/>
          </a:prstGeom>
        </p:spPr>
      </p:pic>
      <p:pic>
        <p:nvPicPr>
          <p:cNvPr id="10" name="Picture 9" descr="A green oval with white text&#10;&#10;AI-generated content may be incorrect.">
            <a:extLst>
              <a:ext uri="{FF2B5EF4-FFF2-40B4-BE49-F238E27FC236}">
                <a16:creationId xmlns:a16="http://schemas.microsoft.com/office/drawing/2014/main" id="{70A3CABA-A7BA-0802-D5AA-88BE7AD9CE35}"/>
              </a:ext>
            </a:extLst>
          </p:cNvPr>
          <p:cNvPicPr>
            <a:picLocks noChangeAspect="1"/>
          </p:cNvPicPr>
          <p:nvPr/>
        </p:nvPicPr>
        <p:blipFill>
          <a:blip r:embed="rId5"/>
          <a:stretch>
            <a:fillRect/>
          </a:stretch>
        </p:blipFill>
        <p:spPr>
          <a:xfrm>
            <a:off x="25174352" y="18259943"/>
            <a:ext cx="2931003" cy="1260090"/>
          </a:xfrm>
          <a:prstGeom prst="rect">
            <a:avLst/>
          </a:prstGeom>
        </p:spPr>
      </p:pic>
      <p:pic>
        <p:nvPicPr>
          <p:cNvPr id="27" name="Picture 26">
            <a:extLst>
              <a:ext uri="{FF2B5EF4-FFF2-40B4-BE49-F238E27FC236}">
                <a16:creationId xmlns:a16="http://schemas.microsoft.com/office/drawing/2014/main" id="{CF771A08-56AE-5DF3-61B6-04590C3394C5}"/>
              </a:ext>
            </a:extLst>
          </p:cNvPr>
          <p:cNvPicPr>
            <a:picLocks noChangeAspect="1"/>
          </p:cNvPicPr>
          <p:nvPr/>
        </p:nvPicPr>
        <p:blipFill>
          <a:blip r:embed="rId6"/>
          <a:srcRect l="25016" t="6040" r="30830" b="1579"/>
          <a:stretch/>
        </p:blipFill>
        <p:spPr>
          <a:xfrm>
            <a:off x="11656262" y="10056801"/>
            <a:ext cx="2509551" cy="1691010"/>
          </a:xfrm>
          <a:prstGeom prst="rect">
            <a:avLst/>
          </a:prstGeom>
        </p:spPr>
      </p:pic>
      <p:sp>
        <p:nvSpPr>
          <p:cNvPr id="30" name="TextBox 29">
            <a:extLst>
              <a:ext uri="{FF2B5EF4-FFF2-40B4-BE49-F238E27FC236}">
                <a16:creationId xmlns:a16="http://schemas.microsoft.com/office/drawing/2014/main" id="{785075D2-7A54-2A7B-ABD1-D413B2FC74E4}"/>
              </a:ext>
            </a:extLst>
          </p:cNvPr>
          <p:cNvSpPr txBox="1"/>
          <p:nvPr/>
        </p:nvSpPr>
        <p:spPr>
          <a:xfrm>
            <a:off x="14204514" y="10395372"/>
            <a:ext cx="146625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latin typeface="Quattrocento Sans"/>
                <a:ea typeface="Calibri"/>
                <a:cs typeface="Calibri"/>
              </a:rPr>
              <a:t>Equivalent Stress Analysis</a:t>
            </a:r>
            <a:endParaRPr lang="en-US" sz="2000">
              <a:latin typeface="Quattrocento Sans"/>
            </a:endParaRPr>
          </a:p>
        </p:txBody>
      </p:sp>
      <p:sp>
        <p:nvSpPr>
          <p:cNvPr id="36" name="TextBox 35">
            <a:extLst>
              <a:ext uri="{FF2B5EF4-FFF2-40B4-BE49-F238E27FC236}">
                <a16:creationId xmlns:a16="http://schemas.microsoft.com/office/drawing/2014/main" id="{1C46B123-757D-89DD-5FA5-233D25239324}"/>
              </a:ext>
            </a:extLst>
          </p:cNvPr>
          <p:cNvSpPr txBox="1"/>
          <p:nvPr/>
        </p:nvSpPr>
        <p:spPr>
          <a:xfrm>
            <a:off x="639650" y="14253515"/>
            <a:ext cx="7360834" cy="646986"/>
          </a:xfrm>
          <a:prstGeom prst="round2DiagRect">
            <a:avLst/>
          </a:prstGeom>
          <a:solidFill>
            <a:srgbClr val="C0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dirty="0">
                <a:solidFill>
                  <a:schemeClr val="bg1"/>
                </a:solidFill>
                <a:latin typeface="Quattrocento Sans"/>
                <a:ea typeface="Calibri"/>
                <a:cs typeface="Calibri"/>
              </a:rPr>
              <a:t>Introduction</a:t>
            </a:r>
            <a:endParaRPr lang="en-US" dirty="0">
              <a:solidFill>
                <a:schemeClr val="bg1"/>
              </a:solidFill>
            </a:endParaRPr>
          </a:p>
        </p:txBody>
      </p:sp>
      <p:sp>
        <p:nvSpPr>
          <p:cNvPr id="37" name="TextBox 36">
            <a:extLst>
              <a:ext uri="{FF2B5EF4-FFF2-40B4-BE49-F238E27FC236}">
                <a16:creationId xmlns:a16="http://schemas.microsoft.com/office/drawing/2014/main" id="{F44EE078-2BDE-CE6E-1FE8-28E9CE40587F}"/>
              </a:ext>
            </a:extLst>
          </p:cNvPr>
          <p:cNvSpPr txBox="1"/>
          <p:nvPr/>
        </p:nvSpPr>
        <p:spPr>
          <a:xfrm>
            <a:off x="8325442" y="9264851"/>
            <a:ext cx="7219358" cy="646986"/>
          </a:xfrm>
          <a:prstGeom prst="round2DiagRect">
            <a:avLst/>
          </a:prstGeom>
          <a:solidFill>
            <a:srgbClr val="C0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dirty="0">
                <a:solidFill>
                  <a:schemeClr val="bg1"/>
                </a:solidFill>
                <a:latin typeface="Quattrocento Sans"/>
                <a:ea typeface="Calibri"/>
                <a:cs typeface="Calibri"/>
              </a:rPr>
              <a:t>Project/Prototype Images</a:t>
            </a:r>
            <a:endParaRPr lang="en-US" dirty="0"/>
          </a:p>
        </p:txBody>
      </p:sp>
      <p:sp>
        <p:nvSpPr>
          <p:cNvPr id="39" name="TextBox 38">
            <a:extLst>
              <a:ext uri="{FF2B5EF4-FFF2-40B4-BE49-F238E27FC236}">
                <a16:creationId xmlns:a16="http://schemas.microsoft.com/office/drawing/2014/main" id="{D6E7E77A-D7D5-54E6-F94F-6B9BE47AAAB7}"/>
              </a:ext>
            </a:extLst>
          </p:cNvPr>
          <p:cNvSpPr txBox="1"/>
          <p:nvPr/>
        </p:nvSpPr>
        <p:spPr>
          <a:xfrm>
            <a:off x="23691654" y="17114650"/>
            <a:ext cx="5896398" cy="646986"/>
          </a:xfrm>
          <a:prstGeom prst="round2DiagRect">
            <a:avLst/>
          </a:prstGeom>
          <a:solidFill>
            <a:srgbClr val="C0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dirty="0">
                <a:solidFill>
                  <a:schemeClr val="bg1"/>
                </a:solidFill>
                <a:latin typeface="Quattrocento Sans"/>
                <a:ea typeface="Calibri"/>
                <a:cs typeface="Calibri"/>
              </a:rPr>
              <a:t>Acknowledgements</a:t>
            </a:r>
            <a:endParaRPr lang="en-US" dirty="0"/>
          </a:p>
        </p:txBody>
      </p:sp>
      <p:sp>
        <p:nvSpPr>
          <p:cNvPr id="40" name="TextBox 39">
            <a:extLst>
              <a:ext uri="{FF2B5EF4-FFF2-40B4-BE49-F238E27FC236}">
                <a16:creationId xmlns:a16="http://schemas.microsoft.com/office/drawing/2014/main" id="{CC015BF6-E5C8-CB63-F8F6-2F9CBE0380AD}"/>
              </a:ext>
            </a:extLst>
          </p:cNvPr>
          <p:cNvSpPr txBox="1"/>
          <p:nvPr/>
        </p:nvSpPr>
        <p:spPr>
          <a:xfrm>
            <a:off x="23274355" y="8163283"/>
            <a:ext cx="7360834" cy="646986"/>
          </a:xfrm>
          <a:prstGeom prst="round2DiagRect">
            <a:avLst/>
          </a:prstGeom>
          <a:solidFill>
            <a:srgbClr val="C0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dirty="0">
                <a:solidFill>
                  <a:schemeClr val="bg1"/>
                </a:solidFill>
                <a:latin typeface="Quattrocento Sans"/>
                <a:ea typeface="Calibri"/>
                <a:cs typeface="Calibri"/>
              </a:rPr>
              <a:t>References</a:t>
            </a:r>
            <a:endParaRPr lang="en-US" dirty="0"/>
          </a:p>
        </p:txBody>
      </p:sp>
      <p:sp>
        <p:nvSpPr>
          <p:cNvPr id="41" name="TextBox 40">
            <a:extLst>
              <a:ext uri="{FF2B5EF4-FFF2-40B4-BE49-F238E27FC236}">
                <a16:creationId xmlns:a16="http://schemas.microsoft.com/office/drawing/2014/main" id="{75FED98D-F612-ABE6-DE0B-DAA0055FDE24}"/>
              </a:ext>
            </a:extLst>
          </p:cNvPr>
          <p:cNvSpPr txBox="1"/>
          <p:nvPr/>
        </p:nvSpPr>
        <p:spPr>
          <a:xfrm>
            <a:off x="23253788" y="4507457"/>
            <a:ext cx="7360834" cy="646986"/>
          </a:xfrm>
          <a:prstGeom prst="round2DiagRect">
            <a:avLst/>
          </a:prstGeom>
          <a:solidFill>
            <a:srgbClr val="C0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dirty="0">
                <a:solidFill>
                  <a:schemeClr val="bg1"/>
                </a:solidFill>
                <a:latin typeface="Quattrocento Sans"/>
                <a:ea typeface="Calibri"/>
                <a:cs typeface="Calibri"/>
              </a:rPr>
              <a:t>Conclusion</a:t>
            </a:r>
            <a:endParaRPr lang="en-US" dirty="0"/>
          </a:p>
        </p:txBody>
      </p:sp>
      <p:sp>
        <p:nvSpPr>
          <p:cNvPr id="42" name="TextBox 41">
            <a:extLst>
              <a:ext uri="{FF2B5EF4-FFF2-40B4-BE49-F238E27FC236}">
                <a16:creationId xmlns:a16="http://schemas.microsoft.com/office/drawing/2014/main" id="{1CE3DBB4-58E0-B633-E311-3AD433A2B060}"/>
              </a:ext>
            </a:extLst>
          </p:cNvPr>
          <p:cNvSpPr txBox="1"/>
          <p:nvPr/>
        </p:nvSpPr>
        <p:spPr>
          <a:xfrm>
            <a:off x="15756702" y="4507457"/>
            <a:ext cx="7360834" cy="646986"/>
          </a:xfrm>
          <a:prstGeom prst="round2DiagRect">
            <a:avLst/>
          </a:prstGeom>
          <a:solidFill>
            <a:srgbClr val="C0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dirty="0">
                <a:solidFill>
                  <a:schemeClr val="bg1"/>
                </a:solidFill>
                <a:latin typeface="Quattrocento Sans"/>
                <a:ea typeface="Calibri"/>
                <a:cs typeface="Calibri"/>
              </a:rPr>
              <a:t>Results and Discussion</a:t>
            </a:r>
            <a:endParaRPr lang="en-US" dirty="0">
              <a:solidFill>
                <a:schemeClr val="bg1"/>
              </a:solidFill>
            </a:endParaRPr>
          </a:p>
        </p:txBody>
      </p:sp>
      <p:sp>
        <p:nvSpPr>
          <p:cNvPr id="43" name="TextBox 42">
            <a:extLst>
              <a:ext uri="{FF2B5EF4-FFF2-40B4-BE49-F238E27FC236}">
                <a16:creationId xmlns:a16="http://schemas.microsoft.com/office/drawing/2014/main" id="{EAEB4B26-D98E-F7D8-4D93-99FF15C64458}"/>
              </a:ext>
            </a:extLst>
          </p:cNvPr>
          <p:cNvSpPr txBox="1"/>
          <p:nvPr/>
        </p:nvSpPr>
        <p:spPr>
          <a:xfrm>
            <a:off x="8191578" y="4507457"/>
            <a:ext cx="7360834" cy="646986"/>
          </a:xfrm>
          <a:prstGeom prst="round2DiagRect">
            <a:avLst/>
          </a:prstGeom>
          <a:solidFill>
            <a:srgbClr val="C0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dirty="0">
                <a:solidFill>
                  <a:schemeClr val="bg1"/>
                </a:solidFill>
                <a:latin typeface="Quattrocento Sans"/>
                <a:ea typeface="Calibri"/>
                <a:cs typeface="Calibri"/>
              </a:rPr>
              <a:t>Methodology and Implementation</a:t>
            </a:r>
            <a:endParaRPr lang="en-US" dirty="0"/>
          </a:p>
        </p:txBody>
      </p:sp>
      <p:sp>
        <p:nvSpPr>
          <p:cNvPr id="44" name="TextBox 43">
            <a:extLst>
              <a:ext uri="{FF2B5EF4-FFF2-40B4-BE49-F238E27FC236}">
                <a16:creationId xmlns:a16="http://schemas.microsoft.com/office/drawing/2014/main" id="{48799EB8-F862-19D8-7D0B-E8A6F9BF64D0}"/>
              </a:ext>
            </a:extLst>
          </p:cNvPr>
          <p:cNvSpPr txBox="1"/>
          <p:nvPr/>
        </p:nvSpPr>
        <p:spPr>
          <a:xfrm>
            <a:off x="634014" y="4507457"/>
            <a:ext cx="7360834" cy="646986"/>
          </a:xfrm>
          <a:prstGeom prst="round2DiagRect">
            <a:avLst/>
          </a:prstGeom>
          <a:solidFill>
            <a:srgbClr val="C0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dirty="0">
                <a:solidFill>
                  <a:schemeClr val="bg1"/>
                </a:solidFill>
                <a:latin typeface="Quattrocento Sans"/>
                <a:ea typeface="Calibri"/>
                <a:cs typeface="Calibri"/>
              </a:rPr>
              <a:t>Abstract</a:t>
            </a:r>
          </a:p>
        </p:txBody>
      </p:sp>
      <p:sp>
        <p:nvSpPr>
          <p:cNvPr id="5" name="TextBox 4">
            <a:extLst>
              <a:ext uri="{FF2B5EF4-FFF2-40B4-BE49-F238E27FC236}">
                <a16:creationId xmlns:a16="http://schemas.microsoft.com/office/drawing/2014/main" id="{691FE1FC-B744-8350-105C-A87C876560FB}"/>
              </a:ext>
            </a:extLst>
          </p:cNvPr>
          <p:cNvSpPr txBox="1"/>
          <p:nvPr/>
        </p:nvSpPr>
        <p:spPr>
          <a:xfrm>
            <a:off x="8483140" y="5838116"/>
            <a:ext cx="6600645"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Quattrocento"/>
              </a:rPr>
              <a:t>Below in Figure 1, is an image that our design was based off. As already mentioned, currently what most construction sites use as a method of reaching elevated spaces are these stilts. They do have height adjust but would require the worker to take their weight off them. The implementation of Air Ladder would eliminate this timely and extra step.</a:t>
            </a:r>
            <a:endParaRPr lang="en-US" dirty="0"/>
          </a:p>
        </p:txBody>
      </p:sp>
      <p:grpSp>
        <p:nvGrpSpPr>
          <p:cNvPr id="26" name="Group 25">
            <a:extLst>
              <a:ext uri="{FF2B5EF4-FFF2-40B4-BE49-F238E27FC236}">
                <a16:creationId xmlns:a16="http://schemas.microsoft.com/office/drawing/2014/main" id="{1FCD60DF-F55E-2588-97C6-0291238467C4}"/>
              </a:ext>
            </a:extLst>
          </p:cNvPr>
          <p:cNvGrpSpPr/>
          <p:nvPr/>
        </p:nvGrpSpPr>
        <p:grpSpPr>
          <a:xfrm>
            <a:off x="8389658" y="10122063"/>
            <a:ext cx="3179133" cy="4131452"/>
            <a:chOff x="8241565" y="16295555"/>
            <a:chExt cx="2520108" cy="4059318"/>
          </a:xfrm>
        </p:grpSpPr>
        <p:pic>
          <p:nvPicPr>
            <p:cNvPr id="4" name="Picture 3" descr="A pair of stilts with blue straps with Space Needle in the background&#10;&#10;AI-generated content may be incorrect.">
              <a:extLst>
                <a:ext uri="{FF2B5EF4-FFF2-40B4-BE49-F238E27FC236}">
                  <a16:creationId xmlns:a16="http://schemas.microsoft.com/office/drawing/2014/main" id="{952613E0-020B-9A35-C79F-C70393B88531}"/>
                </a:ext>
              </a:extLst>
            </p:cNvPr>
            <p:cNvPicPr>
              <a:picLocks noChangeAspect="1"/>
            </p:cNvPicPr>
            <p:nvPr/>
          </p:nvPicPr>
          <p:blipFill>
            <a:blip r:embed="rId7"/>
            <a:srcRect l="18373" t="1480" r="17294" b="-903"/>
            <a:stretch/>
          </p:blipFill>
          <p:spPr>
            <a:xfrm>
              <a:off x="8241565" y="16295555"/>
              <a:ext cx="2520108" cy="3657345"/>
            </a:xfrm>
            <a:prstGeom prst="rect">
              <a:avLst/>
            </a:prstGeom>
          </p:spPr>
        </p:pic>
        <p:sp>
          <p:nvSpPr>
            <p:cNvPr id="6" name="TextBox 5">
              <a:extLst>
                <a:ext uri="{FF2B5EF4-FFF2-40B4-BE49-F238E27FC236}">
                  <a16:creationId xmlns:a16="http://schemas.microsoft.com/office/drawing/2014/main" id="{7BDE84B3-6782-F448-716F-1DA234186E52}"/>
                </a:ext>
              </a:extLst>
            </p:cNvPr>
            <p:cNvSpPr txBox="1"/>
            <p:nvPr/>
          </p:nvSpPr>
          <p:spPr>
            <a:xfrm>
              <a:off x="8498667" y="19893208"/>
              <a:ext cx="177223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ea typeface="Calibri"/>
                  <a:cs typeface="Calibri"/>
                </a:rPr>
                <a:t>Figure 1</a:t>
              </a:r>
            </a:p>
          </p:txBody>
        </p:sp>
      </p:grpSp>
      <p:pic>
        <p:nvPicPr>
          <p:cNvPr id="12" name="Picture 11" descr="A person holding metal plates&#10;&#10;AI-generated content may be incorrect.">
            <a:extLst>
              <a:ext uri="{FF2B5EF4-FFF2-40B4-BE49-F238E27FC236}">
                <a16:creationId xmlns:a16="http://schemas.microsoft.com/office/drawing/2014/main" id="{FAEA5E3D-DB8F-F031-B2DC-4480B28A483D}"/>
              </a:ext>
            </a:extLst>
          </p:cNvPr>
          <p:cNvPicPr>
            <a:picLocks noChangeAspect="1"/>
          </p:cNvPicPr>
          <p:nvPr/>
        </p:nvPicPr>
        <p:blipFill>
          <a:blip r:embed="rId8"/>
          <a:stretch>
            <a:fillRect/>
          </a:stretch>
        </p:blipFill>
        <p:spPr>
          <a:xfrm>
            <a:off x="8202496" y="14550631"/>
            <a:ext cx="3257561" cy="1872216"/>
          </a:xfrm>
          <a:prstGeom prst="rect">
            <a:avLst/>
          </a:prstGeom>
        </p:spPr>
      </p:pic>
      <p:sp>
        <p:nvSpPr>
          <p:cNvPr id="22" name="TextBox 21">
            <a:extLst>
              <a:ext uri="{FF2B5EF4-FFF2-40B4-BE49-F238E27FC236}">
                <a16:creationId xmlns:a16="http://schemas.microsoft.com/office/drawing/2014/main" id="{19F60481-D959-CA8D-99B6-F8CC14A4DB05}"/>
              </a:ext>
            </a:extLst>
          </p:cNvPr>
          <p:cNvSpPr txBox="1"/>
          <p:nvPr/>
        </p:nvSpPr>
        <p:spPr>
          <a:xfrm>
            <a:off x="7543800" y="16564386"/>
            <a:ext cx="324075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ea typeface="Calibri"/>
                <a:cs typeface="Calibri"/>
              </a:rPr>
              <a:t>Base Plates</a:t>
            </a:r>
          </a:p>
        </p:txBody>
      </p:sp>
      <p:pic>
        <p:nvPicPr>
          <p:cNvPr id="25" name="Picture 24" descr="A pair of metal poles with leather straps on a table&#10;&#10;AI-generated content may be incorrect.">
            <a:extLst>
              <a:ext uri="{FF2B5EF4-FFF2-40B4-BE49-F238E27FC236}">
                <a16:creationId xmlns:a16="http://schemas.microsoft.com/office/drawing/2014/main" id="{1B5B3407-D2B7-680D-1A5C-F872E8B2F112}"/>
              </a:ext>
            </a:extLst>
          </p:cNvPr>
          <p:cNvPicPr>
            <a:picLocks noChangeAspect="1"/>
          </p:cNvPicPr>
          <p:nvPr/>
        </p:nvPicPr>
        <p:blipFill>
          <a:blip r:embed="rId9"/>
          <a:stretch>
            <a:fillRect/>
          </a:stretch>
        </p:blipFill>
        <p:spPr>
          <a:xfrm>
            <a:off x="11939166" y="14024857"/>
            <a:ext cx="3256390" cy="2421886"/>
          </a:xfrm>
          <a:prstGeom prst="rect">
            <a:avLst/>
          </a:prstGeom>
        </p:spPr>
      </p:pic>
      <p:sp>
        <p:nvSpPr>
          <p:cNvPr id="31" name="TextBox 30">
            <a:extLst>
              <a:ext uri="{FF2B5EF4-FFF2-40B4-BE49-F238E27FC236}">
                <a16:creationId xmlns:a16="http://schemas.microsoft.com/office/drawing/2014/main" id="{1C803BF7-A48A-DC0E-16D9-988D3A6C92E1}"/>
              </a:ext>
            </a:extLst>
          </p:cNvPr>
          <p:cNvSpPr txBox="1"/>
          <p:nvPr/>
        </p:nvSpPr>
        <p:spPr>
          <a:xfrm>
            <a:off x="11741475" y="16564386"/>
            <a:ext cx="324075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ea typeface="Calibri"/>
                <a:cs typeface="Calibri"/>
              </a:rPr>
              <a:t>Mid-Term Progress</a:t>
            </a:r>
          </a:p>
        </p:txBody>
      </p:sp>
      <p:sp>
        <p:nvSpPr>
          <p:cNvPr id="35" name="TextBox 34">
            <a:extLst>
              <a:ext uri="{FF2B5EF4-FFF2-40B4-BE49-F238E27FC236}">
                <a16:creationId xmlns:a16="http://schemas.microsoft.com/office/drawing/2014/main" id="{4B16D867-8363-F052-3896-7314217EE518}"/>
              </a:ext>
            </a:extLst>
          </p:cNvPr>
          <p:cNvSpPr txBox="1"/>
          <p:nvPr/>
        </p:nvSpPr>
        <p:spPr>
          <a:xfrm>
            <a:off x="17068800" y="21313272"/>
            <a:ext cx="324075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ea typeface="Calibri"/>
                <a:cs typeface="Calibri"/>
              </a:rPr>
              <a:t>Final Product</a:t>
            </a:r>
          </a:p>
        </p:txBody>
      </p:sp>
      <p:pic>
        <p:nvPicPr>
          <p:cNvPr id="3" name="Picture 2" descr="A diagram of a machine&#10;&#10;AI-generated content may be incorrect.">
            <a:extLst>
              <a:ext uri="{FF2B5EF4-FFF2-40B4-BE49-F238E27FC236}">
                <a16:creationId xmlns:a16="http://schemas.microsoft.com/office/drawing/2014/main" id="{577D1911-76AB-F9B1-CD8B-61B63E161B53}"/>
              </a:ext>
            </a:extLst>
          </p:cNvPr>
          <p:cNvPicPr>
            <a:picLocks noChangeAspect="1"/>
          </p:cNvPicPr>
          <p:nvPr/>
        </p:nvPicPr>
        <p:blipFill>
          <a:blip r:embed="rId10"/>
          <a:stretch>
            <a:fillRect/>
          </a:stretch>
        </p:blipFill>
        <p:spPr>
          <a:xfrm>
            <a:off x="8733273" y="17193895"/>
            <a:ext cx="5671035" cy="4080166"/>
          </a:xfrm>
          <a:prstGeom prst="rect">
            <a:avLst/>
          </a:prstGeom>
        </p:spPr>
      </p:pic>
      <p:sp>
        <p:nvSpPr>
          <p:cNvPr id="18" name="TextBox 17">
            <a:extLst>
              <a:ext uri="{FF2B5EF4-FFF2-40B4-BE49-F238E27FC236}">
                <a16:creationId xmlns:a16="http://schemas.microsoft.com/office/drawing/2014/main" id="{4E99B199-8A39-C625-34E7-2BEF3BA0DAF7}"/>
              </a:ext>
            </a:extLst>
          </p:cNvPr>
          <p:cNvSpPr txBox="1"/>
          <p:nvPr/>
        </p:nvSpPr>
        <p:spPr>
          <a:xfrm>
            <a:off x="9670287" y="21319146"/>
            <a:ext cx="324075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ea typeface="Calibri"/>
                <a:cs typeface="Calibri"/>
              </a:rPr>
              <a:t>Pneumatic Schematic</a:t>
            </a:r>
          </a:p>
        </p:txBody>
      </p:sp>
      <p:pic>
        <p:nvPicPr>
          <p:cNvPr id="13" name="Picture 12">
            <a:extLst>
              <a:ext uri="{FF2B5EF4-FFF2-40B4-BE49-F238E27FC236}">
                <a16:creationId xmlns:a16="http://schemas.microsoft.com/office/drawing/2014/main" id="{FD44ECC0-2F36-7D01-6520-F8849F35CBA0}"/>
              </a:ext>
            </a:extLst>
          </p:cNvPr>
          <p:cNvPicPr>
            <a:picLocks noChangeAspect="1"/>
          </p:cNvPicPr>
          <p:nvPr/>
        </p:nvPicPr>
        <p:blipFill>
          <a:blip r:embed="rId11"/>
          <a:stretch>
            <a:fillRect/>
          </a:stretch>
        </p:blipFill>
        <p:spPr>
          <a:xfrm>
            <a:off x="15756702" y="15699415"/>
            <a:ext cx="6812427" cy="5619731"/>
          </a:xfrm>
          <a:prstGeom prst="rect">
            <a:avLst/>
          </a:prstGeom>
        </p:spPr>
      </p:pic>
      <p:pic>
        <p:nvPicPr>
          <p:cNvPr id="38" name="Picture 37">
            <a:extLst>
              <a:ext uri="{FF2B5EF4-FFF2-40B4-BE49-F238E27FC236}">
                <a16:creationId xmlns:a16="http://schemas.microsoft.com/office/drawing/2014/main" id="{735EC1FE-CCC0-0B3B-E396-2E12461E83CD}"/>
              </a:ext>
            </a:extLst>
          </p:cNvPr>
          <p:cNvPicPr>
            <a:picLocks noChangeAspect="1"/>
          </p:cNvPicPr>
          <p:nvPr/>
        </p:nvPicPr>
        <p:blipFill>
          <a:blip r:embed="rId12"/>
          <a:srcRect l="22687" t="559" r="27341" b="-1114"/>
          <a:stretch/>
        </p:blipFill>
        <p:spPr>
          <a:xfrm>
            <a:off x="11656262" y="11900028"/>
            <a:ext cx="2515943" cy="1762685"/>
          </a:xfrm>
          <a:prstGeom prst="rect">
            <a:avLst/>
          </a:prstGeom>
        </p:spPr>
      </p:pic>
      <p:sp>
        <p:nvSpPr>
          <p:cNvPr id="46" name="TextBox 45">
            <a:extLst>
              <a:ext uri="{FF2B5EF4-FFF2-40B4-BE49-F238E27FC236}">
                <a16:creationId xmlns:a16="http://schemas.microsoft.com/office/drawing/2014/main" id="{5D267EF8-B260-31D8-023D-C9148156E7E8}"/>
              </a:ext>
            </a:extLst>
          </p:cNvPr>
          <p:cNvSpPr txBox="1"/>
          <p:nvPr/>
        </p:nvSpPr>
        <p:spPr>
          <a:xfrm>
            <a:off x="13965284" y="12191590"/>
            <a:ext cx="186024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latin typeface="Quattrocento Sans"/>
                <a:ea typeface="Calibri"/>
                <a:cs typeface="Calibri"/>
              </a:rPr>
              <a:t>Total Deformation Analysis</a:t>
            </a:r>
            <a:endParaRPr lang="en-US" dirty="0">
              <a:ea typeface="Calibri"/>
              <a:cs typeface="Calibri"/>
            </a:endParaRPr>
          </a:p>
        </p:txBody>
      </p:sp>
      <p:sp>
        <p:nvSpPr>
          <p:cNvPr id="51" name="Rectangle 10">
            <a:extLst>
              <a:ext uri="{FF2B5EF4-FFF2-40B4-BE49-F238E27FC236}">
                <a16:creationId xmlns:a16="http://schemas.microsoft.com/office/drawing/2014/main" id="{FECEEED5-DC13-4E52-1C4E-C4737026F560}"/>
              </a:ext>
            </a:extLst>
          </p:cNvPr>
          <p:cNvSpPr>
            <a:spLocks noChangeArrowheads="1"/>
          </p:cNvSpPr>
          <p:nvPr/>
        </p:nvSpPr>
        <p:spPr bwMode="auto">
          <a:xfrm>
            <a:off x="23623603" y="11359658"/>
            <a:ext cx="6400800"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3200" b="1" dirty="0">
                <a:solidFill>
                  <a:schemeClr val="bg1"/>
                </a:solidFill>
                <a:latin typeface="Quattrocento" panose="02020802030000000404" pitchFamily="18" charset="0"/>
              </a:rPr>
              <a:t>Project Team</a:t>
            </a:r>
          </a:p>
        </p:txBody>
      </p:sp>
      <p:grpSp>
        <p:nvGrpSpPr>
          <p:cNvPr id="52" name="Group 51">
            <a:extLst>
              <a:ext uri="{FF2B5EF4-FFF2-40B4-BE49-F238E27FC236}">
                <a16:creationId xmlns:a16="http://schemas.microsoft.com/office/drawing/2014/main" id="{880B4AD5-161A-1048-47CC-78BD709E5E7E}"/>
              </a:ext>
            </a:extLst>
          </p:cNvPr>
          <p:cNvGrpSpPr/>
          <p:nvPr/>
        </p:nvGrpSpPr>
        <p:grpSpPr>
          <a:xfrm>
            <a:off x="23343606" y="12445195"/>
            <a:ext cx="7551109" cy="3874684"/>
            <a:chOff x="23289400" y="14853878"/>
            <a:chExt cx="7468627" cy="3684346"/>
          </a:xfrm>
        </p:grpSpPr>
        <p:pic>
          <p:nvPicPr>
            <p:cNvPr id="50" name="Picture 49" descr="A person standing on a machine&#10;&#10;AI-generated content may be incorrect.">
              <a:extLst>
                <a:ext uri="{FF2B5EF4-FFF2-40B4-BE49-F238E27FC236}">
                  <a16:creationId xmlns:a16="http://schemas.microsoft.com/office/drawing/2014/main" id="{CA25ECC5-EED6-F246-F41C-AA270ED73DAE}"/>
                </a:ext>
              </a:extLst>
            </p:cNvPr>
            <p:cNvPicPr>
              <a:picLocks noChangeAspect="1"/>
            </p:cNvPicPr>
            <p:nvPr/>
          </p:nvPicPr>
          <p:blipFill>
            <a:blip r:embed="rId13">
              <a:extLst>
                <a:ext uri="{28A0092B-C50C-407E-A947-70E740481C1C}">
                  <a14:useLocalDpi xmlns:a14="http://schemas.microsoft.com/office/drawing/2010/main" val="0"/>
                </a:ext>
              </a:extLst>
            </a:blip>
            <a:srcRect t="9044" b="28063"/>
            <a:stretch/>
          </p:blipFill>
          <p:spPr>
            <a:xfrm>
              <a:off x="23289400" y="14853878"/>
              <a:ext cx="2702191" cy="3684346"/>
            </a:xfrm>
            <a:prstGeom prst="rect">
              <a:avLst/>
            </a:prstGeom>
          </p:spPr>
        </p:pic>
        <p:pic>
          <p:nvPicPr>
            <p:cNvPr id="48" name="Picture 47" descr="A group of people standing in front of a poster&#10;&#10;AI-generated content may be incorrect.">
              <a:extLst>
                <a:ext uri="{FF2B5EF4-FFF2-40B4-BE49-F238E27FC236}">
                  <a16:creationId xmlns:a16="http://schemas.microsoft.com/office/drawing/2014/main" id="{001F66E2-A3F0-7842-D195-71B44B0C4085}"/>
                </a:ext>
              </a:extLst>
            </p:cNvPr>
            <p:cNvPicPr>
              <a:picLocks noChangeAspect="1"/>
            </p:cNvPicPr>
            <p:nvPr/>
          </p:nvPicPr>
          <p:blipFill>
            <a:blip r:embed="rId14">
              <a:extLst>
                <a:ext uri="{28A0092B-C50C-407E-A947-70E740481C1C}">
                  <a14:useLocalDpi xmlns:a14="http://schemas.microsoft.com/office/drawing/2010/main" val="0"/>
                </a:ext>
              </a:extLst>
            </a:blip>
            <a:srcRect l="13499" t="22358"/>
            <a:stretch/>
          </p:blipFill>
          <p:spPr>
            <a:xfrm>
              <a:off x="25285093" y="14853878"/>
              <a:ext cx="5472934" cy="3684346"/>
            </a:xfrm>
            <a:prstGeom prst="rect">
              <a:avLst/>
            </a:prstGeom>
          </p:spPr>
        </p:pic>
      </p:grpSp>
    </p:spTree>
    <p:extLst>
      <p:ext uri="{BB962C8B-B14F-4D97-AF65-F5344CB8AC3E}">
        <p14:creationId xmlns:p14="http://schemas.microsoft.com/office/powerpoint/2010/main" val="353181701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746</TotalTime>
  <Words>641</Words>
  <Application>Microsoft Office PowerPoint</Application>
  <PresentationFormat>Custom</PresentationFormat>
  <Paragraphs>37</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Quattrocento</vt:lpstr>
      <vt:lpstr>Quattrocento Sans</vt:lpstr>
      <vt:lpstr>Office 2013 - 2022 Theme</vt:lpstr>
      <vt:lpstr>PowerPoint Presentation</vt:lpstr>
    </vt:vector>
  </TitlesOfParts>
  <Company>Dartmouth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Memory in the Two Cerebral Hemispheres M.G. Funnell, M.K. Colvin, &amp; M.S. Gazzaniga Center for Cognitive Neuroscience, Dartmouth College</dc:title>
  <dc:creator>Margaret Funnell</dc:creator>
  <cp:lastModifiedBy>Sonia Mary Chacko</cp:lastModifiedBy>
  <cp:revision>786</cp:revision>
  <cp:lastPrinted>2003-03-25T14:30:39Z</cp:lastPrinted>
  <dcterms:created xsi:type="dcterms:W3CDTF">2003-03-14T19:43:06Z</dcterms:created>
  <dcterms:modified xsi:type="dcterms:W3CDTF">2025-05-11T21:58:07Z</dcterms:modified>
</cp:coreProperties>
</file>