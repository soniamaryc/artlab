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4"/>
  </p:sldMasterIdLst>
  <p:sldIdLst>
    <p:sldId id="257" r:id="rId5"/>
  </p:sldIdLst>
  <p:sldSz cx="31089600" cy="219456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3C49E6-4CAB-6B70-5B2B-E5887AA55665}" v="1826" dt="2025-04-27T02:29:51.722"/>
    <p1510:client id="{A61F4D32-0B15-079E-4BB9-30B8C76E2947}" v="13" dt="2025-04-28T02:11:57.915"/>
    <p1510:client id="{F697B6F0-4561-4AC6-A83D-39D61B8A872C}" v="873" dt="2025-04-27T16:27:09.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4660"/>
  </p:normalViewPr>
  <p:slideViewPr>
    <p:cSldViewPr snapToGrid="0">
      <p:cViewPr>
        <p:scale>
          <a:sx n="66" d="100"/>
          <a:sy n="66" d="100"/>
        </p:scale>
        <p:origin x="-4675" y="-2626"/>
      </p:cViewPr>
      <p:guideLst>
        <p:guide orient="horz" pos="6912"/>
        <p:guide pos="97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87E2F82D-3616-4467-A056-E894D5735046}" type="slidenum">
              <a:rPr lang="en-US" altLang="en-US" smtClean="0"/>
              <a:pPr/>
              <a:t>‹#›</a:t>
            </a:fld>
            <a:endParaRPr lang="en-US" altLang="en-US"/>
          </a:p>
        </p:txBody>
      </p:sp>
    </p:spTree>
    <p:extLst>
      <p:ext uri="{BB962C8B-B14F-4D97-AF65-F5344CB8AC3E}">
        <p14:creationId xmlns:p14="http://schemas.microsoft.com/office/powerpoint/2010/main" val="36210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BCA119C6-817E-4242-83A3-C8FC571DD821}" type="slidenum">
              <a:rPr lang="en-US" altLang="en-US" smtClean="0"/>
              <a:pPr/>
              <a:t>‹#›</a:t>
            </a:fld>
            <a:endParaRPr lang="en-US" altLang="en-US"/>
          </a:p>
        </p:txBody>
      </p:sp>
    </p:spTree>
    <p:extLst>
      <p:ext uri="{BB962C8B-B14F-4D97-AF65-F5344CB8AC3E}">
        <p14:creationId xmlns:p14="http://schemas.microsoft.com/office/powerpoint/2010/main" val="4056806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F4192726-DD1F-4C44-94D0-F43B3C6AC185}" type="slidenum">
              <a:rPr lang="en-US" altLang="en-US" smtClean="0"/>
              <a:pPr/>
              <a:t>‹#›</a:t>
            </a:fld>
            <a:endParaRPr lang="en-US" altLang="en-US"/>
          </a:p>
        </p:txBody>
      </p:sp>
    </p:spTree>
    <p:extLst>
      <p:ext uri="{BB962C8B-B14F-4D97-AF65-F5344CB8AC3E}">
        <p14:creationId xmlns:p14="http://schemas.microsoft.com/office/powerpoint/2010/main" val="367954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86C27BE-A5E0-47D6-A899-CADB1153DCDF}" type="slidenum">
              <a:rPr lang="en-US" altLang="en-US" smtClean="0"/>
              <a:pPr/>
              <a:t>‹#›</a:t>
            </a:fld>
            <a:endParaRPr lang="en-US" altLang="en-US"/>
          </a:p>
        </p:txBody>
      </p:sp>
    </p:spTree>
    <p:extLst>
      <p:ext uri="{BB962C8B-B14F-4D97-AF65-F5344CB8AC3E}">
        <p14:creationId xmlns:p14="http://schemas.microsoft.com/office/powerpoint/2010/main" val="31238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fld id="{A8D83365-3921-44D2-91EA-BF09235FA2BD}" type="slidenum">
              <a:rPr lang="en-US" altLang="en-US" smtClean="0"/>
              <a:pPr/>
              <a:t>‹#›</a:t>
            </a:fld>
            <a:endParaRPr lang="en-US" altLang="en-US"/>
          </a:p>
        </p:txBody>
      </p:sp>
    </p:spTree>
    <p:extLst>
      <p:ext uri="{BB962C8B-B14F-4D97-AF65-F5344CB8AC3E}">
        <p14:creationId xmlns:p14="http://schemas.microsoft.com/office/powerpoint/2010/main" val="333866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934B8FBB-A22D-48A9-86F8-F488C1EC41E7}" type="slidenum">
              <a:rPr lang="en-US" altLang="en-US" smtClean="0"/>
              <a:pPr/>
              <a:t>‹#›</a:t>
            </a:fld>
            <a:endParaRPr lang="en-US" altLang="en-US"/>
          </a:p>
        </p:txBody>
      </p:sp>
    </p:spTree>
    <p:extLst>
      <p:ext uri="{BB962C8B-B14F-4D97-AF65-F5344CB8AC3E}">
        <p14:creationId xmlns:p14="http://schemas.microsoft.com/office/powerpoint/2010/main" val="144668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0853FCE1-1DB8-4EE9-BEDE-5D17530D2F0D}" type="slidenum">
              <a:rPr lang="en-US" altLang="en-US" smtClean="0"/>
              <a:pPr/>
              <a:t>‹#›</a:t>
            </a:fld>
            <a:endParaRPr lang="en-US" altLang="en-US"/>
          </a:p>
        </p:txBody>
      </p:sp>
    </p:spTree>
    <p:extLst>
      <p:ext uri="{BB962C8B-B14F-4D97-AF65-F5344CB8AC3E}">
        <p14:creationId xmlns:p14="http://schemas.microsoft.com/office/powerpoint/2010/main" val="197485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536D9969-BE9E-4688-B55A-CB6B14DF5421}" type="slidenum">
              <a:rPr lang="en-US" altLang="en-US" smtClean="0"/>
              <a:pPr/>
              <a:t>‹#›</a:t>
            </a:fld>
            <a:endParaRPr lang="en-US" altLang="en-US"/>
          </a:p>
        </p:txBody>
      </p:sp>
    </p:spTree>
    <p:extLst>
      <p:ext uri="{BB962C8B-B14F-4D97-AF65-F5344CB8AC3E}">
        <p14:creationId xmlns:p14="http://schemas.microsoft.com/office/powerpoint/2010/main" val="45438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70827FB-9D8C-4C8F-AA33-59014C04D849}" type="slidenum">
              <a:rPr lang="en-US" altLang="en-US" smtClean="0"/>
              <a:pPr/>
              <a:t>‹#›</a:t>
            </a:fld>
            <a:endParaRPr lang="en-US" altLang="en-US"/>
          </a:p>
        </p:txBody>
      </p:sp>
    </p:spTree>
    <p:extLst>
      <p:ext uri="{BB962C8B-B14F-4D97-AF65-F5344CB8AC3E}">
        <p14:creationId xmlns:p14="http://schemas.microsoft.com/office/powerpoint/2010/main" val="8783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92B3B6C8-5DF7-4ECA-B705-5E5573EEC491}" type="slidenum">
              <a:rPr lang="en-US" altLang="en-US" smtClean="0"/>
              <a:pPr/>
              <a:t>‹#›</a:t>
            </a:fld>
            <a:endParaRPr lang="en-US" altLang="en-US"/>
          </a:p>
        </p:txBody>
      </p:sp>
    </p:spTree>
    <p:extLst>
      <p:ext uri="{BB962C8B-B14F-4D97-AF65-F5344CB8AC3E}">
        <p14:creationId xmlns:p14="http://schemas.microsoft.com/office/powerpoint/2010/main" val="33373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3B11DE4-35AF-4E00-85A0-B84C18D78EE9}" type="slidenum">
              <a:rPr lang="en-US" altLang="en-US" smtClean="0"/>
              <a:pPr/>
              <a:t>‹#›</a:t>
            </a:fld>
            <a:endParaRPr lang="en-US" altLang="en-US"/>
          </a:p>
        </p:txBody>
      </p:sp>
    </p:spTree>
    <p:extLst>
      <p:ext uri="{BB962C8B-B14F-4D97-AF65-F5344CB8AC3E}">
        <p14:creationId xmlns:p14="http://schemas.microsoft.com/office/powerpoint/2010/main" val="6029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pPr>
              <a:defRPr/>
            </a:pPr>
            <a:endParaRPr lang="en-US" altLang="en-US"/>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6495AE-97DF-403D-B20F-BDC3AFF068C2}" type="slidenum">
              <a:rPr lang="en-US" altLang="en-US" smtClean="0"/>
              <a:pPr/>
              <a:t>‹#›</a:t>
            </a:fld>
            <a:endParaRPr lang="en-US" altLang="en-US"/>
          </a:p>
        </p:txBody>
      </p:sp>
    </p:spTree>
    <p:extLst>
      <p:ext uri="{BB962C8B-B14F-4D97-AF65-F5344CB8AC3E}">
        <p14:creationId xmlns:p14="http://schemas.microsoft.com/office/powerpoint/2010/main" val="160694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CFA9FEE-8D4E-A591-CA5E-7AFC7A209190}"/>
              </a:ext>
            </a:extLst>
          </p:cNvPr>
          <p:cNvSpPr>
            <a:spLocks noChangeArrowheads="1"/>
          </p:cNvSpPr>
          <p:nvPr/>
        </p:nvSpPr>
        <p:spPr bwMode="auto">
          <a:xfrm>
            <a:off x="337418" y="215613"/>
            <a:ext cx="30414764" cy="3541251"/>
          </a:xfrm>
          <a:prstGeom prst="round2DiagRect">
            <a:avLst/>
          </a:prstGeom>
          <a:solidFill>
            <a:schemeClr val="bg1">
              <a:lumMod val="95000"/>
            </a:schemeClr>
          </a:solidFill>
          <a:ln w="9525">
            <a:noFill/>
            <a:miter lim="800000"/>
          </a:ln>
        </p:spPr>
        <p:txBody>
          <a:bodyPr lIns="73147" tIns="36574" rIns="73147" bIns="36574" anchor="ctr"/>
          <a:lstStyle>
            <a:defPPr>
              <a:defRPr kern="1200"/>
            </a:defPPr>
          </a:lstStyle>
          <a:p>
            <a:pPr algn="ctr"/>
            <a:r>
              <a:rPr lang="en-US" sz="8000" b="1">
                <a:latin typeface="Quattrocento"/>
              </a:rPr>
              <a:t>Interactive Smart Mirror</a:t>
            </a:r>
            <a:br>
              <a:rPr lang="en-US" sz="5650" b="1">
                <a:latin typeface="Quattrocento" panose="02020802030000000404" pitchFamily="18" charset="0"/>
              </a:rPr>
            </a:br>
            <a:r>
              <a:rPr lang="en-US" sz="4800">
                <a:latin typeface="Quattrocento"/>
              </a:rPr>
              <a:t>Tyler Kordish, Colin Murphy, Brandon Szpendyk, Jalen Webster</a:t>
            </a:r>
          </a:p>
        </p:txBody>
      </p:sp>
      <p:sp>
        <p:nvSpPr>
          <p:cNvPr id="4" name="Rectangle 10">
            <a:extLst>
              <a:ext uri="{FF2B5EF4-FFF2-40B4-BE49-F238E27FC236}">
                <a16:creationId xmlns:a16="http://schemas.microsoft.com/office/drawing/2014/main" id="{62EEC462-7E7D-DFDA-F112-4B94BF86D32E}"/>
              </a:ext>
            </a:extLst>
          </p:cNvPr>
          <p:cNvSpPr>
            <a:spLocks noChangeArrowheads="1"/>
          </p:cNvSpPr>
          <p:nvPr/>
        </p:nvSpPr>
        <p:spPr bwMode="auto">
          <a:xfrm>
            <a:off x="8455892" y="4602748"/>
            <a:ext cx="6881860"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Methodology and Implementation</a:t>
            </a:r>
          </a:p>
        </p:txBody>
      </p:sp>
      <p:sp>
        <p:nvSpPr>
          <p:cNvPr id="5" name="Rectangle 10">
            <a:extLst>
              <a:ext uri="{FF2B5EF4-FFF2-40B4-BE49-F238E27FC236}">
                <a16:creationId xmlns:a16="http://schemas.microsoft.com/office/drawing/2014/main" id="{4F2B0B02-87E5-E2AF-952D-6C0078B64E22}"/>
              </a:ext>
            </a:extLst>
          </p:cNvPr>
          <p:cNvSpPr>
            <a:spLocks noChangeArrowheads="1"/>
          </p:cNvSpPr>
          <p:nvPr/>
        </p:nvSpPr>
        <p:spPr bwMode="auto">
          <a:xfrm>
            <a:off x="15968878" y="4576145"/>
            <a:ext cx="6632787"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Results and Discussion</a:t>
            </a:r>
          </a:p>
        </p:txBody>
      </p:sp>
      <p:sp>
        <p:nvSpPr>
          <p:cNvPr id="6" name="Rectangle 10">
            <a:extLst>
              <a:ext uri="{FF2B5EF4-FFF2-40B4-BE49-F238E27FC236}">
                <a16:creationId xmlns:a16="http://schemas.microsoft.com/office/drawing/2014/main" id="{636398ED-1B1B-341D-5D77-5F757E2670BA}"/>
              </a:ext>
            </a:extLst>
          </p:cNvPr>
          <p:cNvSpPr>
            <a:spLocks noChangeArrowheads="1"/>
          </p:cNvSpPr>
          <p:nvPr/>
        </p:nvSpPr>
        <p:spPr bwMode="auto">
          <a:xfrm>
            <a:off x="23274355" y="4560967"/>
            <a:ext cx="6730998" cy="623968"/>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Conclusion</a:t>
            </a:r>
          </a:p>
        </p:txBody>
      </p:sp>
      <p:sp>
        <p:nvSpPr>
          <p:cNvPr id="7" name="Rectangle 10">
            <a:extLst>
              <a:ext uri="{FF2B5EF4-FFF2-40B4-BE49-F238E27FC236}">
                <a16:creationId xmlns:a16="http://schemas.microsoft.com/office/drawing/2014/main" id="{41256205-A9B0-3314-1DF2-23A5BFFF9107}"/>
              </a:ext>
            </a:extLst>
          </p:cNvPr>
          <p:cNvSpPr>
            <a:spLocks noChangeArrowheads="1"/>
          </p:cNvSpPr>
          <p:nvPr/>
        </p:nvSpPr>
        <p:spPr bwMode="auto">
          <a:xfrm>
            <a:off x="898280" y="11038167"/>
            <a:ext cx="6829481" cy="704688"/>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Introduction</a:t>
            </a:r>
          </a:p>
        </p:txBody>
      </p:sp>
      <p:sp>
        <p:nvSpPr>
          <p:cNvPr id="8" name="Rectangle 10">
            <a:extLst>
              <a:ext uri="{FF2B5EF4-FFF2-40B4-BE49-F238E27FC236}">
                <a16:creationId xmlns:a16="http://schemas.microsoft.com/office/drawing/2014/main" id="{07E0BC13-539E-376D-6221-DC8776ACA92F}"/>
              </a:ext>
            </a:extLst>
          </p:cNvPr>
          <p:cNvSpPr>
            <a:spLocks noChangeArrowheads="1"/>
          </p:cNvSpPr>
          <p:nvPr/>
        </p:nvSpPr>
        <p:spPr bwMode="auto">
          <a:xfrm>
            <a:off x="23408716" y="10082439"/>
            <a:ext cx="662008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References</a:t>
            </a:r>
          </a:p>
        </p:txBody>
      </p:sp>
      <p:sp>
        <p:nvSpPr>
          <p:cNvPr id="14" name="Rectangle 10">
            <a:extLst>
              <a:ext uri="{FF2B5EF4-FFF2-40B4-BE49-F238E27FC236}">
                <a16:creationId xmlns:a16="http://schemas.microsoft.com/office/drawing/2014/main" id="{B3F2B393-920F-D261-A387-10282A2EA52A}"/>
              </a:ext>
            </a:extLst>
          </p:cNvPr>
          <p:cNvSpPr>
            <a:spLocks noChangeArrowheads="1"/>
          </p:cNvSpPr>
          <p:nvPr/>
        </p:nvSpPr>
        <p:spPr bwMode="auto">
          <a:xfrm>
            <a:off x="965888" y="5430606"/>
            <a:ext cx="6823710" cy="5526882"/>
          </a:xfrm>
          <a:prstGeom prst="round2DiagRect">
            <a:avLst>
              <a:gd name="adj1" fmla="val 6827"/>
              <a:gd name="adj2" fmla="val 113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defRPr/>
            </a:pPr>
            <a:endParaRPr lang="en-US" sz="2400" b="1">
              <a:noFill/>
              <a:latin typeface="Quattrocento" panose="02020802030000000404" pitchFamily="18" charset="0"/>
            </a:endParaRPr>
          </a:p>
        </p:txBody>
      </p:sp>
      <p:sp>
        <p:nvSpPr>
          <p:cNvPr id="16" name="TextBox 15">
            <a:extLst>
              <a:ext uri="{FF2B5EF4-FFF2-40B4-BE49-F238E27FC236}">
                <a16:creationId xmlns:a16="http://schemas.microsoft.com/office/drawing/2014/main" id="{7AA9A01D-F93E-206C-2E7F-56E3E371BD3C}"/>
              </a:ext>
            </a:extLst>
          </p:cNvPr>
          <p:cNvSpPr txBox="1"/>
          <p:nvPr/>
        </p:nvSpPr>
        <p:spPr>
          <a:xfrm>
            <a:off x="1066800" y="5632903"/>
            <a:ext cx="6492443" cy="5016758"/>
          </a:xfrm>
          <a:prstGeom prst="rect">
            <a:avLst/>
          </a:prstGeom>
          <a:noFill/>
        </p:spPr>
        <p:txBody>
          <a:bodyPr wrap="square" lIns="91440" tIns="45720" rIns="91440" bIns="45720" rtlCol="0" anchor="t">
            <a:spAutoFit/>
          </a:bodyPr>
          <a:lstStyle>
            <a:defPPr>
              <a:defRPr kern="1200"/>
            </a:defPPr>
          </a:lstStyle>
          <a:p>
            <a:r>
              <a:rPr lang="en-US" sz="2000" dirty="0">
                <a:latin typeface="Quattrocento Sans"/>
                <a:ea typeface="Open Sans"/>
                <a:cs typeface="Open Sans"/>
              </a:rPr>
              <a:t>Our capstone project is a fully functional smart mirror prototype that integrates a two-way mirror with a fully customizable digital interface powered by a Raspberry Pi device. This was designed to reduce the stress of morning routines and make the process of starting your day easier. The mirror displays real-time information including the date, time, weather, news, and calendar events through various API integrations. We designed the mirror in a modular format for the hardware and software components, which allows for future upgrades, such as motion detection, voice activation, and smart home integration.  Although we have not implemented motion or voice detection, this prototype serves as a foundation for future upgrades where the possibilities are endless. This project demonstrates how embedded systems can be applied to improve daily routines and efficiency.</a:t>
            </a:r>
          </a:p>
        </p:txBody>
      </p:sp>
      <p:sp>
        <p:nvSpPr>
          <p:cNvPr id="17" name="Rectangle 10">
            <a:extLst>
              <a:ext uri="{FF2B5EF4-FFF2-40B4-BE49-F238E27FC236}">
                <a16:creationId xmlns:a16="http://schemas.microsoft.com/office/drawing/2014/main" id="{C7540361-BB1D-1F97-AD38-28C1AA546DA4}"/>
              </a:ext>
            </a:extLst>
          </p:cNvPr>
          <p:cNvSpPr>
            <a:spLocks noChangeArrowheads="1"/>
          </p:cNvSpPr>
          <p:nvPr/>
        </p:nvSpPr>
        <p:spPr bwMode="auto">
          <a:xfrm>
            <a:off x="8366855" y="5430606"/>
            <a:ext cx="7073571" cy="10762519"/>
          </a:xfrm>
          <a:prstGeom prst="round2DiagRect">
            <a:avLst>
              <a:gd name="adj1" fmla="val 6827"/>
              <a:gd name="adj2" fmla="val 312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19" name="Rectangle 10">
            <a:extLst>
              <a:ext uri="{FF2B5EF4-FFF2-40B4-BE49-F238E27FC236}">
                <a16:creationId xmlns:a16="http://schemas.microsoft.com/office/drawing/2014/main" id="{55D80D3B-B48E-B2C9-F144-96673EADEE9C}"/>
              </a:ext>
            </a:extLst>
          </p:cNvPr>
          <p:cNvSpPr>
            <a:spLocks noChangeArrowheads="1"/>
          </p:cNvSpPr>
          <p:nvPr/>
        </p:nvSpPr>
        <p:spPr bwMode="auto">
          <a:xfrm>
            <a:off x="23307254" y="5463506"/>
            <a:ext cx="6730998" cy="4390891"/>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0" name="Rectangle 10">
            <a:extLst>
              <a:ext uri="{FF2B5EF4-FFF2-40B4-BE49-F238E27FC236}">
                <a16:creationId xmlns:a16="http://schemas.microsoft.com/office/drawing/2014/main" id="{085BEEBA-5CDB-2CD7-06AC-21DFBE193CBF}"/>
              </a:ext>
            </a:extLst>
          </p:cNvPr>
          <p:cNvSpPr>
            <a:spLocks noChangeArrowheads="1"/>
          </p:cNvSpPr>
          <p:nvPr/>
        </p:nvSpPr>
        <p:spPr bwMode="auto">
          <a:xfrm>
            <a:off x="16230812" y="5433032"/>
            <a:ext cx="6113373" cy="5033634"/>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1" name="Rectangle 10">
            <a:extLst>
              <a:ext uri="{FF2B5EF4-FFF2-40B4-BE49-F238E27FC236}">
                <a16:creationId xmlns:a16="http://schemas.microsoft.com/office/drawing/2014/main" id="{C8443A62-DD12-B4DF-3D4D-DF311ABE0DCB}"/>
              </a:ext>
            </a:extLst>
          </p:cNvPr>
          <p:cNvSpPr>
            <a:spLocks noChangeArrowheads="1"/>
          </p:cNvSpPr>
          <p:nvPr/>
        </p:nvSpPr>
        <p:spPr bwMode="auto">
          <a:xfrm>
            <a:off x="913174" y="11936128"/>
            <a:ext cx="6646069" cy="5448491"/>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noFill/>
              <a:latin typeface="Quattrocento" panose="02020802030000000404" pitchFamily="18" charset="0"/>
            </a:endParaRPr>
          </a:p>
        </p:txBody>
      </p:sp>
      <p:sp>
        <p:nvSpPr>
          <p:cNvPr id="22" name="Rectangle 10">
            <a:extLst>
              <a:ext uri="{FF2B5EF4-FFF2-40B4-BE49-F238E27FC236}">
                <a16:creationId xmlns:a16="http://schemas.microsoft.com/office/drawing/2014/main" id="{02D32A73-8566-BD19-AA5F-CF4418B1357A}"/>
              </a:ext>
            </a:extLst>
          </p:cNvPr>
          <p:cNvSpPr>
            <a:spLocks noChangeArrowheads="1"/>
          </p:cNvSpPr>
          <p:nvPr/>
        </p:nvSpPr>
        <p:spPr bwMode="auto">
          <a:xfrm>
            <a:off x="23332252" y="13241882"/>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Project Team</a:t>
            </a:r>
            <a:endParaRPr lang="en-US" sz="2400" b="1" dirty="0">
              <a:solidFill>
                <a:schemeClr val="bg1"/>
              </a:solidFill>
              <a:latin typeface="Quattrocento" panose="02020802030000000404" pitchFamily="18" charset="0"/>
            </a:endParaRPr>
          </a:p>
        </p:txBody>
      </p:sp>
      <p:pic>
        <p:nvPicPr>
          <p:cNvPr id="3078" name="Picture 6">
            <a:extLst>
              <a:ext uri="{FF2B5EF4-FFF2-40B4-BE49-F238E27FC236}">
                <a16:creationId xmlns:a16="http://schemas.microsoft.com/office/drawing/2014/main" id="{D414772E-614C-C824-438C-924E7FD4C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867" y="1216349"/>
            <a:ext cx="5318761" cy="154778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10">
            <a:extLst>
              <a:ext uri="{FF2B5EF4-FFF2-40B4-BE49-F238E27FC236}">
                <a16:creationId xmlns:a16="http://schemas.microsoft.com/office/drawing/2014/main" id="{3BDD11BB-3B2D-4E34-784B-7827A6C68691}"/>
              </a:ext>
            </a:extLst>
          </p:cNvPr>
          <p:cNvSpPr>
            <a:spLocks noChangeArrowheads="1"/>
          </p:cNvSpPr>
          <p:nvPr/>
        </p:nvSpPr>
        <p:spPr bwMode="auto">
          <a:xfrm>
            <a:off x="23518359" y="18382092"/>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Acknowledgements</a:t>
            </a:r>
          </a:p>
        </p:txBody>
      </p:sp>
      <p:sp>
        <p:nvSpPr>
          <p:cNvPr id="26" name="Rectangle 10">
            <a:extLst>
              <a:ext uri="{FF2B5EF4-FFF2-40B4-BE49-F238E27FC236}">
                <a16:creationId xmlns:a16="http://schemas.microsoft.com/office/drawing/2014/main" id="{7973899A-7636-87C4-2A13-FF8D33D321F5}"/>
              </a:ext>
            </a:extLst>
          </p:cNvPr>
          <p:cNvSpPr>
            <a:spLocks noChangeArrowheads="1"/>
          </p:cNvSpPr>
          <p:nvPr/>
        </p:nvSpPr>
        <p:spPr bwMode="auto">
          <a:xfrm>
            <a:off x="23661913" y="19158005"/>
            <a:ext cx="6374743" cy="2400506"/>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defTabSz="3135215"/>
            <a:endParaRPr lang="en-US" sz="2000">
              <a:latin typeface="Quattrocento" panose="02020802030000000404" pitchFamily="18" charset="0"/>
            </a:endParaRPr>
          </a:p>
        </p:txBody>
      </p:sp>
      <p:sp>
        <p:nvSpPr>
          <p:cNvPr id="3" name="Rectangle 10">
            <a:extLst>
              <a:ext uri="{FF2B5EF4-FFF2-40B4-BE49-F238E27FC236}">
                <a16:creationId xmlns:a16="http://schemas.microsoft.com/office/drawing/2014/main" id="{2322E805-983F-9253-3B0A-5F5DDC88459B}"/>
              </a:ext>
            </a:extLst>
          </p:cNvPr>
          <p:cNvSpPr>
            <a:spLocks noChangeArrowheads="1"/>
          </p:cNvSpPr>
          <p:nvPr/>
        </p:nvSpPr>
        <p:spPr bwMode="auto">
          <a:xfrm>
            <a:off x="910398" y="4560981"/>
            <a:ext cx="6881861" cy="623968"/>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Abstract</a:t>
            </a:r>
          </a:p>
        </p:txBody>
      </p:sp>
      <p:sp>
        <p:nvSpPr>
          <p:cNvPr id="18" name="TextBox 17">
            <a:extLst>
              <a:ext uri="{FF2B5EF4-FFF2-40B4-BE49-F238E27FC236}">
                <a16:creationId xmlns:a16="http://schemas.microsoft.com/office/drawing/2014/main" id="{71B5E8F5-0204-68C5-8367-E0A87B916B24}"/>
              </a:ext>
            </a:extLst>
          </p:cNvPr>
          <p:cNvSpPr txBox="1"/>
          <p:nvPr/>
        </p:nvSpPr>
        <p:spPr>
          <a:xfrm>
            <a:off x="8700146" y="5527088"/>
            <a:ext cx="6400800" cy="10618291"/>
          </a:xfrm>
          <a:prstGeom prst="rect">
            <a:avLst/>
          </a:prstGeom>
          <a:noFill/>
        </p:spPr>
        <p:txBody>
          <a:bodyPr wrap="square" lIns="91440" tIns="45720" rIns="91440" bIns="45720" rtlCol="0" anchor="t">
            <a:spAutoFit/>
          </a:bodyPr>
          <a:lstStyle>
            <a:defPPr>
              <a:defRPr kern="1200"/>
            </a:defPPr>
          </a:lstStyle>
          <a:p>
            <a:r>
              <a:rPr lang="en-US" sz="2800" dirty="0">
                <a:latin typeface="Quattrocento Sans"/>
                <a:ea typeface="+mn-lt"/>
                <a:cs typeface="+mn-lt"/>
              </a:rPr>
              <a:t>Research &amp; Planning</a:t>
            </a:r>
          </a:p>
          <a:p>
            <a:pPr marL="342900" indent="-342900">
              <a:buFont typeface="Arial" panose="020B0604020202020204" pitchFamily="34" charset="0"/>
              <a:buChar char="•"/>
            </a:pPr>
            <a:r>
              <a:rPr lang="en-US" sz="2000" dirty="0">
                <a:latin typeface="Quattrocento Sans"/>
                <a:ea typeface="+mn-lt"/>
                <a:cs typeface="+mn-lt"/>
              </a:rPr>
              <a:t>User needs and pain points (e.g., morning routine inefficiencies) with an aim to provide a more efficient morning routine.</a:t>
            </a:r>
            <a:endParaRPr lang="en-US" sz="2000" dirty="0">
              <a:solidFill>
                <a:srgbClr val="000000"/>
              </a:solidFill>
              <a:latin typeface="Quattrocento Sans"/>
              <a:ea typeface="Calibri"/>
              <a:cs typeface="Calibri"/>
            </a:endParaRPr>
          </a:p>
          <a:p>
            <a:pPr marL="342900" indent="-342900">
              <a:buFont typeface="Arial" panose="020B0604020202020204" pitchFamily="34" charset="0"/>
              <a:buChar char="•"/>
            </a:pPr>
            <a:r>
              <a:rPr lang="en-US" sz="2000" dirty="0">
                <a:latin typeface="Quattrocento Sans"/>
                <a:ea typeface="+mn-lt"/>
                <a:cs typeface="+mn-lt"/>
              </a:rPr>
              <a:t>Inspiration from existing smart mirrors or related technologies, with the goal to supply the most benefit in a smaller budget.</a:t>
            </a:r>
            <a:endParaRPr lang="en-US" sz="2000" dirty="0">
              <a:solidFill>
                <a:srgbClr val="000000"/>
              </a:solidFill>
              <a:latin typeface="Quattrocento Sans"/>
              <a:ea typeface="Calibri"/>
              <a:cs typeface="Calibri"/>
            </a:endParaRPr>
          </a:p>
          <a:p>
            <a:pPr marL="342900" indent="-342900">
              <a:buFont typeface="Arial" panose="020B0604020202020204" pitchFamily="34" charset="0"/>
              <a:buChar char="•"/>
            </a:pPr>
            <a:r>
              <a:rPr lang="en-US" sz="2000" dirty="0">
                <a:latin typeface="Quattrocento Sans"/>
                <a:ea typeface="+mn-lt"/>
                <a:cs typeface="+mn-lt"/>
              </a:rPr>
              <a:t>Selection of features to include (calendar, weather, news, etc.). With further research and integration, modules such as sports scoreboards and music apps could be developed  and/or implemented</a:t>
            </a:r>
            <a:endParaRPr lang="en-US" sz="2000" b="1" dirty="0">
              <a:solidFill>
                <a:srgbClr val="FF0000"/>
              </a:solidFill>
              <a:latin typeface="Quattrocento Sans"/>
              <a:ea typeface="Calibri"/>
              <a:cs typeface="Calibri"/>
            </a:endParaRPr>
          </a:p>
          <a:p>
            <a:pPr>
              <a:buFont typeface="Arial"/>
              <a:buChar char="•"/>
            </a:pPr>
            <a:endParaRPr lang="en-US" sz="2000" dirty="0">
              <a:latin typeface="Quattrocento Sans"/>
              <a:ea typeface="+mn-lt"/>
              <a:cs typeface="+mn-lt"/>
            </a:endParaRPr>
          </a:p>
          <a:p>
            <a:pPr>
              <a:buFont typeface="Arial"/>
              <a:buChar char="•"/>
            </a:pPr>
            <a:endParaRPr lang="en-US" sz="2000" dirty="0">
              <a:latin typeface="Quattrocento Sans"/>
              <a:ea typeface="+mn-lt"/>
              <a:cs typeface="+mn-lt"/>
            </a:endParaRPr>
          </a:p>
          <a:p>
            <a:r>
              <a:rPr lang="en-US" sz="2800" dirty="0">
                <a:latin typeface="Quattrocento Sans"/>
                <a:ea typeface="+mn-lt"/>
                <a:cs typeface="+mn-lt"/>
              </a:rPr>
              <a:t>Design Process</a:t>
            </a:r>
          </a:p>
          <a:p>
            <a:pPr marL="342900" indent="-342900">
              <a:buFont typeface="Arial" panose="020B0604020202020204" pitchFamily="34" charset="0"/>
              <a:buChar char="•"/>
            </a:pPr>
            <a:r>
              <a:rPr lang="en-US" sz="2000" dirty="0">
                <a:latin typeface="Quattrocento Sans"/>
                <a:ea typeface="+mn-lt"/>
                <a:cs typeface="+mn-lt"/>
              </a:rPr>
              <a:t>Our UI has 3 basic modules with News, Weather, Time </a:t>
            </a:r>
            <a:endParaRPr lang="en-US" sz="2000" dirty="0">
              <a:latin typeface="Quattrocento Sans"/>
              <a:ea typeface="Calibri"/>
              <a:cs typeface="Calibri"/>
            </a:endParaRPr>
          </a:p>
          <a:p>
            <a:pPr marL="342900" indent="-342900">
              <a:buFont typeface="Arial" panose="020B0604020202020204" pitchFamily="34" charset="0"/>
              <a:buChar char="•"/>
            </a:pPr>
            <a:r>
              <a:rPr lang="en-US" sz="2000" dirty="0">
                <a:latin typeface="Quattrocento Sans"/>
                <a:ea typeface="+mn-lt"/>
                <a:cs typeface="+mn-lt"/>
              </a:rPr>
              <a:t>Hardware layout (18x24" mirror, 15.6" display, Wooden frame and plywood back with electronics mounted)</a:t>
            </a:r>
          </a:p>
          <a:p>
            <a:pPr marL="342900" indent="-342900">
              <a:buFont typeface="Arial" panose="020B0604020202020204" pitchFamily="34" charset="0"/>
              <a:buChar char="•"/>
            </a:pPr>
            <a:r>
              <a:rPr lang="en-US" sz="2000" dirty="0">
                <a:latin typeface="Quattrocento Sans"/>
                <a:ea typeface="+mn-lt"/>
                <a:cs typeface="+mn-lt"/>
              </a:rPr>
              <a:t>Designed with a modular system that allows the mirror to be taken out and access the internals for replacement or upgrading.</a:t>
            </a:r>
            <a:endParaRPr lang="en-US" sz="2000" dirty="0">
              <a:latin typeface="Quattrocento Sans"/>
            </a:endParaRPr>
          </a:p>
          <a:p>
            <a:pPr>
              <a:buFont typeface="Arial"/>
              <a:buChar char="•"/>
            </a:pPr>
            <a:endParaRPr lang="en-US" sz="2000" dirty="0">
              <a:latin typeface="Quattrocento Sans"/>
              <a:ea typeface="+mn-lt"/>
              <a:cs typeface="+mn-lt"/>
            </a:endParaRPr>
          </a:p>
          <a:p>
            <a:pPr>
              <a:buFont typeface="Arial"/>
              <a:buChar char="•"/>
            </a:pPr>
            <a:endParaRPr lang="en-US" sz="2000" dirty="0">
              <a:latin typeface="Quattrocento Sans"/>
              <a:ea typeface="+mn-lt"/>
              <a:cs typeface="+mn-lt"/>
            </a:endParaRPr>
          </a:p>
          <a:p>
            <a:r>
              <a:rPr lang="en-US" sz="2800" dirty="0">
                <a:latin typeface="Quattrocento Sans"/>
                <a:ea typeface="+mn-lt"/>
                <a:cs typeface="+mn-lt"/>
              </a:rPr>
              <a:t>Technology Stack</a:t>
            </a:r>
          </a:p>
          <a:p>
            <a:pPr marL="342900" indent="-342900">
              <a:buFont typeface="Arial" panose="020B0604020202020204" pitchFamily="34" charset="0"/>
              <a:buChar char="•"/>
            </a:pPr>
            <a:r>
              <a:rPr lang="en-US" sz="2000" dirty="0">
                <a:latin typeface="Quattrocento Sans"/>
                <a:ea typeface="+mn-lt"/>
                <a:cs typeface="+mn-lt"/>
              </a:rPr>
              <a:t>Programming languages and frameworks (JavaScript)</a:t>
            </a:r>
            <a:endParaRPr lang="en-US" sz="2000" dirty="0">
              <a:latin typeface="Quattrocento Sans"/>
              <a:ea typeface="Calibri"/>
              <a:cs typeface="Calibri"/>
            </a:endParaRPr>
          </a:p>
          <a:p>
            <a:pPr marL="342900" indent="-342900">
              <a:buFont typeface="Arial" panose="020B0604020202020204" pitchFamily="34" charset="0"/>
              <a:buChar char="•"/>
            </a:pPr>
            <a:r>
              <a:rPr lang="en-US" sz="2000" dirty="0">
                <a:latin typeface="Quattrocento Sans"/>
                <a:ea typeface="+mn-lt"/>
                <a:cs typeface="+mn-lt"/>
              </a:rPr>
              <a:t>Various APIs from different open-source libraries or custom-built modules.</a:t>
            </a:r>
            <a:endParaRPr lang="en-US" sz="2000" dirty="0">
              <a:latin typeface="Quattrocento Sans"/>
            </a:endParaRPr>
          </a:p>
          <a:p>
            <a:pPr marL="342900" indent="-342900">
              <a:buFont typeface="Arial" panose="020B0604020202020204" pitchFamily="34" charset="0"/>
              <a:buChar char="•"/>
            </a:pPr>
            <a:r>
              <a:rPr lang="en-US" sz="2000" dirty="0">
                <a:latin typeface="Quattrocento Sans"/>
                <a:ea typeface="+mn-lt"/>
                <a:cs typeface="+mn-lt"/>
              </a:rPr>
              <a:t>Operating system and platform (Raspberry Pi with Linux)</a:t>
            </a:r>
          </a:p>
          <a:p>
            <a:pPr marL="342900" indent="-342900">
              <a:buFont typeface="Arial" panose="020B0604020202020204" pitchFamily="34" charset="0"/>
              <a:buChar char="•"/>
            </a:pPr>
            <a:r>
              <a:rPr lang="en-US" sz="2000" dirty="0">
                <a:latin typeface="Quattrocento Sans"/>
                <a:ea typeface="Calibri" panose="020F0502020204030204"/>
                <a:cs typeface="Calibri" panose="020F0502020204030204"/>
              </a:rPr>
              <a:t>The mirror is powered by a USB battery pack, which allows for portability and convenience. This could also be replaced with a wall outlet to avoid charging.</a:t>
            </a:r>
          </a:p>
        </p:txBody>
      </p:sp>
      <p:sp>
        <p:nvSpPr>
          <p:cNvPr id="23" name="TextBox 22">
            <a:extLst>
              <a:ext uri="{FF2B5EF4-FFF2-40B4-BE49-F238E27FC236}">
                <a16:creationId xmlns:a16="http://schemas.microsoft.com/office/drawing/2014/main" id="{370C77B2-6C88-9C71-7BB3-FBABF6DDFBEA}"/>
              </a:ext>
            </a:extLst>
          </p:cNvPr>
          <p:cNvSpPr txBox="1"/>
          <p:nvPr/>
        </p:nvSpPr>
        <p:spPr>
          <a:xfrm>
            <a:off x="16235603" y="5632721"/>
            <a:ext cx="6400800" cy="4474430"/>
          </a:xfrm>
          <a:prstGeom prst="rect">
            <a:avLst/>
          </a:prstGeom>
          <a:noFill/>
        </p:spPr>
        <p:txBody>
          <a:bodyPr wrap="square" lIns="91440" tIns="45720" rIns="91440" bIns="45720" rtlCol="0" anchor="t">
            <a:spAutoFit/>
          </a:bodyPr>
          <a:lstStyle>
            <a:defPPr>
              <a:defRPr kern="1200"/>
            </a:defPPr>
          </a:lstStyle>
          <a:p>
            <a:pPr>
              <a:lnSpc>
                <a:spcPct val="90000"/>
              </a:lnSpc>
              <a:spcBef>
                <a:spcPts val="1000"/>
              </a:spcBef>
            </a:pPr>
            <a:r>
              <a:rPr lang="en-US" sz="2400" dirty="0">
                <a:latin typeface="Quattrocento Sans"/>
                <a:ea typeface="Open Sans"/>
                <a:cs typeface="Open Sans"/>
              </a:rPr>
              <a:t>There are some additional features we wanted to explore but didn't have the time or capability to do. These features could be added in the future to refine this prototype.</a:t>
            </a:r>
            <a:endParaRPr lang="en-US" sz="2000" dirty="0"/>
          </a:p>
          <a:p>
            <a:pPr marL="285750" indent="-285750">
              <a:lnSpc>
                <a:spcPct val="90000"/>
              </a:lnSpc>
              <a:spcBef>
                <a:spcPts val="1000"/>
              </a:spcBef>
              <a:buFont typeface="Arial"/>
              <a:buChar char="•"/>
            </a:pPr>
            <a:r>
              <a:rPr lang="en-US" sz="2000" dirty="0">
                <a:latin typeface="Quattrocento Sans"/>
                <a:ea typeface="Open Sans"/>
                <a:cs typeface="Open Sans"/>
              </a:rPr>
              <a:t>Voice Recognition</a:t>
            </a:r>
            <a:endParaRPr lang="en-US" sz="2000" dirty="0">
              <a:latin typeface="Quattrocento Sans"/>
            </a:endParaRPr>
          </a:p>
          <a:p>
            <a:pPr marL="285750" indent="-285750">
              <a:lnSpc>
                <a:spcPct val="90000"/>
              </a:lnSpc>
              <a:spcBef>
                <a:spcPts val="1000"/>
              </a:spcBef>
              <a:buFont typeface="Arial"/>
              <a:buChar char="•"/>
            </a:pPr>
            <a:r>
              <a:rPr lang="en-US" sz="2000" dirty="0">
                <a:latin typeface="Quattrocento Sans"/>
                <a:ea typeface="Open Sans"/>
                <a:cs typeface="Open Sans"/>
              </a:rPr>
              <a:t>Motion Detection</a:t>
            </a:r>
          </a:p>
          <a:p>
            <a:pPr marL="285750" indent="-285750">
              <a:lnSpc>
                <a:spcPct val="90000"/>
              </a:lnSpc>
              <a:spcBef>
                <a:spcPts val="1000"/>
              </a:spcBef>
              <a:buFont typeface="Arial"/>
              <a:buChar char="•"/>
            </a:pPr>
            <a:r>
              <a:rPr lang="en-US" sz="2000" dirty="0">
                <a:latin typeface="Quattrocento Sans"/>
                <a:ea typeface="Open Sans"/>
                <a:cs typeface="Open Sans"/>
              </a:rPr>
              <a:t>Smart Home Integration</a:t>
            </a:r>
          </a:p>
          <a:p>
            <a:pPr marL="742950" lvl="1" indent="-285750">
              <a:lnSpc>
                <a:spcPct val="90000"/>
              </a:lnSpc>
              <a:spcBef>
                <a:spcPts val="500"/>
              </a:spcBef>
              <a:buFont typeface="Courier New,monospace"/>
              <a:buChar char="o"/>
            </a:pPr>
            <a:r>
              <a:rPr lang="en-US" sz="2000" dirty="0">
                <a:latin typeface="Quattrocento Sans"/>
                <a:ea typeface="Open Sans"/>
                <a:cs typeface="Open Sans"/>
              </a:rPr>
              <a:t>Google Home</a:t>
            </a:r>
          </a:p>
          <a:p>
            <a:pPr marL="742950" lvl="1" indent="-285750">
              <a:lnSpc>
                <a:spcPct val="90000"/>
              </a:lnSpc>
              <a:spcBef>
                <a:spcPts val="500"/>
              </a:spcBef>
              <a:buFont typeface="Courier New,monospace"/>
              <a:buChar char="o"/>
            </a:pPr>
            <a:r>
              <a:rPr lang="en-US" sz="2000" dirty="0">
                <a:latin typeface="Quattrocento Sans"/>
                <a:ea typeface="Open Sans"/>
                <a:cs typeface="Open Sans"/>
              </a:rPr>
              <a:t>Alexa</a:t>
            </a:r>
            <a:endParaRPr lang="en-US" sz="2000" dirty="0">
              <a:latin typeface="Quattrocento Sans"/>
              <a:ea typeface="Calibri" panose="020F0502020204030204"/>
              <a:cs typeface="Calibri" panose="020F0502020204030204"/>
            </a:endParaRPr>
          </a:p>
          <a:p>
            <a:pPr marL="285750" indent="-285750">
              <a:lnSpc>
                <a:spcPct val="90000"/>
              </a:lnSpc>
              <a:spcBef>
                <a:spcPts val="500"/>
              </a:spcBef>
              <a:buFont typeface="Arial"/>
              <a:buChar char="•"/>
            </a:pPr>
            <a:r>
              <a:rPr lang="en-US" sz="2000" dirty="0">
                <a:latin typeface="Quattrocento Sans"/>
                <a:ea typeface="Open Sans"/>
                <a:cs typeface="Open Sans"/>
              </a:rPr>
              <a:t>Touch Screen Display</a:t>
            </a:r>
            <a:endParaRPr lang="en-US" sz="2000" dirty="0">
              <a:latin typeface="Quattrocento Sans"/>
              <a:ea typeface="Calibri"/>
              <a:cs typeface="Calibri"/>
            </a:endParaRPr>
          </a:p>
          <a:p>
            <a:pPr marL="285750" indent="-285750">
              <a:lnSpc>
                <a:spcPct val="90000"/>
              </a:lnSpc>
              <a:spcBef>
                <a:spcPts val="1000"/>
              </a:spcBef>
              <a:buFont typeface="Arial"/>
              <a:buChar char="•"/>
            </a:pPr>
            <a:r>
              <a:rPr lang="en-US" sz="2000" dirty="0">
                <a:latin typeface="Quattrocento Sans"/>
                <a:ea typeface="Open Sans"/>
                <a:cs typeface="Open Sans"/>
              </a:rPr>
              <a:t>Water-proofing for bathroom us</a:t>
            </a:r>
          </a:p>
          <a:p>
            <a:pPr marL="285750" indent="-285750">
              <a:lnSpc>
                <a:spcPct val="90000"/>
              </a:lnSpc>
              <a:spcBef>
                <a:spcPts val="1000"/>
              </a:spcBef>
              <a:buFont typeface="Arial"/>
              <a:buChar char="•"/>
            </a:pPr>
            <a:r>
              <a:rPr lang="en-US" sz="2000" dirty="0">
                <a:latin typeface="Quattrocento Sans"/>
                <a:ea typeface="Open Sans"/>
                <a:cs typeface="Open Sans"/>
              </a:rPr>
              <a:t>Anti-fog functionality</a:t>
            </a:r>
          </a:p>
        </p:txBody>
      </p:sp>
      <p:sp>
        <p:nvSpPr>
          <p:cNvPr id="24" name="TextBox 23">
            <a:extLst>
              <a:ext uri="{FF2B5EF4-FFF2-40B4-BE49-F238E27FC236}">
                <a16:creationId xmlns:a16="http://schemas.microsoft.com/office/drawing/2014/main" id="{7B33E45B-5D86-A98F-E55B-EE0C0F4FAFAC}"/>
              </a:ext>
            </a:extLst>
          </p:cNvPr>
          <p:cNvSpPr txBox="1"/>
          <p:nvPr/>
        </p:nvSpPr>
        <p:spPr>
          <a:xfrm>
            <a:off x="23426788" y="5626421"/>
            <a:ext cx="6157240" cy="4401205"/>
          </a:xfrm>
          <a:prstGeom prst="rect">
            <a:avLst/>
          </a:prstGeom>
          <a:noFill/>
        </p:spPr>
        <p:txBody>
          <a:bodyPr wrap="square" lIns="91440" tIns="45720" rIns="91440" bIns="45720" rtlCol="0" anchor="t">
            <a:spAutoFit/>
          </a:bodyPr>
          <a:lstStyle>
            <a:defPPr>
              <a:defRPr kern="1200"/>
            </a:defPPr>
          </a:lstStyle>
          <a:p>
            <a:r>
              <a:rPr lang="en-US" sz="2000" dirty="0">
                <a:latin typeface="Quattrocento Sans"/>
                <a:ea typeface="+mn-lt"/>
                <a:cs typeface="+mn-lt"/>
              </a:rPr>
              <a:t>I think we all learned a lot about working in team environments and managing specific roles with varying responsibilities. There is plenty of room for improvement, and growth in learning new technical skills. For instance, working with new hardware and software while also learning how to build and integrate these into a physical object. With added features like voice control, motion detection, touchscreen, and smart home support, it could be an extremely useful product for any consumer. Waterproofing and anti-fog functions could also make the product perfect for bathroom use. Overall, I think there is a lot of room for opportunity for smart appliances.</a:t>
            </a:r>
          </a:p>
        </p:txBody>
      </p:sp>
      <p:pic>
        <p:nvPicPr>
          <p:cNvPr id="28" name="Picture 27" descr="A black and orange letter&#10;&#10;AI-generated content may be incorrect.">
            <a:extLst>
              <a:ext uri="{FF2B5EF4-FFF2-40B4-BE49-F238E27FC236}">
                <a16:creationId xmlns:a16="http://schemas.microsoft.com/office/drawing/2014/main" id="{A9F8526F-8656-CD5D-B24B-53101F7B7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78202" y="1207571"/>
            <a:ext cx="5318761" cy="1521452"/>
          </a:xfrm>
          <a:prstGeom prst="rect">
            <a:avLst/>
          </a:prstGeom>
        </p:spPr>
      </p:pic>
      <p:sp>
        <p:nvSpPr>
          <p:cNvPr id="29" name="TextBox 28">
            <a:extLst>
              <a:ext uri="{FF2B5EF4-FFF2-40B4-BE49-F238E27FC236}">
                <a16:creationId xmlns:a16="http://schemas.microsoft.com/office/drawing/2014/main" id="{F0DE80D1-49BE-1DB9-57E3-4D844F5E563E}"/>
              </a:ext>
            </a:extLst>
          </p:cNvPr>
          <p:cNvSpPr txBox="1"/>
          <p:nvPr/>
        </p:nvSpPr>
        <p:spPr>
          <a:xfrm>
            <a:off x="1035808" y="12151994"/>
            <a:ext cx="6400800" cy="5016758"/>
          </a:xfrm>
          <a:prstGeom prst="rect">
            <a:avLst/>
          </a:prstGeom>
          <a:noFill/>
        </p:spPr>
        <p:txBody>
          <a:bodyPr wrap="square" lIns="91440" tIns="45720" rIns="91440" bIns="45720" rtlCol="0" anchor="t">
            <a:spAutoFit/>
          </a:bodyPr>
          <a:lstStyle>
            <a:defPPr>
              <a:defRPr kern="1200"/>
            </a:defPPr>
          </a:lstStyle>
          <a:p>
            <a:r>
              <a:rPr lang="en-US" sz="2000" dirty="0">
                <a:latin typeface="Quattrocento Sans"/>
                <a:ea typeface="+mn-lt"/>
                <a:cs typeface="+mn-lt"/>
              </a:rPr>
              <a:t>We wanted to create a prototype for a device that can serve as an example of what can be done with smart home devices to help make quality of life better and mornings more efficient. Our smart mirror combines the simplicity of a traditional mirror with the power of a customizable digital interface. Using a two-way mirror surface, it offers a seamless and intuitive display experience perfect for enhancing your morning routine. </a:t>
            </a:r>
            <a:endParaRPr lang="en-US" dirty="0">
              <a:latin typeface="Calibri" panose="020F0502020204030204"/>
              <a:ea typeface="+mn-lt"/>
              <a:cs typeface="+mn-lt"/>
            </a:endParaRPr>
          </a:p>
          <a:p>
            <a:endParaRPr lang="en-US" sz="2000" dirty="0">
              <a:latin typeface="Quattrocento Sans"/>
              <a:ea typeface="+mn-lt"/>
              <a:cs typeface="+mn-lt"/>
            </a:endParaRPr>
          </a:p>
          <a:p>
            <a:r>
              <a:rPr lang="en-US" sz="2000" dirty="0">
                <a:latin typeface="Quattrocento Sans"/>
                <a:ea typeface="+mn-lt"/>
                <a:cs typeface="+mn-lt"/>
              </a:rPr>
              <a:t>Whether you're checking the weather, reviewing your calendar, or catching up on the news, this innovative device reduces clutter by replacing multiple gadgets with one streamlined solution. As a key component of smart home integration, it supports better organization and helps simplify everyday tasks all before you've even had your coffee.</a:t>
            </a:r>
            <a:endParaRPr lang="en-US" dirty="0">
              <a:ea typeface="Calibri" panose="020F0502020204030204"/>
              <a:cs typeface="Calibri" panose="020F0502020204030204"/>
            </a:endParaRPr>
          </a:p>
        </p:txBody>
      </p:sp>
      <p:sp>
        <p:nvSpPr>
          <p:cNvPr id="31" name="Rectangle 10">
            <a:extLst>
              <a:ext uri="{FF2B5EF4-FFF2-40B4-BE49-F238E27FC236}">
                <a16:creationId xmlns:a16="http://schemas.microsoft.com/office/drawing/2014/main" id="{33C7406B-2A4D-9D5D-812A-3F4DC5137EC4}"/>
              </a:ext>
            </a:extLst>
          </p:cNvPr>
          <p:cNvSpPr>
            <a:spLocks noChangeArrowheads="1"/>
          </p:cNvSpPr>
          <p:nvPr/>
        </p:nvSpPr>
        <p:spPr bwMode="auto">
          <a:xfrm>
            <a:off x="16177934" y="10993133"/>
            <a:ext cx="650765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Project/Prototype Images</a:t>
            </a:r>
          </a:p>
        </p:txBody>
      </p:sp>
      <p:sp>
        <p:nvSpPr>
          <p:cNvPr id="32" name="Rectangle 10">
            <a:extLst>
              <a:ext uri="{FF2B5EF4-FFF2-40B4-BE49-F238E27FC236}">
                <a16:creationId xmlns:a16="http://schemas.microsoft.com/office/drawing/2014/main" id="{69FF1C72-F5A1-A64F-C5A6-937B4CA2462B}"/>
              </a:ext>
            </a:extLst>
          </p:cNvPr>
          <p:cNvSpPr>
            <a:spLocks noChangeArrowheads="1"/>
          </p:cNvSpPr>
          <p:nvPr/>
        </p:nvSpPr>
        <p:spPr bwMode="auto">
          <a:xfrm>
            <a:off x="23416570" y="10957488"/>
            <a:ext cx="6441626" cy="2024990"/>
          </a:xfrm>
          <a:prstGeom prst="round2DiagRect">
            <a:avLst>
              <a:gd name="adj1" fmla="val 6827"/>
              <a:gd name="adj2" fmla="val 2794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33" name="TextBox 32">
            <a:extLst>
              <a:ext uri="{FF2B5EF4-FFF2-40B4-BE49-F238E27FC236}">
                <a16:creationId xmlns:a16="http://schemas.microsoft.com/office/drawing/2014/main" id="{D8A73673-DAB0-6C9B-AC2F-976E6B712EC8}"/>
              </a:ext>
            </a:extLst>
          </p:cNvPr>
          <p:cNvSpPr txBox="1"/>
          <p:nvPr/>
        </p:nvSpPr>
        <p:spPr>
          <a:xfrm>
            <a:off x="23641023" y="11213526"/>
            <a:ext cx="5772177" cy="1815882"/>
          </a:xfrm>
          <a:prstGeom prst="rect">
            <a:avLst/>
          </a:prstGeom>
          <a:noFill/>
        </p:spPr>
        <p:txBody>
          <a:bodyPr wrap="square" lIns="91440" tIns="45720" rIns="91440" bIns="45720" rtlCol="0" anchor="t">
            <a:spAutoFit/>
          </a:bodyPr>
          <a:lstStyle>
            <a:defPPr>
              <a:defRPr kern="1200"/>
            </a:defPPr>
          </a:lstStyle>
          <a:p>
            <a:pPr marL="342900" indent="-342900">
              <a:buFont typeface="Arial" panose="020B0604020202020204" pitchFamily="34" charset="0"/>
              <a:buChar char="•"/>
            </a:pPr>
            <a:r>
              <a:rPr lang="en-US" sz="1600" dirty="0">
                <a:latin typeface="Times New Roman"/>
                <a:ea typeface="Open Sans"/>
                <a:cs typeface="Times New Roman"/>
              </a:rPr>
              <a:t>“MagicMirror</a:t>
            </a:r>
            <a:r>
              <a:rPr lang="en-US" sz="1600" baseline="30000" dirty="0">
                <a:latin typeface="Times New Roman"/>
                <a:ea typeface="Open Sans"/>
                <a:cs typeface="Times New Roman"/>
              </a:rPr>
              <a:t>2.</a:t>
            </a:r>
            <a:r>
              <a:rPr lang="en-US" sz="1600" dirty="0">
                <a:latin typeface="Times New Roman"/>
                <a:ea typeface="Open Sans"/>
                <a:cs typeface="Times New Roman"/>
              </a:rPr>
              <a:t>” </a:t>
            </a:r>
            <a:r>
              <a:rPr lang="en-US" sz="1600" i="1" dirty="0" err="1">
                <a:latin typeface="Times New Roman"/>
                <a:ea typeface="Open Sans"/>
                <a:cs typeface="Times New Roman"/>
              </a:rPr>
              <a:t>Magicmirror.builders</a:t>
            </a:r>
            <a:r>
              <a:rPr lang="en-US" sz="1600" dirty="0">
                <a:latin typeface="Times New Roman"/>
                <a:ea typeface="Open Sans"/>
                <a:cs typeface="Times New Roman"/>
              </a:rPr>
              <a:t>, 2016, </a:t>
            </a:r>
            <a:r>
              <a:rPr lang="en-US" sz="1600" dirty="0" err="1">
                <a:latin typeface="Times New Roman"/>
                <a:ea typeface="Open Sans"/>
                <a:cs typeface="Times New Roman"/>
              </a:rPr>
              <a:t>magicmirror.builders</a:t>
            </a:r>
            <a:r>
              <a:rPr lang="en-US" sz="1600" dirty="0">
                <a:latin typeface="Times New Roman"/>
                <a:ea typeface="Open Sans"/>
                <a:cs typeface="Times New Roman"/>
              </a:rPr>
              <a:t>.</a:t>
            </a:r>
          </a:p>
          <a:p>
            <a:pPr marL="342900" indent="-342900">
              <a:buFont typeface="Arial" panose="020B0604020202020204" pitchFamily="34" charset="0"/>
              <a:buChar char="•"/>
            </a:pPr>
            <a:endParaRPr lang="en-US" sz="1600" dirty="0">
              <a:latin typeface="Times New Roman"/>
              <a:ea typeface="Open Sans"/>
              <a:cs typeface="Times New Roman"/>
            </a:endParaRPr>
          </a:p>
          <a:p>
            <a:pPr marL="342900" indent="-342900">
              <a:buFont typeface="Arial" panose="020B0604020202020204" pitchFamily="34" charset="0"/>
              <a:buChar char="•"/>
            </a:pPr>
            <a:r>
              <a:rPr lang="en-US" sz="1600" dirty="0">
                <a:latin typeface="Times New Roman"/>
                <a:ea typeface="Open Sans"/>
                <a:cs typeface="Times New Roman"/>
              </a:rPr>
              <a:t>“</a:t>
            </a:r>
            <a:r>
              <a:rPr lang="en-US" sz="1600" dirty="0" err="1">
                <a:latin typeface="Times New Roman"/>
                <a:ea typeface="Open Sans"/>
                <a:cs typeface="Times New Roman"/>
              </a:rPr>
              <a:t>MagicMirror</a:t>
            </a:r>
            <a:r>
              <a:rPr lang="en-US" sz="1600" dirty="0">
                <a:latin typeface="Times New Roman"/>
                <a:ea typeface="Open Sans"/>
                <a:cs typeface="Times New Roman"/>
              </a:rPr>
              <a:t> Remote Control API.” </a:t>
            </a:r>
            <a:r>
              <a:rPr lang="en-US" sz="1600" i="1" dirty="0" err="1">
                <a:latin typeface="Times New Roman"/>
                <a:ea typeface="Open Sans"/>
                <a:cs typeface="Times New Roman"/>
              </a:rPr>
              <a:t>MagicMirror</a:t>
            </a:r>
            <a:r>
              <a:rPr lang="en-US" sz="1600" i="1" dirty="0">
                <a:latin typeface="Times New Roman"/>
                <a:ea typeface="Open Sans"/>
                <a:cs typeface="Times New Roman"/>
              </a:rPr>
              <a:t> Remote Control API</a:t>
            </a:r>
            <a:r>
              <a:rPr lang="en-US" sz="1600" dirty="0">
                <a:latin typeface="Times New Roman"/>
                <a:ea typeface="Open Sans"/>
                <a:cs typeface="Times New Roman"/>
              </a:rPr>
              <a:t>, 2025, documenter.getpostman.com/view/6167403/Rzfni66c. Accessed 26 Apr. 2025.</a:t>
            </a:r>
            <a:endParaRPr lang="en-US" sz="1600" dirty="0">
              <a:latin typeface="Quattrocento Sans"/>
              <a:ea typeface="Open Sans"/>
              <a:cs typeface="Open Sans"/>
            </a:endParaRPr>
          </a:p>
        </p:txBody>
      </p:sp>
      <p:pic>
        <p:nvPicPr>
          <p:cNvPr id="10" name="Picture 9" descr="A group of men holding a mirror&#10;&#10;AI-generated content may be incorrect.">
            <a:extLst>
              <a:ext uri="{FF2B5EF4-FFF2-40B4-BE49-F238E27FC236}">
                <a16:creationId xmlns:a16="http://schemas.microsoft.com/office/drawing/2014/main" id="{1E0230E0-8D45-90C0-AD13-39D36E8B94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61525" y="13908681"/>
            <a:ext cx="5567250" cy="4236738"/>
          </a:xfrm>
          <a:prstGeom prst="rect">
            <a:avLst/>
          </a:prstGeom>
        </p:spPr>
      </p:pic>
      <p:pic>
        <p:nvPicPr>
          <p:cNvPr id="9" name="Picture 8" descr="A person holding a mirror&#10;&#10;AI-generated content may be incorrect.">
            <a:extLst>
              <a:ext uri="{FF2B5EF4-FFF2-40B4-BE49-F238E27FC236}">
                <a16:creationId xmlns:a16="http://schemas.microsoft.com/office/drawing/2014/main" id="{FFC1A6F9-8E3B-D00B-13D5-919CC0A98A76}"/>
              </a:ext>
            </a:extLst>
          </p:cNvPr>
          <p:cNvPicPr>
            <a:picLocks noChangeAspect="1"/>
          </p:cNvPicPr>
          <p:nvPr/>
        </p:nvPicPr>
        <p:blipFill>
          <a:blip r:embed="rId5"/>
          <a:stretch>
            <a:fillRect/>
          </a:stretch>
        </p:blipFill>
        <p:spPr>
          <a:xfrm>
            <a:off x="16000856" y="12151994"/>
            <a:ext cx="6886400" cy="8815020"/>
          </a:xfrm>
          <a:prstGeom prst="rect">
            <a:avLst/>
          </a:prstGeom>
        </p:spPr>
      </p:pic>
      <p:sp>
        <p:nvSpPr>
          <p:cNvPr id="11" name="TextBox 10">
            <a:extLst>
              <a:ext uri="{FF2B5EF4-FFF2-40B4-BE49-F238E27FC236}">
                <a16:creationId xmlns:a16="http://schemas.microsoft.com/office/drawing/2014/main" id="{D63E0D0E-AD0F-228A-8D93-8536847CEDF5}"/>
              </a:ext>
            </a:extLst>
          </p:cNvPr>
          <p:cNvSpPr txBox="1"/>
          <p:nvPr/>
        </p:nvSpPr>
        <p:spPr>
          <a:xfrm>
            <a:off x="23818919" y="19290213"/>
            <a:ext cx="6067083"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Quattrocento"/>
              </a:rPr>
              <a:t>Funding Source: </a:t>
            </a:r>
            <a:r>
              <a:rPr lang="en-US" sz="2000">
                <a:latin typeface="Quattrocento"/>
              </a:rPr>
              <a:t>Bowling Green State University Engineering and Technology Department</a:t>
            </a:r>
          </a:p>
          <a:p>
            <a:r>
              <a:rPr lang="en-US" sz="2400" b="1">
                <a:latin typeface="Quattrocento"/>
              </a:rPr>
              <a:t>Dr. Sonia Chacko: </a:t>
            </a:r>
            <a:r>
              <a:rPr lang="en-US" sz="2000">
                <a:latin typeface="Quattrocento"/>
              </a:rPr>
              <a:t>Assistance and guidance </a:t>
            </a:r>
          </a:p>
          <a:p>
            <a:r>
              <a:rPr lang="en-US" sz="2000">
                <a:latin typeface="Quattrocento"/>
              </a:rPr>
              <a:t>throughout the whole Process</a:t>
            </a:r>
          </a:p>
          <a:p>
            <a:endParaRPr lang="en-US" sz="2000">
              <a:latin typeface="Quattrocento"/>
            </a:endParaRPr>
          </a:p>
          <a:p>
            <a:pPr algn="ctr"/>
            <a:endParaRPr lang="en-US" sz="2400">
              <a:latin typeface="Quattrocento"/>
            </a:endParaRPr>
          </a:p>
          <a:p>
            <a:pPr algn="l"/>
            <a:endParaRPr lang="en-US">
              <a:ea typeface="Calibri"/>
              <a:cs typeface="Calibri"/>
            </a:endParaRPr>
          </a:p>
        </p:txBody>
      </p:sp>
      <p:pic>
        <p:nvPicPr>
          <p:cNvPr id="12" name="Picture 11">
            <a:extLst>
              <a:ext uri="{FF2B5EF4-FFF2-40B4-BE49-F238E27FC236}">
                <a16:creationId xmlns:a16="http://schemas.microsoft.com/office/drawing/2014/main" id="{D27F07C2-1573-99E1-F3E6-F432125D212E}"/>
              </a:ext>
            </a:extLst>
          </p:cNvPr>
          <p:cNvPicPr>
            <a:picLocks noChangeAspect="1"/>
          </p:cNvPicPr>
          <p:nvPr/>
        </p:nvPicPr>
        <p:blipFill>
          <a:blip r:embed="rId6"/>
          <a:srcRect l="-109" t="-2233" r="27326" b="-1750"/>
          <a:stretch/>
        </p:blipFill>
        <p:spPr>
          <a:xfrm rot="5400000">
            <a:off x="9060886" y="16099273"/>
            <a:ext cx="5289273" cy="5672234"/>
          </a:xfrm>
          <a:prstGeom prst="rect">
            <a:avLst/>
          </a:prstGeom>
        </p:spPr>
      </p:pic>
      <p:pic>
        <p:nvPicPr>
          <p:cNvPr id="13" name="Picture 12">
            <a:extLst>
              <a:ext uri="{FF2B5EF4-FFF2-40B4-BE49-F238E27FC236}">
                <a16:creationId xmlns:a16="http://schemas.microsoft.com/office/drawing/2014/main" id="{34148D15-9A91-06BE-5C8A-FEB261E90D44}"/>
              </a:ext>
            </a:extLst>
          </p:cNvPr>
          <p:cNvPicPr>
            <a:picLocks noChangeAspect="1"/>
          </p:cNvPicPr>
          <p:nvPr/>
        </p:nvPicPr>
        <p:blipFill>
          <a:blip r:embed="rId7"/>
          <a:srcRect l="18691" t="-5619" r="18068" b="1512"/>
          <a:stretch/>
        </p:blipFill>
        <p:spPr>
          <a:xfrm rot="5400000">
            <a:off x="2084870" y="16625508"/>
            <a:ext cx="4585745" cy="5672234"/>
          </a:xfrm>
          <a:prstGeom prst="rect">
            <a:avLst/>
          </a:prstGeom>
        </p:spPr>
      </p:pic>
    </p:spTree>
    <p:extLst>
      <p:ext uri="{BB962C8B-B14F-4D97-AF65-F5344CB8AC3E}">
        <p14:creationId xmlns:p14="http://schemas.microsoft.com/office/powerpoint/2010/main" val="3531817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792CC4D059B14A8A16481F45DB3CDB" ma:contentTypeVersion="6" ma:contentTypeDescription="Create a new document." ma:contentTypeScope="" ma:versionID="636dcddb29938b214769457d2712a91a">
  <xsd:schema xmlns:xsd="http://www.w3.org/2001/XMLSchema" xmlns:xs="http://www.w3.org/2001/XMLSchema" xmlns:p="http://schemas.microsoft.com/office/2006/metadata/properties" xmlns:ns3="e6ec857c-17f6-437e-a869-edcabe0a9e5d" targetNamespace="http://schemas.microsoft.com/office/2006/metadata/properties" ma:root="true" ma:fieldsID="703d82d4651ae254ca2090f0b96fdc54" ns3:_="">
    <xsd:import namespace="e6ec857c-17f6-437e-a869-edcabe0a9e5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ec857c-17f6-437e-a869-edcabe0a9e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6ec857c-17f6-437e-a869-edcabe0a9e5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86F76B-99B8-4F1A-8F60-26F83E32C2A9}">
  <ds:schemaRefs>
    <ds:schemaRef ds:uri="e6ec857c-17f6-437e-a869-edcabe0a9e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35D237E-8611-445E-ADA3-38760A2533C2}">
  <ds:schemaRefs>
    <ds:schemaRef ds:uri="e6ec857c-17f6-437e-a869-edcabe0a9e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C2B912-9207-4DDC-A83D-4A468F4758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746</Words>
  <Application>Microsoft Office PowerPoint</Application>
  <PresentationFormat>Custom</PresentationFormat>
  <Paragraphs>48</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Courier New,monospace</vt:lpstr>
      <vt:lpstr>Quattrocento</vt:lpstr>
      <vt:lpstr>Quattrocento Sans</vt:lpstr>
      <vt:lpstr>Times New Roman</vt:lpstr>
      <vt:lpstr>Office 2013 - 2022 Theme</vt:lpstr>
      <vt:lpstr>PowerPoint Presentation</vt:lpstr>
    </vt:vector>
  </TitlesOfParts>
  <Company>Dartmouth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Memory in the Two Cerebral Hemispheres M.G. Funnell, M.K. Colvin, &amp; M.S. Gazzaniga Center for Cognitive Neuroscience, Dartmouth College</dc:title>
  <dc:creator>Margaret Funnell</dc:creator>
  <cp:lastModifiedBy>Sonia Mary Chacko</cp:lastModifiedBy>
  <cp:revision>11</cp:revision>
  <cp:lastPrinted>2003-03-25T14:30:39Z</cp:lastPrinted>
  <dcterms:created xsi:type="dcterms:W3CDTF">2003-03-14T19:43:06Z</dcterms:created>
  <dcterms:modified xsi:type="dcterms:W3CDTF">2025-04-29T12:56:59Z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0x01010026792CC4D059B14A8A16481F45DB3CDB</vt:lpwstr>
  </property>
</Properties>
</file>