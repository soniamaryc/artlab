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sldIdLst>
    <p:sldId id="257" r:id="rId2"/>
  </p:sldIdLst>
  <p:sldSz cx="31089600" cy="219456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9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1E1E"/>
    <a:srgbClr val="FF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1382EF-E5BA-9ACA-3C7D-338935DC569B}" v="408" dt="2025-04-28T01:18:02.032"/>
    <p1510:client id="{38F144C7-82E0-4F1E-A047-5AC6F69FE526}" v="1708" dt="2025-04-28T02:09:40.663"/>
    <p1510:client id="{B33C7DD6-9ABA-389D-5ABD-5F7AFC27A1AC}" v="59" dt="2025-04-28T02:00:42.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378" y="307"/>
      </p:cViewPr>
      <p:guideLst>
        <p:guide orient="horz" pos="6912"/>
        <p:guide pos="979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31720" y="3591562"/>
            <a:ext cx="26426160" cy="7640320"/>
          </a:xfrm>
        </p:spPr>
        <p:txBody>
          <a:bodyPr anchor="b"/>
          <a:lstStyle>
            <a:lvl1pPr algn="ctr">
              <a:defRPr sz="19200"/>
            </a:lvl1pPr>
          </a:lstStyle>
          <a:p>
            <a:r>
              <a:rPr lang="en-US"/>
              <a:t>Click to edit Master title style</a:t>
            </a:r>
          </a:p>
        </p:txBody>
      </p:sp>
      <p:sp>
        <p:nvSpPr>
          <p:cNvPr id="3" name="Subtitle 2"/>
          <p:cNvSpPr>
            <a:spLocks noGrp="1"/>
          </p:cNvSpPr>
          <p:nvPr>
            <p:ph type="subTitle" idx="1"/>
          </p:nvPr>
        </p:nvSpPr>
        <p:spPr>
          <a:xfrm>
            <a:off x="3886200" y="11526522"/>
            <a:ext cx="23317200" cy="5298438"/>
          </a:xfrm>
        </p:spPr>
        <p:txBody>
          <a:bodyPr/>
          <a:lstStyle>
            <a:lvl1pPr marL="0" indent="0" algn="ctr">
              <a:buNone/>
              <a:defRPr sz="7680"/>
            </a:lvl1pPr>
            <a:lvl2pPr marL="1463040" indent="0" algn="ctr">
              <a:buNone/>
              <a:defRPr sz="6400"/>
            </a:lvl2pPr>
            <a:lvl3pPr marL="2926080" indent="0" algn="ctr">
              <a:buNone/>
              <a:defRPr sz="5760"/>
            </a:lvl3pPr>
            <a:lvl4pPr marL="4389120" indent="0" algn="ctr">
              <a:buNone/>
              <a:defRPr sz="5120"/>
            </a:lvl4pPr>
            <a:lvl5pPr marL="5852160" indent="0" algn="ctr">
              <a:buNone/>
              <a:defRPr sz="5120"/>
            </a:lvl5pPr>
            <a:lvl6pPr marL="7315200" indent="0" algn="ctr">
              <a:buNone/>
              <a:defRPr sz="5120"/>
            </a:lvl6pPr>
            <a:lvl7pPr marL="8778240" indent="0" algn="ctr">
              <a:buNone/>
              <a:defRPr sz="5120"/>
            </a:lvl7pPr>
            <a:lvl8pPr marL="10241280" indent="0" algn="ctr">
              <a:buNone/>
              <a:defRPr sz="5120"/>
            </a:lvl8pPr>
            <a:lvl9pPr marL="11704320" indent="0" algn="ctr">
              <a:buNone/>
              <a:defRPr sz="512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87E2F82D-3616-4467-A056-E894D5735046}" type="slidenum">
              <a:rPr lang="en-US" altLang="en-US" smtClean="0"/>
              <a:pPr/>
              <a:t>‹#›</a:t>
            </a:fld>
            <a:endParaRPr lang="en-US" altLang="en-US"/>
          </a:p>
        </p:txBody>
      </p:sp>
    </p:spTree>
    <p:extLst>
      <p:ext uri="{BB962C8B-B14F-4D97-AF65-F5344CB8AC3E}">
        <p14:creationId xmlns:p14="http://schemas.microsoft.com/office/powerpoint/2010/main" val="362105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BCA119C6-817E-4242-83A3-C8FC571DD821}" type="slidenum">
              <a:rPr lang="en-US" altLang="en-US" smtClean="0"/>
              <a:pPr/>
              <a:t>‹#›</a:t>
            </a:fld>
            <a:endParaRPr lang="en-US" altLang="en-US"/>
          </a:p>
        </p:txBody>
      </p:sp>
    </p:spTree>
    <p:extLst>
      <p:ext uri="{BB962C8B-B14F-4D97-AF65-F5344CB8AC3E}">
        <p14:creationId xmlns:p14="http://schemas.microsoft.com/office/powerpoint/2010/main" val="4056806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21219" y="5471167"/>
            <a:ext cx="26814780" cy="9128758"/>
          </a:xfrm>
        </p:spPr>
        <p:txBody>
          <a:bodyPr anchor="b"/>
          <a:lstStyle>
            <a:lvl1pPr>
              <a:defRPr sz="19200"/>
            </a:lvl1pPr>
          </a:lstStyle>
          <a:p>
            <a:r>
              <a:rPr lang="en-US"/>
              <a:t>Click to edit Master title style</a:t>
            </a:r>
          </a:p>
        </p:txBody>
      </p:sp>
      <p:sp>
        <p:nvSpPr>
          <p:cNvPr id="3" name="Text Placeholder 2"/>
          <p:cNvSpPr>
            <a:spLocks noGrp="1"/>
          </p:cNvSpPr>
          <p:nvPr>
            <p:ph type="body" idx="1"/>
          </p:nvPr>
        </p:nvSpPr>
        <p:spPr>
          <a:xfrm>
            <a:off x="2121219" y="14686287"/>
            <a:ext cx="26814780" cy="4800598"/>
          </a:xfrm>
        </p:spPr>
        <p:txBody>
          <a:bodyPr/>
          <a:lstStyle>
            <a:lvl1pPr marL="0" indent="0">
              <a:buNone/>
              <a:defRPr sz="7680">
                <a:solidFill>
                  <a:schemeClr val="tx1"/>
                </a:solidFill>
              </a:defRPr>
            </a:lvl1pPr>
            <a:lvl2pPr marL="1463040" indent="0">
              <a:buNone/>
              <a:defRPr sz="6400">
                <a:solidFill>
                  <a:schemeClr val="tx1">
                    <a:tint val="75000"/>
                  </a:schemeClr>
                </a:solidFill>
              </a:defRPr>
            </a:lvl2pPr>
            <a:lvl3pPr marL="2926080" indent="0">
              <a:buNone/>
              <a:defRPr sz="5760">
                <a:solidFill>
                  <a:schemeClr val="tx1">
                    <a:tint val="75000"/>
                  </a:schemeClr>
                </a:solidFill>
              </a:defRPr>
            </a:lvl3pPr>
            <a:lvl4pPr marL="4389120" indent="0">
              <a:buNone/>
              <a:defRPr sz="5120">
                <a:solidFill>
                  <a:schemeClr val="tx1">
                    <a:tint val="75000"/>
                  </a:schemeClr>
                </a:solidFill>
              </a:defRPr>
            </a:lvl4pPr>
            <a:lvl5pPr marL="5852160" indent="0">
              <a:buNone/>
              <a:defRPr sz="5120">
                <a:solidFill>
                  <a:schemeClr val="tx1">
                    <a:tint val="75000"/>
                  </a:schemeClr>
                </a:solidFill>
              </a:defRPr>
            </a:lvl5pPr>
            <a:lvl6pPr marL="7315200" indent="0">
              <a:buNone/>
              <a:defRPr sz="5120">
                <a:solidFill>
                  <a:schemeClr val="tx1">
                    <a:tint val="75000"/>
                  </a:schemeClr>
                </a:solidFill>
              </a:defRPr>
            </a:lvl6pPr>
            <a:lvl7pPr marL="8778240" indent="0">
              <a:buNone/>
              <a:defRPr sz="5120">
                <a:solidFill>
                  <a:schemeClr val="tx1">
                    <a:tint val="75000"/>
                  </a:schemeClr>
                </a:solidFill>
              </a:defRPr>
            </a:lvl7pPr>
            <a:lvl8pPr marL="10241280" indent="0">
              <a:buNone/>
              <a:defRPr sz="5120">
                <a:solidFill>
                  <a:schemeClr val="tx1">
                    <a:tint val="75000"/>
                  </a:schemeClr>
                </a:solidFill>
              </a:defRPr>
            </a:lvl8pPr>
            <a:lvl9pPr marL="1170432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F4192726-DD1F-4C44-94D0-F43B3C6AC185}" type="slidenum">
              <a:rPr lang="en-US" altLang="en-US" smtClean="0"/>
              <a:pPr/>
              <a:t>‹#›</a:t>
            </a:fld>
            <a:endParaRPr lang="en-US" altLang="en-US"/>
          </a:p>
        </p:txBody>
      </p:sp>
    </p:spTree>
    <p:extLst>
      <p:ext uri="{BB962C8B-B14F-4D97-AF65-F5344CB8AC3E}">
        <p14:creationId xmlns:p14="http://schemas.microsoft.com/office/powerpoint/2010/main" val="3679548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374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739110" y="5842000"/>
            <a:ext cx="13213080" cy="139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86C27BE-A5E0-47D6-A899-CADB1153DCDF}" type="slidenum">
              <a:rPr lang="en-US" altLang="en-US" smtClean="0"/>
              <a:pPr/>
              <a:t>‹#›</a:t>
            </a:fld>
            <a:endParaRPr lang="en-US" altLang="en-US"/>
          </a:p>
        </p:txBody>
      </p:sp>
    </p:spTree>
    <p:extLst>
      <p:ext uri="{BB962C8B-B14F-4D97-AF65-F5344CB8AC3E}">
        <p14:creationId xmlns:p14="http://schemas.microsoft.com/office/powerpoint/2010/main" val="312383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41459" y="1168405"/>
            <a:ext cx="26814780" cy="4241802"/>
          </a:xfrm>
        </p:spPr>
        <p:txBody>
          <a:bodyPr/>
          <a:lstStyle/>
          <a:p>
            <a:r>
              <a:rPr lang="en-US"/>
              <a:t>Click to edit Master title style</a:t>
            </a:r>
          </a:p>
        </p:txBody>
      </p:sp>
      <p:sp>
        <p:nvSpPr>
          <p:cNvPr id="3" name="Text Placeholder 2"/>
          <p:cNvSpPr>
            <a:spLocks noGrp="1"/>
          </p:cNvSpPr>
          <p:nvPr>
            <p:ph type="body" idx="1"/>
          </p:nvPr>
        </p:nvSpPr>
        <p:spPr>
          <a:xfrm>
            <a:off x="2141463" y="5379722"/>
            <a:ext cx="13152356"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4" name="Content Placeholder 3"/>
          <p:cNvSpPr>
            <a:spLocks noGrp="1"/>
          </p:cNvSpPr>
          <p:nvPr>
            <p:ph sz="half" idx="2"/>
          </p:nvPr>
        </p:nvSpPr>
        <p:spPr>
          <a:xfrm>
            <a:off x="2141463" y="8016240"/>
            <a:ext cx="13152356"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739112" y="5379722"/>
            <a:ext cx="13217129" cy="2636518"/>
          </a:xfrm>
        </p:spPr>
        <p:txBody>
          <a:bodyPr anchor="b"/>
          <a:lstStyle>
            <a:lvl1pPr marL="0" indent="0">
              <a:buNone/>
              <a:defRPr sz="7680" b="1"/>
            </a:lvl1pPr>
            <a:lvl2pPr marL="1463040" indent="0">
              <a:buNone/>
              <a:defRPr sz="6400" b="1"/>
            </a:lvl2pPr>
            <a:lvl3pPr marL="2926080" indent="0">
              <a:buNone/>
              <a:defRPr sz="5760" b="1"/>
            </a:lvl3pPr>
            <a:lvl4pPr marL="4389120" indent="0">
              <a:buNone/>
              <a:defRPr sz="5120" b="1"/>
            </a:lvl4pPr>
            <a:lvl5pPr marL="5852160" indent="0">
              <a:buNone/>
              <a:defRPr sz="5120" b="1"/>
            </a:lvl5pPr>
            <a:lvl6pPr marL="7315200" indent="0">
              <a:buNone/>
              <a:defRPr sz="5120" b="1"/>
            </a:lvl6pPr>
            <a:lvl7pPr marL="8778240" indent="0">
              <a:buNone/>
              <a:defRPr sz="5120" b="1"/>
            </a:lvl7pPr>
            <a:lvl8pPr marL="10241280" indent="0">
              <a:buNone/>
              <a:defRPr sz="5120" b="1"/>
            </a:lvl8pPr>
            <a:lvl9pPr marL="11704320" indent="0">
              <a:buNone/>
              <a:defRPr sz="5120" b="1"/>
            </a:lvl9pPr>
          </a:lstStyle>
          <a:p>
            <a:pPr lvl="0"/>
            <a:r>
              <a:rPr lang="en-US"/>
              <a:t>Click to edit Master text styles</a:t>
            </a:r>
          </a:p>
        </p:txBody>
      </p:sp>
      <p:sp>
        <p:nvSpPr>
          <p:cNvPr id="6" name="Content Placeholder 5"/>
          <p:cNvSpPr>
            <a:spLocks noGrp="1"/>
          </p:cNvSpPr>
          <p:nvPr>
            <p:ph sz="quarter" idx="4"/>
          </p:nvPr>
        </p:nvSpPr>
        <p:spPr>
          <a:xfrm>
            <a:off x="15739112" y="8016240"/>
            <a:ext cx="13217129" cy="117906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fld id="{A8D83365-3921-44D2-91EA-BF09235FA2BD}" type="slidenum">
              <a:rPr lang="en-US" altLang="en-US" smtClean="0"/>
              <a:pPr/>
              <a:t>‹#›</a:t>
            </a:fld>
            <a:endParaRPr lang="en-US" altLang="en-US"/>
          </a:p>
        </p:txBody>
      </p:sp>
    </p:spTree>
    <p:extLst>
      <p:ext uri="{BB962C8B-B14F-4D97-AF65-F5344CB8AC3E}">
        <p14:creationId xmlns:p14="http://schemas.microsoft.com/office/powerpoint/2010/main" val="3338663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fld id="{934B8FBB-A22D-48A9-86F8-F488C1EC41E7}" type="slidenum">
              <a:rPr lang="en-US" altLang="en-US" smtClean="0"/>
              <a:pPr/>
              <a:t>‹#›</a:t>
            </a:fld>
            <a:endParaRPr lang="en-US" altLang="en-US"/>
          </a:p>
        </p:txBody>
      </p:sp>
    </p:spTree>
    <p:extLst>
      <p:ext uri="{BB962C8B-B14F-4D97-AF65-F5344CB8AC3E}">
        <p14:creationId xmlns:p14="http://schemas.microsoft.com/office/powerpoint/2010/main" val="1446684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fld id="{0853FCE1-1DB8-4EE9-BEDE-5D17530D2F0D}" type="slidenum">
              <a:rPr lang="en-US" altLang="en-US" smtClean="0"/>
              <a:pPr/>
              <a:t>‹#›</a:t>
            </a:fld>
            <a:endParaRPr lang="en-US" altLang="en-US"/>
          </a:p>
        </p:txBody>
      </p:sp>
    </p:spTree>
    <p:extLst>
      <p:ext uri="{BB962C8B-B14F-4D97-AF65-F5344CB8AC3E}">
        <p14:creationId xmlns:p14="http://schemas.microsoft.com/office/powerpoint/2010/main" val="1974855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p>
        </p:txBody>
      </p:sp>
      <p:sp>
        <p:nvSpPr>
          <p:cNvPr id="3" name="Content Placeholder 2"/>
          <p:cNvSpPr>
            <a:spLocks noGrp="1"/>
          </p:cNvSpPr>
          <p:nvPr>
            <p:ph idx="1"/>
          </p:nvPr>
        </p:nvSpPr>
        <p:spPr>
          <a:xfrm>
            <a:off x="13217129" y="3159765"/>
            <a:ext cx="15739110" cy="15595600"/>
          </a:xfrm>
        </p:spPr>
        <p:txBody>
          <a:bodyPr/>
          <a:lstStyle>
            <a:lvl1pPr>
              <a:defRPr sz="10240"/>
            </a:lvl1pPr>
            <a:lvl2pPr>
              <a:defRPr sz="8960"/>
            </a:lvl2pPr>
            <a:lvl3pPr>
              <a:defRPr sz="7680"/>
            </a:lvl3pPr>
            <a:lvl4pPr>
              <a:defRPr sz="6400"/>
            </a:lvl4pPr>
            <a:lvl5pPr>
              <a:defRPr sz="6400"/>
            </a:lvl5pPr>
            <a:lvl6pPr>
              <a:defRPr sz="6400"/>
            </a:lvl6pPr>
            <a:lvl7pPr>
              <a:defRPr sz="6400"/>
            </a:lvl7pPr>
            <a:lvl8pPr>
              <a:defRPr sz="6400"/>
            </a:lvl8pPr>
            <a:lvl9pPr>
              <a:defRPr sz="6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536D9969-BE9E-4688-B55A-CB6B14DF5421}" type="slidenum">
              <a:rPr lang="en-US" altLang="en-US" smtClean="0"/>
              <a:pPr/>
              <a:t>‹#›</a:t>
            </a:fld>
            <a:endParaRPr lang="en-US" altLang="en-US"/>
          </a:p>
        </p:txBody>
      </p:sp>
    </p:spTree>
    <p:extLst>
      <p:ext uri="{BB962C8B-B14F-4D97-AF65-F5344CB8AC3E}">
        <p14:creationId xmlns:p14="http://schemas.microsoft.com/office/powerpoint/2010/main" val="454386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1460" y="1463040"/>
            <a:ext cx="10027205" cy="5120640"/>
          </a:xfrm>
        </p:spPr>
        <p:txBody>
          <a:bodyPr anchor="b"/>
          <a:lstStyle>
            <a:lvl1pPr>
              <a:defRPr sz="10240"/>
            </a:lvl1pPr>
          </a:lstStyle>
          <a:p>
            <a:r>
              <a:rPr lang="en-US"/>
              <a:t>Click to edit Master title style</a:t>
            </a:r>
          </a:p>
        </p:txBody>
      </p:sp>
      <p:sp>
        <p:nvSpPr>
          <p:cNvPr id="3" name="Picture Placeholder 2"/>
          <p:cNvSpPr>
            <a:spLocks noGrp="1" noChangeAspect="1"/>
          </p:cNvSpPr>
          <p:nvPr>
            <p:ph type="pic" idx="1"/>
          </p:nvPr>
        </p:nvSpPr>
        <p:spPr>
          <a:xfrm>
            <a:off x="13217129" y="3159765"/>
            <a:ext cx="15739110" cy="15595600"/>
          </a:xfrm>
        </p:spPr>
        <p:txBody>
          <a:bodyPr anchor="t"/>
          <a:lstStyle>
            <a:lvl1pPr marL="0" indent="0">
              <a:buNone/>
              <a:defRPr sz="10240"/>
            </a:lvl1pPr>
            <a:lvl2pPr marL="1463040" indent="0">
              <a:buNone/>
              <a:defRPr sz="8960"/>
            </a:lvl2pPr>
            <a:lvl3pPr marL="2926080" indent="0">
              <a:buNone/>
              <a:defRPr sz="7680"/>
            </a:lvl3pPr>
            <a:lvl4pPr marL="4389120" indent="0">
              <a:buNone/>
              <a:defRPr sz="6400"/>
            </a:lvl4pPr>
            <a:lvl5pPr marL="5852160" indent="0">
              <a:buNone/>
              <a:defRPr sz="6400"/>
            </a:lvl5pPr>
            <a:lvl6pPr marL="7315200" indent="0">
              <a:buNone/>
              <a:defRPr sz="6400"/>
            </a:lvl6pPr>
            <a:lvl7pPr marL="8778240" indent="0">
              <a:buNone/>
              <a:defRPr sz="6400"/>
            </a:lvl7pPr>
            <a:lvl8pPr marL="10241280" indent="0">
              <a:buNone/>
              <a:defRPr sz="6400"/>
            </a:lvl8pPr>
            <a:lvl9pPr marL="11704320" indent="0">
              <a:buNone/>
              <a:defRPr sz="6400"/>
            </a:lvl9pPr>
          </a:lstStyle>
          <a:p>
            <a:r>
              <a:rPr lang="en-US"/>
              <a:t>Click icon to add picture</a:t>
            </a:r>
          </a:p>
        </p:txBody>
      </p:sp>
      <p:sp>
        <p:nvSpPr>
          <p:cNvPr id="4" name="Text Placeholder 3"/>
          <p:cNvSpPr>
            <a:spLocks noGrp="1"/>
          </p:cNvSpPr>
          <p:nvPr>
            <p:ph type="body" sz="half" idx="2"/>
          </p:nvPr>
        </p:nvSpPr>
        <p:spPr>
          <a:xfrm>
            <a:off x="2141460" y="6583680"/>
            <a:ext cx="10027205" cy="12197082"/>
          </a:xfrm>
        </p:spPr>
        <p:txBody>
          <a:bodyPr/>
          <a:lstStyle>
            <a:lvl1pPr marL="0" indent="0">
              <a:buNone/>
              <a:defRPr sz="5120"/>
            </a:lvl1pPr>
            <a:lvl2pPr marL="1463040" indent="0">
              <a:buNone/>
              <a:defRPr sz="4480"/>
            </a:lvl2pPr>
            <a:lvl3pPr marL="2926080" indent="0">
              <a:buNone/>
              <a:defRPr sz="3840"/>
            </a:lvl3pPr>
            <a:lvl4pPr marL="4389120" indent="0">
              <a:buNone/>
              <a:defRPr sz="3200"/>
            </a:lvl4pPr>
            <a:lvl5pPr marL="5852160" indent="0">
              <a:buNone/>
              <a:defRPr sz="3200"/>
            </a:lvl5pPr>
            <a:lvl6pPr marL="7315200" indent="0">
              <a:buNone/>
              <a:defRPr sz="3200"/>
            </a:lvl6pPr>
            <a:lvl7pPr marL="8778240" indent="0">
              <a:buNone/>
              <a:defRPr sz="3200"/>
            </a:lvl7pPr>
            <a:lvl8pPr marL="10241280" indent="0">
              <a:buNone/>
              <a:defRPr sz="3200"/>
            </a:lvl8pPr>
            <a:lvl9pPr marL="11704320" indent="0">
              <a:buNone/>
              <a:defRPr sz="32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fld id="{170827FB-9D8C-4C8F-AA33-59014C04D849}" type="slidenum">
              <a:rPr lang="en-US" altLang="en-US" smtClean="0"/>
              <a:pPr/>
              <a:t>‹#›</a:t>
            </a:fld>
            <a:endParaRPr lang="en-US" altLang="en-US"/>
          </a:p>
        </p:txBody>
      </p:sp>
    </p:spTree>
    <p:extLst>
      <p:ext uri="{BB962C8B-B14F-4D97-AF65-F5344CB8AC3E}">
        <p14:creationId xmlns:p14="http://schemas.microsoft.com/office/powerpoint/2010/main" val="87832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92B3B6C8-5DF7-4ECA-B705-5E5573EEC491}" type="slidenum">
              <a:rPr lang="en-US" altLang="en-US" smtClean="0"/>
              <a:pPr/>
              <a:t>‹#›</a:t>
            </a:fld>
            <a:endParaRPr lang="en-US" altLang="en-US"/>
          </a:p>
        </p:txBody>
      </p:sp>
    </p:spTree>
    <p:extLst>
      <p:ext uri="{BB962C8B-B14F-4D97-AF65-F5344CB8AC3E}">
        <p14:creationId xmlns:p14="http://schemas.microsoft.com/office/powerpoint/2010/main" val="33373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248497" y="1168400"/>
            <a:ext cx="6703695" cy="1859788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37412" y="1168400"/>
            <a:ext cx="19722465" cy="185978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53B11DE4-35AF-4E00-85A0-B84C18D78EE9}" type="slidenum">
              <a:rPr lang="en-US" altLang="en-US" smtClean="0"/>
              <a:pPr/>
              <a:t>‹#›</a:t>
            </a:fld>
            <a:endParaRPr lang="en-US" altLang="en-US"/>
          </a:p>
        </p:txBody>
      </p:sp>
    </p:spTree>
    <p:extLst>
      <p:ext uri="{BB962C8B-B14F-4D97-AF65-F5344CB8AC3E}">
        <p14:creationId xmlns:p14="http://schemas.microsoft.com/office/powerpoint/2010/main" val="60296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7410" y="1168405"/>
            <a:ext cx="26814780" cy="4241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137410" y="5842000"/>
            <a:ext cx="26814780" cy="139242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37410" y="20340325"/>
            <a:ext cx="6995160" cy="1168400"/>
          </a:xfrm>
          <a:prstGeom prst="rect">
            <a:avLst/>
          </a:prstGeom>
        </p:spPr>
        <p:txBody>
          <a:bodyPr vert="horz" lIns="91440" tIns="45720" rIns="91440" bIns="45720" rtlCol="0" anchor="ctr"/>
          <a:lstStyle>
            <a:lvl1pPr algn="l">
              <a:defRPr sz="3840">
                <a:solidFill>
                  <a:schemeClr val="tx1">
                    <a:tint val="75000"/>
                  </a:schemeClr>
                </a:solidFill>
              </a:defRPr>
            </a:lvl1pPr>
          </a:lstStyle>
          <a:p>
            <a:pPr>
              <a:defRPr/>
            </a:pPr>
            <a:endParaRPr lang="en-US" altLang="en-US"/>
          </a:p>
        </p:txBody>
      </p:sp>
      <p:sp>
        <p:nvSpPr>
          <p:cNvPr id="5" name="Footer Placeholder 4"/>
          <p:cNvSpPr>
            <a:spLocks noGrp="1"/>
          </p:cNvSpPr>
          <p:nvPr>
            <p:ph type="ftr" sz="quarter" idx="3"/>
          </p:nvPr>
        </p:nvSpPr>
        <p:spPr>
          <a:xfrm>
            <a:off x="10298430" y="20340325"/>
            <a:ext cx="10492740" cy="1168400"/>
          </a:xfrm>
          <a:prstGeom prst="rect">
            <a:avLst/>
          </a:prstGeom>
        </p:spPr>
        <p:txBody>
          <a:bodyPr vert="horz" lIns="91440" tIns="45720" rIns="91440" bIns="45720" rtlCol="0" anchor="ctr"/>
          <a:lstStyle>
            <a:lvl1pPr algn="ctr">
              <a:defRPr sz="3840">
                <a:solidFill>
                  <a:schemeClr val="tx1">
                    <a:tint val="75000"/>
                  </a:schemeClr>
                </a:solidFill>
              </a:defRPr>
            </a:lvl1pPr>
          </a:lstStyle>
          <a:p>
            <a:pPr>
              <a:defRPr/>
            </a:pPr>
            <a:endParaRPr lang="en-US" altLang="en-US"/>
          </a:p>
        </p:txBody>
      </p:sp>
      <p:sp>
        <p:nvSpPr>
          <p:cNvPr id="6" name="Slide Number Placeholder 5"/>
          <p:cNvSpPr>
            <a:spLocks noGrp="1"/>
          </p:cNvSpPr>
          <p:nvPr>
            <p:ph type="sldNum" sz="quarter" idx="4"/>
          </p:nvPr>
        </p:nvSpPr>
        <p:spPr>
          <a:xfrm>
            <a:off x="21957030" y="20340325"/>
            <a:ext cx="6995160" cy="1168400"/>
          </a:xfrm>
          <a:prstGeom prst="rect">
            <a:avLst/>
          </a:prstGeom>
        </p:spPr>
        <p:txBody>
          <a:bodyPr vert="horz" lIns="91440" tIns="45720" rIns="91440" bIns="45720" rtlCol="0" anchor="ctr"/>
          <a:lstStyle>
            <a:lvl1pPr algn="r">
              <a:defRPr sz="3840">
                <a:solidFill>
                  <a:schemeClr val="tx1">
                    <a:tint val="75000"/>
                  </a:schemeClr>
                </a:solidFill>
              </a:defRPr>
            </a:lvl1pPr>
          </a:lstStyle>
          <a:p>
            <a:fld id="{526495AE-97DF-403D-B20F-BDC3AFF068C2}" type="slidenum">
              <a:rPr lang="en-US" altLang="en-US" smtClean="0"/>
              <a:pPr/>
              <a:t>‹#›</a:t>
            </a:fld>
            <a:endParaRPr lang="en-US" altLang="en-US"/>
          </a:p>
        </p:txBody>
      </p:sp>
    </p:spTree>
    <p:extLst>
      <p:ext uri="{BB962C8B-B14F-4D97-AF65-F5344CB8AC3E}">
        <p14:creationId xmlns:p14="http://schemas.microsoft.com/office/powerpoint/2010/main" val="160694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926080" rtl="0" eaLnBrk="1" latinLnBrk="0" hangingPunct="1">
        <a:lnSpc>
          <a:spcPct val="90000"/>
        </a:lnSpc>
        <a:spcBef>
          <a:spcPct val="0"/>
        </a:spcBef>
        <a:buNone/>
        <a:defRPr sz="14080" kern="1200">
          <a:solidFill>
            <a:schemeClr val="tx1"/>
          </a:solidFill>
          <a:latin typeface="+mj-lt"/>
          <a:ea typeface="+mj-ea"/>
          <a:cs typeface="+mj-cs"/>
        </a:defRPr>
      </a:lvl1pPr>
    </p:titleStyle>
    <p:bodyStyle>
      <a:lvl1pPr marL="731520" indent="-731520" algn="l" defTabSz="2926080" rtl="0" eaLnBrk="1" latinLnBrk="0" hangingPunct="1">
        <a:lnSpc>
          <a:spcPct val="90000"/>
        </a:lnSpc>
        <a:spcBef>
          <a:spcPts val="3200"/>
        </a:spcBef>
        <a:buFont typeface="Arial" panose="020B0604020202020204" pitchFamily="34" charset="0"/>
        <a:buChar char="•"/>
        <a:defRPr sz="8960" kern="1200">
          <a:solidFill>
            <a:schemeClr val="tx1"/>
          </a:solidFill>
          <a:latin typeface="+mn-lt"/>
          <a:ea typeface="+mn-ea"/>
          <a:cs typeface="+mn-cs"/>
        </a:defRPr>
      </a:lvl1pPr>
      <a:lvl2pPr marL="2194560" indent="-731520" algn="l" defTabSz="2926080" rtl="0" eaLnBrk="1" latinLnBrk="0" hangingPunct="1">
        <a:lnSpc>
          <a:spcPct val="90000"/>
        </a:lnSpc>
        <a:spcBef>
          <a:spcPts val="1600"/>
        </a:spcBef>
        <a:buFont typeface="Arial" panose="020B0604020202020204" pitchFamily="34" charset="0"/>
        <a:buChar char="•"/>
        <a:defRPr sz="7680" kern="1200">
          <a:solidFill>
            <a:schemeClr val="tx1"/>
          </a:solidFill>
          <a:latin typeface="+mn-lt"/>
          <a:ea typeface="+mn-ea"/>
          <a:cs typeface="+mn-cs"/>
        </a:defRPr>
      </a:lvl2pPr>
      <a:lvl3pPr marL="3657600" indent="-731520" algn="l" defTabSz="2926080" rtl="0" eaLnBrk="1" latinLnBrk="0" hangingPunct="1">
        <a:lnSpc>
          <a:spcPct val="90000"/>
        </a:lnSpc>
        <a:spcBef>
          <a:spcPts val="1600"/>
        </a:spcBef>
        <a:buFont typeface="Arial" panose="020B0604020202020204" pitchFamily="34" charset="0"/>
        <a:buChar char="•"/>
        <a:defRPr sz="6400" kern="1200">
          <a:solidFill>
            <a:schemeClr val="tx1"/>
          </a:solidFill>
          <a:latin typeface="+mn-lt"/>
          <a:ea typeface="+mn-ea"/>
          <a:cs typeface="+mn-cs"/>
        </a:defRPr>
      </a:lvl3pPr>
      <a:lvl4pPr marL="51206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4pPr>
      <a:lvl5pPr marL="658368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5pPr>
      <a:lvl6pPr marL="804672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6pPr>
      <a:lvl7pPr marL="950976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7pPr>
      <a:lvl8pPr marL="1097280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8pPr>
      <a:lvl9pPr marL="12435840" indent="-731520" algn="l" defTabSz="2926080" rtl="0" eaLnBrk="1" latinLnBrk="0" hangingPunct="1">
        <a:lnSpc>
          <a:spcPct val="90000"/>
        </a:lnSpc>
        <a:spcBef>
          <a:spcPts val="1600"/>
        </a:spcBef>
        <a:buFont typeface="Arial" panose="020B0604020202020204" pitchFamily="34" charset="0"/>
        <a:buChar char="•"/>
        <a:defRPr sz="5760" kern="1200">
          <a:solidFill>
            <a:schemeClr val="tx1"/>
          </a:solidFill>
          <a:latin typeface="+mn-lt"/>
          <a:ea typeface="+mn-ea"/>
          <a:cs typeface="+mn-cs"/>
        </a:defRPr>
      </a:lvl9pPr>
    </p:bodyStyle>
    <p:otherStyle>
      <a:defPPr>
        <a:defRPr lang="en-US"/>
      </a:defPPr>
      <a:lvl1pPr marL="0" algn="l" defTabSz="2926080" rtl="0" eaLnBrk="1" latinLnBrk="0" hangingPunct="1">
        <a:defRPr sz="5760" kern="1200">
          <a:solidFill>
            <a:schemeClr val="tx1"/>
          </a:solidFill>
          <a:latin typeface="+mn-lt"/>
          <a:ea typeface="+mn-ea"/>
          <a:cs typeface="+mn-cs"/>
        </a:defRPr>
      </a:lvl1pPr>
      <a:lvl2pPr marL="1463040" algn="l" defTabSz="2926080" rtl="0" eaLnBrk="1" latinLnBrk="0" hangingPunct="1">
        <a:defRPr sz="5760" kern="1200">
          <a:solidFill>
            <a:schemeClr val="tx1"/>
          </a:solidFill>
          <a:latin typeface="+mn-lt"/>
          <a:ea typeface="+mn-ea"/>
          <a:cs typeface="+mn-cs"/>
        </a:defRPr>
      </a:lvl2pPr>
      <a:lvl3pPr marL="2926080" algn="l" defTabSz="2926080" rtl="0" eaLnBrk="1" latinLnBrk="0" hangingPunct="1">
        <a:defRPr sz="5760" kern="1200">
          <a:solidFill>
            <a:schemeClr val="tx1"/>
          </a:solidFill>
          <a:latin typeface="+mn-lt"/>
          <a:ea typeface="+mn-ea"/>
          <a:cs typeface="+mn-cs"/>
        </a:defRPr>
      </a:lvl3pPr>
      <a:lvl4pPr marL="4389120" algn="l" defTabSz="2926080" rtl="0" eaLnBrk="1" latinLnBrk="0" hangingPunct="1">
        <a:defRPr sz="5760" kern="1200">
          <a:solidFill>
            <a:schemeClr val="tx1"/>
          </a:solidFill>
          <a:latin typeface="+mn-lt"/>
          <a:ea typeface="+mn-ea"/>
          <a:cs typeface="+mn-cs"/>
        </a:defRPr>
      </a:lvl4pPr>
      <a:lvl5pPr marL="5852160" algn="l" defTabSz="2926080" rtl="0" eaLnBrk="1" latinLnBrk="0" hangingPunct="1">
        <a:defRPr sz="5760" kern="1200">
          <a:solidFill>
            <a:schemeClr val="tx1"/>
          </a:solidFill>
          <a:latin typeface="+mn-lt"/>
          <a:ea typeface="+mn-ea"/>
          <a:cs typeface="+mn-cs"/>
        </a:defRPr>
      </a:lvl5pPr>
      <a:lvl6pPr marL="7315200" algn="l" defTabSz="2926080" rtl="0" eaLnBrk="1" latinLnBrk="0" hangingPunct="1">
        <a:defRPr sz="5760" kern="1200">
          <a:solidFill>
            <a:schemeClr val="tx1"/>
          </a:solidFill>
          <a:latin typeface="+mn-lt"/>
          <a:ea typeface="+mn-ea"/>
          <a:cs typeface="+mn-cs"/>
        </a:defRPr>
      </a:lvl6pPr>
      <a:lvl7pPr marL="8778240" algn="l" defTabSz="2926080" rtl="0" eaLnBrk="1" latinLnBrk="0" hangingPunct="1">
        <a:defRPr sz="5760" kern="1200">
          <a:solidFill>
            <a:schemeClr val="tx1"/>
          </a:solidFill>
          <a:latin typeface="+mn-lt"/>
          <a:ea typeface="+mn-ea"/>
          <a:cs typeface="+mn-cs"/>
        </a:defRPr>
      </a:lvl7pPr>
      <a:lvl8pPr marL="10241280" algn="l" defTabSz="2926080" rtl="0" eaLnBrk="1" latinLnBrk="0" hangingPunct="1">
        <a:defRPr sz="5760" kern="1200">
          <a:solidFill>
            <a:schemeClr val="tx1"/>
          </a:solidFill>
          <a:latin typeface="+mn-lt"/>
          <a:ea typeface="+mn-ea"/>
          <a:cs typeface="+mn-cs"/>
        </a:defRPr>
      </a:lvl8pPr>
      <a:lvl9pPr marL="11704320" algn="l" defTabSz="2926080" rtl="0" eaLnBrk="1" latinLnBrk="0" hangingPunct="1">
        <a:defRPr sz="5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18" Type="http://schemas.openxmlformats.org/officeDocument/2006/relationships/hyperlink" Target="https://ieeexplore.ieee.org/abstract/document/10884759" TargetMode="External"/><Relationship Id="rId3" Type="http://schemas.openxmlformats.org/officeDocument/2006/relationships/image" Target="../media/image2.png"/><Relationship Id="rId21" Type="http://schemas.openxmlformats.org/officeDocument/2006/relationships/hyperlink" Target="https://www.sciencedirect.com/science/article/abs/pii/B9780128166918000200" TargetMode="External"/><Relationship Id="rId7" Type="http://schemas.openxmlformats.org/officeDocument/2006/relationships/image" Target="../media/image6.jpeg"/><Relationship Id="rId12" Type="http://schemas.openxmlformats.org/officeDocument/2006/relationships/image" Target="../media/image11.jpeg"/><Relationship Id="rId17" Type="http://schemas.openxmlformats.org/officeDocument/2006/relationships/image" Target="../media/image1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hyperlink" Target="https://www.sciencedirect.com/science/article/pii/S2772375524002338" TargetMode="External"/><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jpeg"/><Relationship Id="rId19" Type="http://schemas.openxmlformats.org/officeDocument/2006/relationships/hyperlink" Target="https://www.sciencedirect.com/science/article/abs/pii/S2214785321051531" TargetMode="External"/><Relationship Id="rId4" Type="http://schemas.openxmlformats.org/officeDocument/2006/relationships/image" Target="../media/image3.jpeg"/><Relationship Id="rId9" Type="http://schemas.openxmlformats.org/officeDocument/2006/relationships/image" Target="../media/image8.jpe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CFA9FEE-8D4E-A591-CA5E-7AFC7A209190}"/>
              </a:ext>
            </a:extLst>
          </p:cNvPr>
          <p:cNvSpPr>
            <a:spLocks noChangeArrowheads="1"/>
          </p:cNvSpPr>
          <p:nvPr/>
        </p:nvSpPr>
        <p:spPr bwMode="auto">
          <a:xfrm>
            <a:off x="337418" y="215613"/>
            <a:ext cx="30414764" cy="3541251"/>
          </a:xfrm>
          <a:prstGeom prst="round2DiagRect">
            <a:avLst/>
          </a:prstGeom>
          <a:solidFill>
            <a:schemeClr val="bg1">
              <a:lumMod val="95000"/>
            </a:schemeClr>
          </a:solidFill>
          <a:ln w="9525">
            <a:noFill/>
            <a:miter lim="800000"/>
          </a:ln>
        </p:spPr>
        <p:txBody>
          <a:bodyPr lIns="73147" tIns="36574" rIns="73147" bIns="36574" anchor="ctr"/>
          <a:lstStyle>
            <a:defPPr>
              <a:defRPr kern="1200"/>
            </a:defPPr>
          </a:lstStyle>
          <a:p>
            <a:pPr algn="ctr"/>
            <a:r>
              <a:rPr lang="en-US" sz="8800">
                <a:latin typeface="Aptos Display"/>
              </a:rPr>
              <a:t>Self-Sustaining Hydroponic System</a:t>
            </a:r>
            <a:br>
              <a:rPr lang="en-US" sz="4400">
                <a:latin typeface="Aptos Display"/>
              </a:rPr>
            </a:br>
            <a:r>
              <a:rPr lang="en-US" sz="4800">
                <a:solidFill>
                  <a:srgbClr val="767676"/>
                </a:solidFill>
                <a:latin typeface="Aptos"/>
              </a:rPr>
              <a:t>Cathern (Katie) Barty, Kevin Jacobs, Adam Siegfried, </a:t>
            </a:r>
            <a:endParaRPr lang="en-US" sz="4800">
              <a:solidFill>
                <a:srgbClr val="000000"/>
              </a:solidFill>
              <a:latin typeface="Aptos"/>
            </a:endParaRPr>
          </a:p>
          <a:p>
            <a:pPr algn="ctr"/>
            <a:r>
              <a:rPr lang="en-US" sz="4800">
                <a:solidFill>
                  <a:srgbClr val="767676"/>
                </a:solidFill>
                <a:latin typeface="Aptos"/>
              </a:rPr>
              <a:t>Devin Spiegelberg, Brandon Strait</a:t>
            </a:r>
            <a:endParaRPr lang="en-US" sz="4800">
              <a:latin typeface="Aptos"/>
            </a:endParaRPr>
          </a:p>
        </p:txBody>
      </p:sp>
      <p:sp>
        <p:nvSpPr>
          <p:cNvPr id="4" name="Rectangle 10">
            <a:extLst>
              <a:ext uri="{FF2B5EF4-FFF2-40B4-BE49-F238E27FC236}">
                <a16:creationId xmlns:a16="http://schemas.microsoft.com/office/drawing/2014/main" id="{62EEC462-7E7D-DFDA-F112-4B94BF86D32E}"/>
              </a:ext>
            </a:extLst>
          </p:cNvPr>
          <p:cNvSpPr>
            <a:spLocks noChangeArrowheads="1"/>
          </p:cNvSpPr>
          <p:nvPr/>
        </p:nvSpPr>
        <p:spPr bwMode="auto">
          <a:xfrm>
            <a:off x="8374424" y="4569610"/>
            <a:ext cx="7097489" cy="633704"/>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Methodology and Implementation</a:t>
            </a:r>
          </a:p>
        </p:txBody>
      </p:sp>
      <p:sp>
        <p:nvSpPr>
          <p:cNvPr id="5" name="Rectangle 10">
            <a:extLst>
              <a:ext uri="{FF2B5EF4-FFF2-40B4-BE49-F238E27FC236}">
                <a16:creationId xmlns:a16="http://schemas.microsoft.com/office/drawing/2014/main" id="{4F2B0B02-87E5-E2AF-952D-6C0078B64E22}"/>
              </a:ext>
            </a:extLst>
          </p:cNvPr>
          <p:cNvSpPr>
            <a:spLocks noChangeArrowheads="1"/>
          </p:cNvSpPr>
          <p:nvPr/>
        </p:nvSpPr>
        <p:spPr bwMode="auto">
          <a:xfrm>
            <a:off x="16056741" y="4576145"/>
            <a:ext cx="6632787" cy="582201"/>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Results and Discussion</a:t>
            </a:r>
          </a:p>
        </p:txBody>
      </p:sp>
      <p:sp>
        <p:nvSpPr>
          <p:cNvPr id="6" name="Rectangle 10">
            <a:extLst>
              <a:ext uri="{FF2B5EF4-FFF2-40B4-BE49-F238E27FC236}">
                <a16:creationId xmlns:a16="http://schemas.microsoft.com/office/drawing/2014/main" id="{636398ED-1B1B-341D-5D77-5F757E2670BA}"/>
              </a:ext>
            </a:extLst>
          </p:cNvPr>
          <p:cNvSpPr>
            <a:spLocks noChangeArrowheads="1"/>
          </p:cNvSpPr>
          <p:nvPr/>
        </p:nvSpPr>
        <p:spPr bwMode="auto">
          <a:xfrm>
            <a:off x="23274355" y="4560967"/>
            <a:ext cx="6730998" cy="623968"/>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Conclusion</a:t>
            </a:r>
          </a:p>
        </p:txBody>
      </p:sp>
      <p:sp>
        <p:nvSpPr>
          <p:cNvPr id="7" name="Rectangle 10">
            <a:extLst>
              <a:ext uri="{FF2B5EF4-FFF2-40B4-BE49-F238E27FC236}">
                <a16:creationId xmlns:a16="http://schemas.microsoft.com/office/drawing/2014/main" id="{41256205-A9B0-3314-1DF2-23A5BFFF9107}"/>
              </a:ext>
            </a:extLst>
          </p:cNvPr>
          <p:cNvSpPr>
            <a:spLocks noChangeArrowheads="1"/>
          </p:cNvSpPr>
          <p:nvPr/>
        </p:nvSpPr>
        <p:spPr bwMode="auto">
          <a:xfrm>
            <a:off x="849299" y="14428009"/>
            <a:ext cx="6968067" cy="582201"/>
          </a:xfrm>
          <a:prstGeom prst="round2DiagRect">
            <a:avLst>
              <a:gd name="adj1" fmla="val 30178"/>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Introduction</a:t>
            </a:r>
          </a:p>
        </p:txBody>
      </p:sp>
      <p:sp>
        <p:nvSpPr>
          <p:cNvPr id="8" name="Rectangle 10">
            <a:extLst>
              <a:ext uri="{FF2B5EF4-FFF2-40B4-BE49-F238E27FC236}">
                <a16:creationId xmlns:a16="http://schemas.microsoft.com/office/drawing/2014/main" id="{07E0BC13-539E-376D-6221-DC8776ACA92F}"/>
              </a:ext>
            </a:extLst>
          </p:cNvPr>
          <p:cNvSpPr>
            <a:spLocks noChangeArrowheads="1"/>
          </p:cNvSpPr>
          <p:nvPr/>
        </p:nvSpPr>
        <p:spPr bwMode="auto">
          <a:xfrm>
            <a:off x="23274355" y="10203081"/>
            <a:ext cx="6730998"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References</a:t>
            </a:r>
          </a:p>
        </p:txBody>
      </p:sp>
      <p:sp>
        <p:nvSpPr>
          <p:cNvPr id="14" name="Rectangle 10">
            <a:extLst>
              <a:ext uri="{FF2B5EF4-FFF2-40B4-BE49-F238E27FC236}">
                <a16:creationId xmlns:a16="http://schemas.microsoft.com/office/drawing/2014/main" id="{B3F2B393-920F-D261-A387-10282A2EA52A}"/>
              </a:ext>
            </a:extLst>
          </p:cNvPr>
          <p:cNvSpPr>
            <a:spLocks noChangeArrowheads="1"/>
          </p:cNvSpPr>
          <p:nvPr/>
        </p:nvSpPr>
        <p:spPr bwMode="auto">
          <a:xfrm>
            <a:off x="821529" y="5474542"/>
            <a:ext cx="6968067" cy="8582451"/>
          </a:xfrm>
          <a:prstGeom prst="round2DiagRect">
            <a:avLst>
              <a:gd name="adj1" fmla="val 6827"/>
              <a:gd name="adj2" fmla="val 113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defRPr/>
            </a:pPr>
            <a:endParaRPr lang="en-US" sz="2400" b="1">
              <a:noFill/>
              <a:latin typeface="Quattrocento" panose="02020802030000000404" pitchFamily="18" charset="0"/>
            </a:endParaRPr>
          </a:p>
        </p:txBody>
      </p:sp>
      <p:sp>
        <p:nvSpPr>
          <p:cNvPr id="17" name="Rectangle 10">
            <a:extLst>
              <a:ext uri="{FF2B5EF4-FFF2-40B4-BE49-F238E27FC236}">
                <a16:creationId xmlns:a16="http://schemas.microsoft.com/office/drawing/2014/main" id="{C7540361-BB1D-1F97-AD38-28C1AA546DA4}"/>
              </a:ext>
            </a:extLst>
          </p:cNvPr>
          <p:cNvSpPr>
            <a:spLocks noChangeArrowheads="1"/>
          </p:cNvSpPr>
          <p:nvPr/>
        </p:nvSpPr>
        <p:spPr bwMode="auto">
          <a:xfrm>
            <a:off x="8374424" y="5474543"/>
            <a:ext cx="7097490" cy="16064658"/>
          </a:xfrm>
          <a:prstGeom prst="round2DiagRect">
            <a:avLst>
              <a:gd name="adj1" fmla="val 6827"/>
              <a:gd name="adj2" fmla="val 1423"/>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19" name="Rectangle 10">
            <a:extLst>
              <a:ext uri="{FF2B5EF4-FFF2-40B4-BE49-F238E27FC236}">
                <a16:creationId xmlns:a16="http://schemas.microsoft.com/office/drawing/2014/main" id="{55D80D3B-B48E-B2C9-F144-96673EADEE9C}"/>
              </a:ext>
            </a:extLst>
          </p:cNvPr>
          <p:cNvSpPr>
            <a:spLocks noChangeArrowheads="1"/>
          </p:cNvSpPr>
          <p:nvPr/>
        </p:nvSpPr>
        <p:spPr bwMode="auto">
          <a:xfrm>
            <a:off x="23274355" y="5474542"/>
            <a:ext cx="6730998" cy="4482258"/>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panose="02020802030000000404" pitchFamily="18" charset="0"/>
            </a:endParaRPr>
          </a:p>
        </p:txBody>
      </p:sp>
      <p:sp>
        <p:nvSpPr>
          <p:cNvPr id="20" name="Rectangle 10">
            <a:extLst>
              <a:ext uri="{FF2B5EF4-FFF2-40B4-BE49-F238E27FC236}">
                <a16:creationId xmlns:a16="http://schemas.microsoft.com/office/drawing/2014/main" id="{085BEEBA-5CDB-2CD7-06AC-21DFBE193CBF}"/>
              </a:ext>
            </a:extLst>
          </p:cNvPr>
          <p:cNvSpPr>
            <a:spLocks noChangeArrowheads="1"/>
          </p:cNvSpPr>
          <p:nvPr/>
        </p:nvSpPr>
        <p:spPr bwMode="auto">
          <a:xfrm>
            <a:off x="16056741" y="5474543"/>
            <a:ext cx="6529391" cy="8948307"/>
          </a:xfrm>
          <a:prstGeom prst="round2DiagRect">
            <a:avLst>
              <a:gd name="adj1" fmla="val 6827"/>
              <a:gd name="adj2" fmla="val 1556"/>
            </a:avLst>
          </a:prstGeom>
          <a:solidFill>
            <a:schemeClr val="bg1">
              <a:lumMod val="95000"/>
            </a:schemeClr>
          </a:solidFill>
          <a:ln w="12700">
            <a:noFill/>
            <a:miter lim="800000"/>
          </a:ln>
        </p:spPr>
        <p:txBody>
          <a:bodyPr wrap="none" lIns="182880" tIns="48768" rIns="182880" bIns="45709" anchor="t" anchorCtr="0"/>
          <a:lstStyle>
            <a:defPPr>
              <a:defRPr kern="1200"/>
            </a:defPPr>
          </a:lstStyle>
          <a:p>
            <a:pPr defTabSz="3135215"/>
            <a:endParaRPr lang="en-US" sz="1600">
              <a:solidFill>
                <a:srgbClr val="000000"/>
              </a:solidFill>
              <a:latin typeface="Aptos"/>
            </a:endParaRPr>
          </a:p>
          <a:p>
            <a:pPr algn="ctr" defTabSz="3135215"/>
            <a:endParaRPr lang="en-US" sz="2400">
              <a:noFill/>
              <a:latin typeface="Quattrocento"/>
            </a:endParaRPr>
          </a:p>
          <a:p>
            <a:pPr algn="ctr" defTabSz="3135215"/>
            <a:endParaRPr lang="en-US" sz="2400" b="1">
              <a:noFill/>
              <a:latin typeface="Quattrocento"/>
            </a:endParaRPr>
          </a:p>
          <a:p>
            <a:pPr algn="ctr" defTabSz="3135215"/>
            <a:endParaRPr lang="en-US" sz="2400" b="1">
              <a:noFill/>
              <a:latin typeface="Quattrocento"/>
            </a:endParaRPr>
          </a:p>
        </p:txBody>
      </p:sp>
      <p:sp>
        <p:nvSpPr>
          <p:cNvPr id="21" name="Rectangle 10">
            <a:extLst>
              <a:ext uri="{FF2B5EF4-FFF2-40B4-BE49-F238E27FC236}">
                <a16:creationId xmlns:a16="http://schemas.microsoft.com/office/drawing/2014/main" id="{C8443A62-DD12-B4DF-3D4D-DF311ABE0DCB}"/>
              </a:ext>
            </a:extLst>
          </p:cNvPr>
          <p:cNvSpPr>
            <a:spLocks noChangeArrowheads="1"/>
          </p:cNvSpPr>
          <p:nvPr/>
        </p:nvSpPr>
        <p:spPr bwMode="auto">
          <a:xfrm>
            <a:off x="821530" y="15198104"/>
            <a:ext cx="6968068" cy="6341098"/>
          </a:xfrm>
          <a:prstGeom prst="round2DiagRect">
            <a:avLst>
              <a:gd name="adj1" fmla="val 9345"/>
              <a:gd name="adj2" fmla="val 2976"/>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ctr" defTabSz="3135215"/>
            <a:endParaRPr lang="en-US" sz="2400" b="1">
              <a:noFill/>
              <a:latin typeface="Quattrocento"/>
            </a:endParaRPr>
          </a:p>
        </p:txBody>
      </p:sp>
      <p:sp>
        <p:nvSpPr>
          <p:cNvPr id="22" name="Rectangle 10">
            <a:extLst>
              <a:ext uri="{FF2B5EF4-FFF2-40B4-BE49-F238E27FC236}">
                <a16:creationId xmlns:a16="http://schemas.microsoft.com/office/drawing/2014/main" id="{02D32A73-8566-BD19-AA5F-CF4418B1357A}"/>
              </a:ext>
            </a:extLst>
          </p:cNvPr>
          <p:cNvSpPr>
            <a:spLocks noChangeArrowheads="1"/>
          </p:cNvSpPr>
          <p:nvPr/>
        </p:nvSpPr>
        <p:spPr bwMode="auto">
          <a:xfrm>
            <a:off x="23274355" y="14780621"/>
            <a:ext cx="6730998"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dirty="0">
                <a:solidFill>
                  <a:schemeClr val="bg1"/>
                </a:solidFill>
                <a:latin typeface="Quattrocento" panose="02020802030000000404" pitchFamily="18" charset="0"/>
              </a:rPr>
              <a:t>Project Team</a:t>
            </a:r>
          </a:p>
        </p:txBody>
      </p:sp>
      <p:pic>
        <p:nvPicPr>
          <p:cNvPr id="3078" name="Picture 6">
            <a:extLst>
              <a:ext uri="{FF2B5EF4-FFF2-40B4-BE49-F238E27FC236}">
                <a16:creationId xmlns:a16="http://schemas.microsoft.com/office/drawing/2014/main" id="{D414772E-614C-C824-438C-924E7FD4C4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39" y="910131"/>
            <a:ext cx="5318761" cy="154778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10">
            <a:extLst>
              <a:ext uri="{FF2B5EF4-FFF2-40B4-BE49-F238E27FC236}">
                <a16:creationId xmlns:a16="http://schemas.microsoft.com/office/drawing/2014/main" id="{3BDD11BB-3B2D-4E34-784B-7827A6C68691}"/>
              </a:ext>
            </a:extLst>
          </p:cNvPr>
          <p:cNvSpPr>
            <a:spLocks noChangeArrowheads="1"/>
          </p:cNvSpPr>
          <p:nvPr/>
        </p:nvSpPr>
        <p:spPr bwMode="auto">
          <a:xfrm>
            <a:off x="23274355" y="19178437"/>
            <a:ext cx="6730998"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Acknowledgements</a:t>
            </a:r>
          </a:p>
        </p:txBody>
      </p:sp>
      <p:sp>
        <p:nvSpPr>
          <p:cNvPr id="26" name="Rectangle 10">
            <a:extLst>
              <a:ext uri="{FF2B5EF4-FFF2-40B4-BE49-F238E27FC236}">
                <a16:creationId xmlns:a16="http://schemas.microsoft.com/office/drawing/2014/main" id="{7973899A-7636-87C4-2A13-FF8D33D321F5}"/>
              </a:ext>
            </a:extLst>
          </p:cNvPr>
          <p:cNvSpPr>
            <a:spLocks noChangeArrowheads="1"/>
          </p:cNvSpPr>
          <p:nvPr/>
        </p:nvSpPr>
        <p:spPr bwMode="auto">
          <a:xfrm>
            <a:off x="23274355" y="19884571"/>
            <a:ext cx="6730998" cy="1673939"/>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defTabSz="3135215"/>
            <a:endParaRPr lang="en-US" sz="2400" b="1">
              <a:latin typeface="Quattrocento"/>
            </a:endParaRPr>
          </a:p>
          <a:p>
            <a:pPr defTabSz="3135215"/>
            <a:r>
              <a:rPr lang="en-US" sz="2400" b="1">
                <a:latin typeface="Quattrocento"/>
              </a:rPr>
              <a:t>Funding Source: </a:t>
            </a:r>
            <a:r>
              <a:rPr lang="en-US" sz="2000">
                <a:latin typeface="Quattrocento"/>
              </a:rPr>
              <a:t>Center for Undergraduate </a:t>
            </a:r>
          </a:p>
          <a:p>
            <a:pPr defTabSz="3135215"/>
            <a:r>
              <a:rPr lang="en-US" sz="2000">
                <a:latin typeface="Quattrocento"/>
              </a:rPr>
              <a:t>Research and Scholarship (CURS)</a:t>
            </a:r>
          </a:p>
          <a:p>
            <a:pPr defTabSz="3135215"/>
            <a:endParaRPr lang="en-US" sz="1100" b="1">
              <a:latin typeface="Quattrocento" panose="02020802030000000404" pitchFamily="18" charset="0"/>
            </a:endParaRPr>
          </a:p>
          <a:p>
            <a:pPr defTabSz="3135215"/>
            <a:r>
              <a:rPr lang="en-US" sz="2000" b="1">
                <a:latin typeface="Quattrocento"/>
              </a:rPr>
              <a:t>Dr. Muteb </a:t>
            </a:r>
            <a:r>
              <a:rPr lang="en-US" sz="2000" b="1" err="1">
                <a:latin typeface="Quattrocento"/>
              </a:rPr>
              <a:t>Aljasem</a:t>
            </a:r>
            <a:endParaRPr lang="en-US" sz="2000" b="1">
              <a:latin typeface="Quattrocento"/>
            </a:endParaRPr>
          </a:p>
          <a:p>
            <a:pPr defTabSz="3135215"/>
            <a:r>
              <a:rPr lang="en-US" sz="2000" b="1">
                <a:latin typeface="Quattrocento"/>
              </a:rPr>
              <a:t>Dr. Sonia Chacko</a:t>
            </a:r>
          </a:p>
          <a:p>
            <a:pPr algn="ctr" defTabSz="3135215"/>
            <a:endParaRPr lang="en-US" sz="2400" b="1">
              <a:latin typeface="Quattrocento" panose="02020802030000000404" pitchFamily="18" charset="0"/>
            </a:endParaRPr>
          </a:p>
        </p:txBody>
      </p:sp>
      <p:sp>
        <p:nvSpPr>
          <p:cNvPr id="3" name="Rectangle 10">
            <a:extLst>
              <a:ext uri="{FF2B5EF4-FFF2-40B4-BE49-F238E27FC236}">
                <a16:creationId xmlns:a16="http://schemas.microsoft.com/office/drawing/2014/main" id="{2322E805-983F-9253-3B0A-5F5DDC88459B}"/>
              </a:ext>
            </a:extLst>
          </p:cNvPr>
          <p:cNvSpPr>
            <a:spLocks noChangeArrowheads="1"/>
          </p:cNvSpPr>
          <p:nvPr/>
        </p:nvSpPr>
        <p:spPr bwMode="auto">
          <a:xfrm>
            <a:off x="821530" y="4560981"/>
            <a:ext cx="6968066" cy="623968"/>
          </a:xfrm>
          <a:prstGeom prst="round2DiagRect">
            <a:avLst>
              <a:gd name="adj1" fmla="val 30177"/>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Abstract</a:t>
            </a:r>
          </a:p>
        </p:txBody>
      </p:sp>
      <p:sp>
        <p:nvSpPr>
          <p:cNvPr id="23" name="TextBox 22">
            <a:extLst>
              <a:ext uri="{FF2B5EF4-FFF2-40B4-BE49-F238E27FC236}">
                <a16:creationId xmlns:a16="http://schemas.microsoft.com/office/drawing/2014/main" id="{370C77B2-6C88-9C71-7BB3-FBABF6DDFBEA}"/>
              </a:ext>
            </a:extLst>
          </p:cNvPr>
          <p:cNvSpPr txBox="1"/>
          <p:nvPr/>
        </p:nvSpPr>
        <p:spPr>
          <a:xfrm>
            <a:off x="8746218" y="5883496"/>
            <a:ext cx="6579887" cy="6047809"/>
          </a:xfrm>
          <a:prstGeom prst="rect">
            <a:avLst/>
          </a:prstGeom>
          <a:noFill/>
        </p:spPr>
        <p:txBody>
          <a:bodyPr wrap="square" lIns="91440" tIns="45720" rIns="91440" bIns="45720" rtlCol="0" anchor="t">
            <a:spAutoFit/>
          </a:bodyPr>
          <a:lstStyle>
            <a:defPPr>
              <a:defRPr kern="1200"/>
            </a:defPPr>
          </a:lstStyle>
          <a:p>
            <a:r>
              <a:rPr lang="en-US" sz="2200">
                <a:latin typeface="Aptos"/>
                <a:ea typeface="Open Sans"/>
                <a:cs typeface="Open Sans"/>
              </a:rPr>
              <a:t>The HMI element of the robot features several screens that offer a variety of options to the end user.</a:t>
            </a:r>
          </a:p>
          <a:p>
            <a:endParaRPr lang="en-US" sz="1600">
              <a:latin typeface="Aptos"/>
              <a:ea typeface="Open Sans" panose="020B0606030504020204" pitchFamily="34" charset="0"/>
              <a:cs typeface="Open Sans" panose="020B0606030504020204" pitchFamily="34" charset="0"/>
            </a:endParaRPr>
          </a:p>
          <a:p>
            <a:r>
              <a:rPr lang="en-US" sz="1600">
                <a:latin typeface="Aptos"/>
                <a:ea typeface="Open Sans"/>
                <a:cs typeface="Open Sans"/>
              </a:rPr>
              <a:t>The main menu has basic plant </a:t>
            </a:r>
          </a:p>
          <a:p>
            <a:r>
              <a:rPr lang="en-US" sz="1600">
                <a:latin typeface="Aptos"/>
                <a:ea typeface="Open Sans"/>
                <a:cs typeface="Open Sans"/>
              </a:rPr>
              <a:t>and system information, as </a:t>
            </a:r>
          </a:p>
          <a:p>
            <a:r>
              <a:rPr lang="en-US" sz="1600">
                <a:latin typeface="Aptos"/>
                <a:ea typeface="Open Sans"/>
                <a:cs typeface="Open Sans"/>
              </a:rPr>
              <a:t>well as links to in-depth </a:t>
            </a:r>
          </a:p>
          <a:p>
            <a:r>
              <a:rPr lang="en-US" sz="1600">
                <a:latin typeface="Aptos"/>
                <a:ea typeface="Open Sans"/>
                <a:cs typeface="Open Sans"/>
              </a:rPr>
              <a:t>screens</a:t>
            </a:r>
          </a:p>
          <a:p>
            <a:r>
              <a:rPr lang="en-US" sz="1600">
                <a:latin typeface="Aptos"/>
                <a:ea typeface="Open Sans"/>
                <a:cs typeface="Open Sans"/>
              </a:rPr>
              <a:t> </a:t>
            </a:r>
          </a:p>
          <a:p>
            <a:r>
              <a:rPr lang="en-US" sz="1600">
                <a:latin typeface="Aptos"/>
                <a:ea typeface="Open Sans"/>
                <a:cs typeface="Open Sans"/>
              </a:rPr>
              <a:t>Individual plant screens have </a:t>
            </a:r>
          </a:p>
          <a:p>
            <a:r>
              <a:rPr lang="en-US" sz="1600">
                <a:latin typeface="Aptos"/>
                <a:ea typeface="Open Sans"/>
                <a:cs typeface="Open Sans"/>
              </a:rPr>
              <a:t>settings for each plant and</a:t>
            </a:r>
          </a:p>
          <a:p>
            <a:r>
              <a:rPr lang="en-US" sz="1600">
                <a:latin typeface="Aptos"/>
                <a:ea typeface="Open Sans"/>
                <a:cs typeface="Open Sans"/>
              </a:rPr>
              <a:t>specific growth data</a:t>
            </a:r>
          </a:p>
          <a:p>
            <a:pPr marL="285750" indent="-285750">
              <a:buFont typeface="Arial,Sans-Serif"/>
              <a:buChar char="•"/>
            </a:pPr>
            <a:endParaRPr lang="en-US" sz="1600">
              <a:latin typeface="Aptos"/>
              <a:ea typeface="Open Sans" panose="020B0606030504020204" pitchFamily="34" charset="0"/>
              <a:cs typeface="Open Sans" panose="020B0606030504020204" pitchFamily="34" charset="0"/>
            </a:endParaRPr>
          </a:p>
          <a:p>
            <a:pPr marL="285750" indent="-285750">
              <a:buFont typeface="Arial,Sans-Serif"/>
              <a:buChar char="•"/>
            </a:pPr>
            <a:endParaRPr lang="en-US" sz="1600">
              <a:latin typeface="Aptos"/>
              <a:ea typeface="Open Sans" panose="020B0606030504020204" pitchFamily="34" charset="0"/>
              <a:cs typeface="Open Sans" panose="020B0606030504020204" pitchFamily="34" charset="0"/>
            </a:endParaRPr>
          </a:p>
          <a:p>
            <a:endParaRPr lang="en-US" sz="1600">
              <a:latin typeface="Aptos"/>
              <a:ea typeface="Open Sans"/>
              <a:cs typeface="Open Sans"/>
            </a:endParaRPr>
          </a:p>
          <a:p>
            <a:endParaRPr lang="en-US" sz="200">
              <a:latin typeface="Aptos"/>
              <a:ea typeface="Open Sans"/>
              <a:cs typeface="Open Sans"/>
            </a:endParaRPr>
          </a:p>
          <a:p>
            <a:r>
              <a:rPr lang="en-US" sz="2200">
                <a:latin typeface="Aptos"/>
                <a:ea typeface="Open Sans"/>
                <a:cs typeface="Open Sans"/>
              </a:rPr>
              <a:t>The PLC Program acts as the main processor for the Self-Sustaining System, relaying information between the Robot, Camera, and HMI while keeping track of the robot’s status and plant values.</a:t>
            </a:r>
            <a:endParaRPr lang="en-US" sz="2200"/>
          </a:p>
          <a:p>
            <a:pPr marL="285750" indent="-285750">
              <a:buFont typeface="Arial,Sans-Serif"/>
              <a:buChar char="•"/>
            </a:pPr>
            <a:endParaRPr lang="en-US" sz="1600">
              <a:latin typeface="Aptos"/>
              <a:ea typeface="Open Sans" panose="020B0606030504020204" pitchFamily="34" charset="0"/>
              <a:cs typeface="Open Sans" panose="020B0606030504020204" pitchFamily="34" charset="0"/>
            </a:endParaRPr>
          </a:p>
          <a:p>
            <a:endParaRPr lang="en-US" sz="1600">
              <a:latin typeface="Aptos"/>
              <a:ea typeface="Open Sans" panose="020B0606030504020204" pitchFamily="34" charset="0"/>
              <a:cs typeface="Open Sans" panose="020B0606030504020204" pitchFamily="34" charset="0"/>
            </a:endParaRPr>
          </a:p>
          <a:p>
            <a:endParaRPr lang="en-US">
              <a:latin typeface="Aptos"/>
              <a:ea typeface="Open Sans" panose="020B0606030504020204" pitchFamily="34" charset="0"/>
              <a:cs typeface="Open Sans" panose="020B0606030504020204" pitchFamily="34" charset="0"/>
            </a:endParaRPr>
          </a:p>
          <a:p>
            <a:endParaRPr lang="en-US" sz="1100">
              <a:latin typeface="Quattrocento Sans" panose="020B0502050000020003" pitchFamily="34" charset="0"/>
              <a:ea typeface="Open Sans" panose="020B0606030504020204" pitchFamily="34" charset="0"/>
              <a:cs typeface="Open Sans" panose="020B0606030504020204" pitchFamily="34" charset="0"/>
            </a:endParaRPr>
          </a:p>
        </p:txBody>
      </p:sp>
      <p:sp>
        <p:nvSpPr>
          <p:cNvPr id="24" name="TextBox 23">
            <a:extLst>
              <a:ext uri="{FF2B5EF4-FFF2-40B4-BE49-F238E27FC236}">
                <a16:creationId xmlns:a16="http://schemas.microsoft.com/office/drawing/2014/main" id="{7B33E45B-5D86-A98F-E55B-EE0C0F4FAFAC}"/>
              </a:ext>
            </a:extLst>
          </p:cNvPr>
          <p:cNvSpPr txBox="1"/>
          <p:nvPr/>
        </p:nvSpPr>
        <p:spPr>
          <a:xfrm>
            <a:off x="23591430" y="5627784"/>
            <a:ext cx="6096000" cy="4324261"/>
          </a:xfrm>
          <a:prstGeom prst="rect">
            <a:avLst/>
          </a:prstGeom>
          <a:noFill/>
        </p:spPr>
        <p:txBody>
          <a:bodyPr wrap="square" lIns="91440" tIns="45720" rIns="91440" bIns="45720" rtlCol="0" anchor="t">
            <a:spAutoFit/>
          </a:bodyPr>
          <a:lstStyle>
            <a:defPPr>
              <a:defRPr kern="1200"/>
            </a:defPPr>
          </a:lstStyle>
          <a:p>
            <a:r>
              <a:rPr lang="en-US" sz="2200">
                <a:latin typeface="Aptos"/>
                <a:ea typeface="Open Sans"/>
                <a:cs typeface="Open Sans"/>
              </a:rPr>
              <a:t>The project aimed to create a self-sustaining hydroponic system utilizing a Fanuc robot, a PLC (Programmable Logic Controller)to grow crops with minimal intervention. Through numerous trials and errors, we overcame challenges such as establishing communication between the robot, PLC,  determining the correct outputs of the robot  to align them with the PLC’s inputs, and synchronizing the plant count between the PLC and the robot. Ultimately, this project successfully met its original goals, and the system's function performs admirably. </a:t>
            </a:r>
          </a:p>
          <a:p>
            <a:endParaRPr lang="en-US" sz="1100">
              <a:latin typeface="Quattrocento Sans" panose="020B0502050000020003" pitchFamily="34" charset="0"/>
              <a:ea typeface="Open Sans" panose="020B0606030504020204" pitchFamily="34" charset="0"/>
              <a:cs typeface="Open Sans" panose="020B0606030504020204" pitchFamily="34" charset="0"/>
            </a:endParaRPr>
          </a:p>
        </p:txBody>
      </p:sp>
      <p:pic>
        <p:nvPicPr>
          <p:cNvPr id="28" name="Picture 27" descr="A black and orange letter&#10;&#10;AI-generated content may be incorrect.">
            <a:extLst>
              <a:ext uri="{FF2B5EF4-FFF2-40B4-BE49-F238E27FC236}">
                <a16:creationId xmlns:a16="http://schemas.microsoft.com/office/drawing/2014/main" id="{A9F8526F-8656-CD5D-B24B-53101F7B7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9855" y="1023840"/>
            <a:ext cx="5318761" cy="1521452"/>
          </a:xfrm>
          <a:prstGeom prst="rect">
            <a:avLst/>
          </a:prstGeom>
        </p:spPr>
      </p:pic>
      <p:sp>
        <p:nvSpPr>
          <p:cNvPr id="29" name="TextBox 28">
            <a:extLst>
              <a:ext uri="{FF2B5EF4-FFF2-40B4-BE49-F238E27FC236}">
                <a16:creationId xmlns:a16="http://schemas.microsoft.com/office/drawing/2014/main" id="{F0DE80D1-49BE-1DB9-57E3-4D844F5E563E}"/>
              </a:ext>
            </a:extLst>
          </p:cNvPr>
          <p:cNvSpPr txBox="1"/>
          <p:nvPr/>
        </p:nvSpPr>
        <p:spPr>
          <a:xfrm>
            <a:off x="1128240" y="15526012"/>
            <a:ext cx="6400800" cy="6104235"/>
          </a:xfrm>
          <a:prstGeom prst="rect">
            <a:avLst/>
          </a:prstGeom>
          <a:noFill/>
        </p:spPr>
        <p:txBody>
          <a:bodyPr wrap="square" lIns="91440" tIns="45720" rIns="91440" bIns="45720" rtlCol="0" anchor="t">
            <a:spAutoFit/>
          </a:bodyPr>
          <a:lstStyle>
            <a:defPPr>
              <a:defRPr kern="1200"/>
            </a:defPPr>
          </a:lstStyle>
          <a:p>
            <a:pPr>
              <a:spcBef>
                <a:spcPts val="1000"/>
              </a:spcBef>
            </a:pPr>
            <a:r>
              <a:rPr lang="en-US" sz="2200">
                <a:latin typeface="Aptos"/>
                <a:ea typeface="Open Sans"/>
                <a:cs typeface="Open Sans"/>
              </a:rPr>
              <a:t>Food scarcity remains a significant issue in the world and particularly the United States. A major contributor to this issue are food deserts: Food deserts are areas where access to nutritious and affordable food is severely limited. Surprisingly, food deserts are most common in urban areas. This development is due to limited space forcing urban areas to import produce which is also insufficiently transported.</a:t>
            </a:r>
          </a:p>
          <a:p>
            <a:pPr>
              <a:spcBef>
                <a:spcPts val="1000"/>
              </a:spcBef>
            </a:pPr>
            <a:endParaRPr lang="en-US" sz="2200">
              <a:latin typeface="Aptos"/>
              <a:ea typeface="Open Sans"/>
              <a:cs typeface="Open Sans"/>
            </a:endParaRPr>
          </a:p>
          <a:p>
            <a:pPr>
              <a:spcBef>
                <a:spcPts val="1000"/>
              </a:spcBef>
            </a:pPr>
            <a:r>
              <a:rPr lang="en-US" sz="2200">
                <a:solidFill>
                  <a:srgbClr val="0E101A"/>
                </a:solidFill>
                <a:latin typeface="Aptos"/>
                <a:ea typeface="Open Sans"/>
                <a:cs typeface="Open Sans"/>
              </a:rPr>
              <a:t>This project aims to combat food scarcity by using robotics in hydroponic farming. By automating the planting and harvesting process, it creates a self-sustaining farming method, ensuring a more reliable and local source of healthy fruits and vegetables in urban areas.</a:t>
            </a:r>
            <a:endParaRPr lang="en-US" sz="2200">
              <a:latin typeface="Aptos"/>
              <a:ea typeface="Open Sans"/>
              <a:cs typeface="Open Sans"/>
            </a:endParaRPr>
          </a:p>
          <a:p>
            <a:endParaRPr lang="en-US" sz="2200">
              <a:latin typeface="Quattrocento Sans"/>
              <a:ea typeface="Open Sans"/>
              <a:cs typeface="Open Sans"/>
            </a:endParaRPr>
          </a:p>
        </p:txBody>
      </p:sp>
      <p:sp>
        <p:nvSpPr>
          <p:cNvPr id="31" name="Rectangle 10">
            <a:extLst>
              <a:ext uri="{FF2B5EF4-FFF2-40B4-BE49-F238E27FC236}">
                <a16:creationId xmlns:a16="http://schemas.microsoft.com/office/drawing/2014/main" id="{33C7406B-2A4D-9D5D-812A-3F4DC5137EC4}"/>
              </a:ext>
            </a:extLst>
          </p:cNvPr>
          <p:cNvSpPr>
            <a:spLocks noChangeArrowheads="1"/>
          </p:cNvSpPr>
          <p:nvPr/>
        </p:nvSpPr>
        <p:spPr bwMode="auto">
          <a:xfrm>
            <a:off x="16056741" y="14615902"/>
            <a:ext cx="6507657" cy="582201"/>
          </a:xfrm>
          <a:prstGeom prst="round2DiagRect">
            <a:avLst>
              <a:gd name="adj1" fmla="val 33555"/>
              <a:gd name="adj2" fmla="val 0"/>
            </a:avLst>
          </a:prstGeom>
          <a:solidFill>
            <a:srgbClr val="B41E1E"/>
          </a:solidFill>
          <a:ln w="12700">
            <a:noFill/>
            <a:miter lim="800000"/>
          </a:ln>
        </p:spPr>
        <p:txBody>
          <a:bodyPr wrap="none" lIns="182880" tIns="48768" rIns="182880" bIns="45709" anchor="ctr" anchorCtr="0"/>
          <a:lstStyle>
            <a:defPPr>
              <a:defRPr kern="1200"/>
            </a:defPPr>
          </a:lstStyle>
          <a:p>
            <a:pPr algn="ctr" defTabSz="3135215">
              <a:defRPr/>
            </a:pPr>
            <a:r>
              <a:rPr lang="en-US" sz="2400" b="1">
                <a:solidFill>
                  <a:schemeClr val="bg1"/>
                </a:solidFill>
                <a:latin typeface="Quattrocento" panose="02020802030000000404" pitchFamily="18" charset="0"/>
              </a:rPr>
              <a:t>Project/Prototype Images</a:t>
            </a:r>
          </a:p>
        </p:txBody>
      </p:sp>
      <p:pic>
        <p:nvPicPr>
          <p:cNvPr id="9" name="Picture 8">
            <a:extLst>
              <a:ext uri="{FF2B5EF4-FFF2-40B4-BE49-F238E27FC236}">
                <a16:creationId xmlns:a16="http://schemas.microsoft.com/office/drawing/2014/main" id="{B09E9F1D-CB3C-D8F5-3402-405AFD4A3430}"/>
              </a:ext>
            </a:extLst>
          </p:cNvPr>
          <p:cNvPicPr>
            <a:picLocks noChangeAspect="1"/>
          </p:cNvPicPr>
          <p:nvPr/>
        </p:nvPicPr>
        <p:blipFill>
          <a:blip r:embed="rId4"/>
          <a:srcRect l="18438" r="8647"/>
          <a:stretch/>
        </p:blipFill>
        <p:spPr>
          <a:xfrm>
            <a:off x="16056741" y="15331963"/>
            <a:ext cx="6466997" cy="6206111"/>
          </a:xfrm>
          <a:prstGeom prst="round2DiagRect">
            <a:avLst>
              <a:gd name="adj1" fmla="val 8980"/>
              <a:gd name="adj2" fmla="val 1637"/>
            </a:avLst>
          </a:prstGeom>
          <a:ln w="88900" cap="sq">
            <a:noFill/>
            <a:miter lim="800000"/>
          </a:ln>
          <a:effectLst/>
        </p:spPr>
      </p:pic>
      <p:pic>
        <p:nvPicPr>
          <p:cNvPr id="11" name="Picture 10" descr="A screenshot of a computer&#10;&#10;AI-generated content may be incorrect.">
            <a:extLst>
              <a:ext uri="{FF2B5EF4-FFF2-40B4-BE49-F238E27FC236}">
                <a16:creationId xmlns:a16="http://schemas.microsoft.com/office/drawing/2014/main" id="{3F1FEF24-3754-CF00-7756-8F18C5A86351}"/>
              </a:ext>
            </a:extLst>
          </p:cNvPr>
          <p:cNvPicPr>
            <a:picLocks noChangeAspect="1"/>
          </p:cNvPicPr>
          <p:nvPr/>
        </p:nvPicPr>
        <p:blipFill>
          <a:blip r:embed="rId5"/>
          <a:stretch>
            <a:fillRect/>
          </a:stretch>
        </p:blipFill>
        <p:spPr>
          <a:xfrm>
            <a:off x="12004476" y="7294368"/>
            <a:ext cx="3382998" cy="2028825"/>
          </a:xfrm>
          <a:prstGeom prst="rect">
            <a:avLst/>
          </a:prstGeom>
        </p:spPr>
      </p:pic>
      <p:sp>
        <p:nvSpPr>
          <p:cNvPr id="27" name="TextBox 26">
            <a:extLst>
              <a:ext uri="{FF2B5EF4-FFF2-40B4-BE49-F238E27FC236}">
                <a16:creationId xmlns:a16="http://schemas.microsoft.com/office/drawing/2014/main" id="{3FD6D263-5DE3-837B-920F-CABC7547C735}"/>
              </a:ext>
            </a:extLst>
          </p:cNvPr>
          <p:cNvSpPr txBox="1"/>
          <p:nvPr/>
        </p:nvSpPr>
        <p:spPr>
          <a:xfrm>
            <a:off x="16259997" y="5640860"/>
            <a:ext cx="6220493" cy="64017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Aptos"/>
              </a:rPr>
              <a:t>The plants are analyzed using a Cognex Insight 7802C camera in conjunction with Insight Explorer software. When the robot analyzes a plant, it takes a picture that is sent to Insight Explorer. The software counts the black pixels, which represent the plant, and sends this value to the PLC. This information is then used to determine the growth stage based on our predefined parameters.</a:t>
            </a:r>
          </a:p>
          <a:p>
            <a:endParaRPr lang="en-US" sz="2200">
              <a:latin typeface="Aptos"/>
            </a:endParaRPr>
          </a:p>
          <a:p>
            <a:r>
              <a:rPr lang="en-US" sz="2200">
                <a:latin typeface="Aptos"/>
              </a:rPr>
              <a:t>The robot analyzes the plants and available slots at the growing station. If a plant is not fully mature, it is left alone while the next slot is examined. Once a plant reaches maturity, it is taken to the "done" station. If a slot is open, a plant is selected from the seedling station and brought to the growing station.</a:t>
            </a:r>
          </a:p>
          <a:p>
            <a:pPr marL="285750" indent="-285750">
              <a:buFont typeface="Arial,Sans-Serif"/>
              <a:buChar char="•"/>
            </a:pPr>
            <a:endParaRPr lang="en-US" sz="2000">
              <a:latin typeface="Aptos"/>
            </a:endParaRPr>
          </a:p>
          <a:p>
            <a:pPr marL="285750" indent="-285750" algn="l">
              <a:buFont typeface="Arial,Sans-Serif"/>
              <a:buChar char="•"/>
            </a:pPr>
            <a:endParaRPr lang="en-US" sz="2000">
              <a:latin typeface="Aptos"/>
              <a:ea typeface="Calibri"/>
              <a:cs typeface="Calibri"/>
            </a:endParaRPr>
          </a:p>
          <a:p>
            <a:endParaRPr lang="en-US">
              <a:ea typeface="Calibri"/>
              <a:cs typeface="Calibri"/>
            </a:endParaRPr>
          </a:p>
        </p:txBody>
      </p:sp>
      <p:pic>
        <p:nvPicPr>
          <p:cNvPr id="34" name="Picture 33" descr="A group of people standing in a room with a machine&#10;&#10;AI-generated content may be incorrect.">
            <a:extLst>
              <a:ext uri="{FF2B5EF4-FFF2-40B4-BE49-F238E27FC236}">
                <a16:creationId xmlns:a16="http://schemas.microsoft.com/office/drawing/2014/main" id="{13EFD679-57FD-CEE8-07E4-640015495150}"/>
              </a:ext>
            </a:extLst>
          </p:cNvPr>
          <p:cNvPicPr>
            <a:picLocks noChangeAspect="1"/>
          </p:cNvPicPr>
          <p:nvPr/>
        </p:nvPicPr>
        <p:blipFill>
          <a:blip r:embed="rId6"/>
          <a:srcRect l="6222" t="18961" r="17552" b="15109"/>
          <a:stretch/>
        </p:blipFill>
        <p:spPr>
          <a:xfrm>
            <a:off x="23751855" y="15323490"/>
            <a:ext cx="5590225" cy="3850792"/>
          </a:xfrm>
          <a:prstGeom prst="round2DiagRect">
            <a:avLst>
              <a:gd name="adj1" fmla="val 11902"/>
              <a:gd name="adj2" fmla="val 0"/>
            </a:avLst>
          </a:prstGeom>
          <a:ln w="88900" cap="sq">
            <a:noFill/>
            <a:miter lim="800000"/>
          </a:ln>
          <a:effectLst/>
        </p:spPr>
      </p:pic>
      <p:sp>
        <p:nvSpPr>
          <p:cNvPr id="36" name="TextBox 35">
            <a:extLst>
              <a:ext uri="{FF2B5EF4-FFF2-40B4-BE49-F238E27FC236}">
                <a16:creationId xmlns:a16="http://schemas.microsoft.com/office/drawing/2014/main" id="{19B4037C-017C-8249-1BC6-741771E61EE8}"/>
              </a:ext>
            </a:extLst>
          </p:cNvPr>
          <p:cNvSpPr txBox="1"/>
          <p:nvPr/>
        </p:nvSpPr>
        <p:spPr>
          <a:xfrm>
            <a:off x="8060694" y="18416973"/>
            <a:ext cx="23449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Display"/>
              </a:rPr>
              <a:t>Camera mount</a:t>
            </a:r>
            <a:endParaRPr lang="en-US">
              <a:latin typeface="Aptos Display"/>
            </a:endParaRPr>
          </a:p>
        </p:txBody>
      </p:sp>
      <p:grpSp>
        <p:nvGrpSpPr>
          <p:cNvPr id="3082" name="Group 3081">
            <a:extLst>
              <a:ext uri="{FF2B5EF4-FFF2-40B4-BE49-F238E27FC236}">
                <a16:creationId xmlns:a16="http://schemas.microsoft.com/office/drawing/2014/main" id="{D324829F-60B6-8D3F-BC8E-8F653AD15FDF}"/>
              </a:ext>
            </a:extLst>
          </p:cNvPr>
          <p:cNvGrpSpPr/>
          <p:nvPr/>
        </p:nvGrpSpPr>
        <p:grpSpPr>
          <a:xfrm>
            <a:off x="8482705" y="18776756"/>
            <a:ext cx="6879737" cy="2384935"/>
            <a:chOff x="8533505" y="18729588"/>
            <a:chExt cx="6879737" cy="2384935"/>
          </a:xfrm>
        </p:grpSpPr>
        <p:pic>
          <p:nvPicPr>
            <p:cNvPr id="35" name="Picture 34">
              <a:extLst>
                <a:ext uri="{FF2B5EF4-FFF2-40B4-BE49-F238E27FC236}">
                  <a16:creationId xmlns:a16="http://schemas.microsoft.com/office/drawing/2014/main" id="{FB3A0BE3-911F-261B-FBE1-7B88169F8B0D}"/>
                </a:ext>
              </a:extLst>
            </p:cNvPr>
            <p:cNvPicPr>
              <a:picLocks noChangeAspect="1"/>
            </p:cNvPicPr>
            <p:nvPr/>
          </p:nvPicPr>
          <p:blipFill>
            <a:blip r:embed="rId7"/>
            <a:srcRect l="54297"/>
            <a:stretch/>
          </p:blipFill>
          <p:spPr>
            <a:xfrm>
              <a:off x="8533505" y="18729588"/>
              <a:ext cx="1419559" cy="2384935"/>
            </a:xfrm>
            <a:prstGeom prst="rect">
              <a:avLst/>
            </a:prstGeom>
          </p:spPr>
        </p:pic>
        <p:pic>
          <p:nvPicPr>
            <p:cNvPr id="37" name="Picture 36">
              <a:extLst>
                <a:ext uri="{FF2B5EF4-FFF2-40B4-BE49-F238E27FC236}">
                  <a16:creationId xmlns:a16="http://schemas.microsoft.com/office/drawing/2014/main" id="{4B509DA5-7A64-C339-DBB4-FC922487229D}"/>
                </a:ext>
              </a:extLst>
            </p:cNvPr>
            <p:cNvPicPr>
              <a:picLocks noChangeAspect="1"/>
            </p:cNvPicPr>
            <p:nvPr/>
          </p:nvPicPr>
          <p:blipFill>
            <a:blip r:embed="rId8"/>
            <a:stretch>
              <a:fillRect/>
            </a:stretch>
          </p:blipFill>
          <p:spPr>
            <a:xfrm>
              <a:off x="9957822" y="18729588"/>
              <a:ext cx="2745397" cy="2384935"/>
            </a:xfrm>
            <a:prstGeom prst="rect">
              <a:avLst/>
            </a:prstGeom>
          </p:spPr>
        </p:pic>
        <p:pic>
          <p:nvPicPr>
            <p:cNvPr id="38" name="Picture 37">
              <a:extLst>
                <a:ext uri="{FF2B5EF4-FFF2-40B4-BE49-F238E27FC236}">
                  <a16:creationId xmlns:a16="http://schemas.microsoft.com/office/drawing/2014/main" id="{15E94BB7-D170-AEFE-5A41-BF2D11A4EFE4}"/>
                </a:ext>
              </a:extLst>
            </p:cNvPr>
            <p:cNvPicPr>
              <a:picLocks noChangeAspect="1"/>
            </p:cNvPicPr>
            <p:nvPr/>
          </p:nvPicPr>
          <p:blipFill>
            <a:blip r:embed="rId9"/>
            <a:stretch>
              <a:fillRect/>
            </a:stretch>
          </p:blipFill>
          <p:spPr>
            <a:xfrm>
              <a:off x="12707775" y="18729588"/>
              <a:ext cx="2705467" cy="2384935"/>
            </a:xfrm>
            <a:prstGeom prst="rect">
              <a:avLst/>
            </a:prstGeom>
          </p:spPr>
        </p:pic>
      </p:grpSp>
      <p:sp>
        <p:nvSpPr>
          <p:cNvPr id="39" name="TextBox 38">
            <a:extLst>
              <a:ext uri="{FF2B5EF4-FFF2-40B4-BE49-F238E27FC236}">
                <a16:creationId xmlns:a16="http://schemas.microsoft.com/office/drawing/2014/main" id="{9622EDA9-598D-74B5-6F4A-5E335CA8D72F}"/>
              </a:ext>
            </a:extLst>
          </p:cNvPr>
          <p:cNvSpPr txBox="1"/>
          <p:nvPr/>
        </p:nvSpPr>
        <p:spPr>
          <a:xfrm>
            <a:off x="12774565" y="18420170"/>
            <a:ext cx="24335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Display"/>
              </a:rPr>
              <a:t>Plant Cup Base</a:t>
            </a:r>
            <a:endParaRPr lang="en-US">
              <a:ea typeface="Calibri"/>
              <a:cs typeface="Calibri"/>
            </a:endParaRPr>
          </a:p>
        </p:txBody>
      </p:sp>
      <p:grpSp>
        <p:nvGrpSpPr>
          <p:cNvPr id="45" name="Group 44">
            <a:extLst>
              <a:ext uri="{FF2B5EF4-FFF2-40B4-BE49-F238E27FC236}">
                <a16:creationId xmlns:a16="http://schemas.microsoft.com/office/drawing/2014/main" id="{0EF068BD-AAE0-56C8-C154-5F896D23F540}"/>
              </a:ext>
            </a:extLst>
          </p:cNvPr>
          <p:cNvGrpSpPr/>
          <p:nvPr/>
        </p:nvGrpSpPr>
        <p:grpSpPr>
          <a:xfrm>
            <a:off x="8527323" y="15109890"/>
            <a:ext cx="6791689" cy="2533956"/>
            <a:chOff x="8505636" y="18739220"/>
            <a:chExt cx="6791689" cy="2533956"/>
          </a:xfrm>
        </p:grpSpPr>
        <p:pic>
          <p:nvPicPr>
            <p:cNvPr id="40" name="Picture 39" descr="A computer screen shot of a computer&#10;&#10;AI-generated content may be incorrect.">
              <a:extLst>
                <a:ext uri="{FF2B5EF4-FFF2-40B4-BE49-F238E27FC236}">
                  <a16:creationId xmlns:a16="http://schemas.microsoft.com/office/drawing/2014/main" id="{9002B748-2F1A-0569-6492-EB6763B70194}"/>
                </a:ext>
              </a:extLst>
            </p:cNvPr>
            <p:cNvPicPr>
              <a:picLocks noChangeAspect="1"/>
            </p:cNvPicPr>
            <p:nvPr/>
          </p:nvPicPr>
          <p:blipFill>
            <a:blip r:embed="rId10"/>
            <a:stretch>
              <a:fillRect/>
            </a:stretch>
          </p:blipFill>
          <p:spPr>
            <a:xfrm>
              <a:off x="10777291" y="18739220"/>
              <a:ext cx="4520034" cy="2524482"/>
            </a:xfrm>
            <a:prstGeom prst="rect">
              <a:avLst/>
            </a:prstGeom>
            <a:ln w="47625" cap="flat">
              <a:noFill/>
              <a:prstDash val="lgDash"/>
              <a:round/>
            </a:ln>
            <a:scene3d>
              <a:camera prst="orthographicFront"/>
              <a:lightRig rig="threePt" dir="t"/>
            </a:scene3d>
            <a:sp3d/>
          </p:spPr>
        </p:pic>
        <p:pic>
          <p:nvPicPr>
            <p:cNvPr id="41" name="Picture 40" descr="A close-up of a plant&#10;&#10;AI-generated content may be incorrect.">
              <a:extLst>
                <a:ext uri="{FF2B5EF4-FFF2-40B4-BE49-F238E27FC236}">
                  <a16:creationId xmlns:a16="http://schemas.microsoft.com/office/drawing/2014/main" id="{8D9A85CC-9AA2-12E2-E5E0-7F10DCA28066}"/>
                </a:ext>
              </a:extLst>
            </p:cNvPr>
            <p:cNvPicPr>
              <a:picLocks noChangeAspect="1"/>
            </p:cNvPicPr>
            <p:nvPr/>
          </p:nvPicPr>
          <p:blipFill>
            <a:blip r:embed="rId11"/>
            <a:stretch>
              <a:fillRect/>
            </a:stretch>
          </p:blipFill>
          <p:spPr>
            <a:xfrm>
              <a:off x="8505636" y="18739220"/>
              <a:ext cx="2301400" cy="2533956"/>
            </a:xfrm>
            <a:prstGeom prst="rect">
              <a:avLst/>
            </a:prstGeom>
            <a:ln w="47625" cap="flat">
              <a:noFill/>
              <a:prstDash val="lgDash"/>
              <a:round/>
            </a:ln>
            <a:scene3d>
              <a:camera prst="orthographicFront"/>
              <a:lightRig rig="threePt" dir="t"/>
            </a:scene3d>
            <a:sp3d/>
          </p:spPr>
        </p:pic>
      </p:grpSp>
      <p:sp>
        <p:nvSpPr>
          <p:cNvPr id="42" name="TextBox 41">
            <a:extLst>
              <a:ext uri="{FF2B5EF4-FFF2-40B4-BE49-F238E27FC236}">
                <a16:creationId xmlns:a16="http://schemas.microsoft.com/office/drawing/2014/main" id="{AE6FA072-3B4F-C40C-704F-07DE07361B30}"/>
              </a:ext>
            </a:extLst>
          </p:cNvPr>
          <p:cNvSpPr txBox="1"/>
          <p:nvPr/>
        </p:nvSpPr>
        <p:spPr>
          <a:xfrm>
            <a:off x="11641269" y="14539181"/>
            <a:ext cx="27144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Aptos Display"/>
              </a:rPr>
              <a:t>Camera View</a:t>
            </a:r>
            <a:endParaRPr lang="en-US" sz="2400">
              <a:ea typeface="Calibri" panose="020F0502020204030204"/>
              <a:cs typeface="Calibri" panose="020F0502020204030204"/>
            </a:endParaRPr>
          </a:p>
        </p:txBody>
      </p:sp>
      <p:sp>
        <p:nvSpPr>
          <p:cNvPr id="43" name="TextBox 42">
            <a:extLst>
              <a:ext uri="{FF2B5EF4-FFF2-40B4-BE49-F238E27FC236}">
                <a16:creationId xmlns:a16="http://schemas.microsoft.com/office/drawing/2014/main" id="{BAB10FDB-AFA7-F1DA-0433-6E010B88FFCB}"/>
              </a:ext>
            </a:extLst>
          </p:cNvPr>
          <p:cNvSpPr txBox="1"/>
          <p:nvPr/>
        </p:nvSpPr>
        <p:spPr>
          <a:xfrm>
            <a:off x="10178118" y="18420170"/>
            <a:ext cx="228984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latin typeface="Aptos Display"/>
              </a:rPr>
              <a:t>Plant Cup</a:t>
            </a:r>
            <a:endParaRPr lang="en-US"/>
          </a:p>
        </p:txBody>
      </p:sp>
      <p:sp>
        <p:nvSpPr>
          <p:cNvPr id="44" name="TextBox 43">
            <a:extLst>
              <a:ext uri="{FF2B5EF4-FFF2-40B4-BE49-F238E27FC236}">
                <a16:creationId xmlns:a16="http://schemas.microsoft.com/office/drawing/2014/main" id="{CBB7FB02-E506-110B-26C5-49B56993C99B}"/>
              </a:ext>
            </a:extLst>
          </p:cNvPr>
          <p:cNvSpPr txBox="1"/>
          <p:nvPr/>
        </p:nvSpPr>
        <p:spPr>
          <a:xfrm>
            <a:off x="12027238" y="6674859"/>
            <a:ext cx="329650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HMI Interface</a:t>
            </a:r>
            <a:endParaRPr lang="en-US" sz="2400" b="1"/>
          </a:p>
        </p:txBody>
      </p:sp>
      <p:sp>
        <p:nvSpPr>
          <p:cNvPr id="15" name="Rectangle 10">
            <a:extLst>
              <a:ext uri="{FF2B5EF4-FFF2-40B4-BE49-F238E27FC236}">
                <a16:creationId xmlns:a16="http://schemas.microsoft.com/office/drawing/2014/main" id="{10860A07-1C39-567C-797E-3550EC56BD08}"/>
              </a:ext>
            </a:extLst>
          </p:cNvPr>
          <p:cNvSpPr>
            <a:spLocks noChangeArrowheads="1"/>
          </p:cNvSpPr>
          <p:nvPr/>
        </p:nvSpPr>
        <p:spPr bwMode="auto">
          <a:xfrm>
            <a:off x="23274355" y="10871116"/>
            <a:ext cx="6730998" cy="3684532"/>
          </a:xfrm>
          <a:prstGeom prst="round2DiagRect">
            <a:avLst>
              <a:gd name="adj1" fmla="val 6827"/>
              <a:gd name="adj2" fmla="val 0"/>
            </a:avLst>
          </a:prstGeom>
          <a:solidFill>
            <a:schemeClr val="bg1">
              <a:lumMod val="95000"/>
            </a:schemeClr>
          </a:solidFill>
          <a:ln w="12700">
            <a:noFill/>
            <a:miter lim="800000"/>
          </a:ln>
        </p:spPr>
        <p:txBody>
          <a:bodyPr wrap="none" lIns="182880" tIns="48768" rIns="182880" bIns="45709" anchor="ctr" anchorCtr="0"/>
          <a:lstStyle>
            <a:defPPr>
              <a:defRPr kern="1200"/>
            </a:defPPr>
          </a:lstStyle>
          <a:p>
            <a:pPr algn="l" rtl="0">
              <a:lnSpc>
                <a:spcPts val="1380"/>
              </a:lnSpc>
            </a:pPr>
            <a:endParaRPr lang="en-US" sz="1100" b="0" i="0">
              <a:latin typeface="Times New Roman"/>
              <a:cs typeface="Times New Roman"/>
            </a:endParaRPr>
          </a:p>
        </p:txBody>
      </p:sp>
      <p:pic>
        <p:nvPicPr>
          <p:cNvPr id="18" name="Picture 17" descr="A yellow machine with a green screen&#10;&#10;AI-generated content may be incorrect.">
            <a:extLst>
              <a:ext uri="{FF2B5EF4-FFF2-40B4-BE49-F238E27FC236}">
                <a16:creationId xmlns:a16="http://schemas.microsoft.com/office/drawing/2014/main" id="{775D7F09-F93B-E632-A855-D05B9BEEDAF7}"/>
              </a:ext>
            </a:extLst>
          </p:cNvPr>
          <p:cNvPicPr>
            <a:picLocks noChangeAspect="1"/>
          </p:cNvPicPr>
          <p:nvPr/>
        </p:nvPicPr>
        <p:blipFill>
          <a:blip r:embed="rId12"/>
          <a:srcRect t="9810" b="16703"/>
          <a:stretch/>
        </p:blipFill>
        <p:spPr>
          <a:xfrm>
            <a:off x="16552968" y="11191418"/>
            <a:ext cx="5539686" cy="3068773"/>
          </a:xfrm>
          <a:prstGeom prst="roundRect">
            <a:avLst>
              <a:gd name="adj" fmla="val 3876"/>
            </a:avLst>
          </a:prstGeom>
          <a:ln>
            <a:noFill/>
          </a:ln>
          <a:effectLst/>
          <a:scene3d>
            <a:camera prst="orthographicFront"/>
            <a:lightRig rig="contrasting" dir="t">
              <a:rot lat="0" lon="0" rev="4200000"/>
            </a:lightRig>
          </a:scene3d>
          <a:sp3d prstMaterial="plastic">
            <a:bevelT w="381000" h="114300" prst="relaxedInset"/>
            <a:contourClr>
              <a:srgbClr val="969696"/>
            </a:contourClr>
          </a:sp3d>
        </p:spPr>
      </p:pic>
      <p:sp>
        <p:nvSpPr>
          <p:cNvPr id="46" name="TextBox 45">
            <a:extLst>
              <a:ext uri="{FF2B5EF4-FFF2-40B4-BE49-F238E27FC236}">
                <a16:creationId xmlns:a16="http://schemas.microsoft.com/office/drawing/2014/main" id="{57EB4694-E9DC-9DCD-E410-19CE016D97CC}"/>
              </a:ext>
            </a:extLst>
          </p:cNvPr>
          <p:cNvSpPr txBox="1"/>
          <p:nvPr/>
        </p:nvSpPr>
        <p:spPr>
          <a:xfrm>
            <a:off x="10028774" y="17787166"/>
            <a:ext cx="37887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Custom 3D Printed Parts</a:t>
            </a:r>
            <a:endParaRPr lang="en-US" sz="2400" b="1"/>
          </a:p>
        </p:txBody>
      </p:sp>
      <p:cxnSp>
        <p:nvCxnSpPr>
          <p:cNvPr id="48" name="Straight Connector 47">
            <a:extLst>
              <a:ext uri="{FF2B5EF4-FFF2-40B4-BE49-F238E27FC236}">
                <a16:creationId xmlns:a16="http://schemas.microsoft.com/office/drawing/2014/main" id="{BD0EFFDC-7D41-E9B9-A574-5BAC2672E910}"/>
              </a:ext>
            </a:extLst>
          </p:cNvPr>
          <p:cNvCxnSpPr/>
          <p:nvPr/>
        </p:nvCxnSpPr>
        <p:spPr>
          <a:xfrm>
            <a:off x="9594651" y="18305629"/>
            <a:ext cx="4838700" cy="0"/>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AB77C72-727D-35D1-0FC0-31C9BA8B95D4}"/>
              </a:ext>
            </a:extLst>
          </p:cNvPr>
          <p:cNvCxnSpPr>
            <a:cxnSpLocks/>
          </p:cNvCxnSpPr>
          <p:nvPr/>
        </p:nvCxnSpPr>
        <p:spPr>
          <a:xfrm>
            <a:off x="10939213" y="14952722"/>
            <a:ext cx="4173787" cy="13848"/>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472CC3D-6FA7-7938-F746-DBCF28747AB6}"/>
              </a:ext>
            </a:extLst>
          </p:cNvPr>
          <p:cNvCxnSpPr>
            <a:cxnSpLocks/>
          </p:cNvCxnSpPr>
          <p:nvPr/>
        </p:nvCxnSpPr>
        <p:spPr>
          <a:xfrm>
            <a:off x="12295239" y="7159384"/>
            <a:ext cx="2801886" cy="0"/>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pic>
        <p:nvPicPr>
          <p:cNvPr id="56" name="Content Placeholder 5" descr="A screenshot of a computer&#10;&#10;AI-generated content may be incorrect.">
            <a:extLst>
              <a:ext uri="{FF2B5EF4-FFF2-40B4-BE49-F238E27FC236}">
                <a16:creationId xmlns:a16="http://schemas.microsoft.com/office/drawing/2014/main" id="{D3D364FE-78ED-FFF4-9364-5AC66D0FB6CE}"/>
              </a:ext>
            </a:extLst>
          </p:cNvPr>
          <p:cNvPicPr>
            <a:picLocks noChangeAspect="1"/>
          </p:cNvPicPr>
          <p:nvPr/>
        </p:nvPicPr>
        <p:blipFill>
          <a:blip r:embed="rId13">
            <a:extLst>
              <a:ext uri="{28A0092B-C50C-407E-A947-70E740481C1C}">
                <a14:useLocalDpi xmlns:a14="http://schemas.microsoft.com/office/drawing/2010/main" val="0"/>
              </a:ext>
            </a:extLst>
          </a:blip>
          <a:srcRect b="12256"/>
          <a:stretch/>
        </p:blipFill>
        <p:spPr>
          <a:xfrm>
            <a:off x="8540751" y="12996517"/>
            <a:ext cx="1943602" cy="1956496"/>
          </a:xfrm>
          <a:prstGeom prst="rect">
            <a:avLst/>
          </a:prstGeom>
        </p:spPr>
      </p:pic>
      <p:pic>
        <p:nvPicPr>
          <p:cNvPr id="57" name="Picture 56" descr="A screenshot of a computer&#10;&#10;AI-generated content may be incorrect.">
            <a:extLst>
              <a:ext uri="{FF2B5EF4-FFF2-40B4-BE49-F238E27FC236}">
                <a16:creationId xmlns:a16="http://schemas.microsoft.com/office/drawing/2014/main" id="{5C98AB68-4E40-325F-23E3-24962EA3D8F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540751" y="11408338"/>
            <a:ext cx="1943602" cy="1598128"/>
          </a:xfrm>
          <a:prstGeom prst="rect">
            <a:avLst/>
          </a:prstGeom>
        </p:spPr>
      </p:pic>
      <p:sp>
        <p:nvSpPr>
          <p:cNvPr id="58" name="TextBox 57">
            <a:extLst>
              <a:ext uri="{FF2B5EF4-FFF2-40B4-BE49-F238E27FC236}">
                <a16:creationId xmlns:a16="http://schemas.microsoft.com/office/drawing/2014/main" id="{2A5EA8A4-C3C6-B49F-FAAD-839DF3D42513}"/>
              </a:ext>
            </a:extLst>
          </p:cNvPr>
          <p:cNvSpPr txBox="1"/>
          <p:nvPr/>
        </p:nvSpPr>
        <p:spPr>
          <a:xfrm>
            <a:off x="8640576" y="8950594"/>
            <a:ext cx="329650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ea typeface="Calibri"/>
                <a:cs typeface="Calibri"/>
              </a:rPr>
              <a:t>PLC Programming</a:t>
            </a:r>
            <a:endParaRPr lang="en-US" sz="2400" b="1"/>
          </a:p>
        </p:txBody>
      </p:sp>
      <p:cxnSp>
        <p:nvCxnSpPr>
          <p:cNvPr id="59" name="Straight Connector 58">
            <a:extLst>
              <a:ext uri="{FF2B5EF4-FFF2-40B4-BE49-F238E27FC236}">
                <a16:creationId xmlns:a16="http://schemas.microsoft.com/office/drawing/2014/main" id="{923B47EB-8B82-DBEC-221C-104C01462A4A}"/>
              </a:ext>
            </a:extLst>
          </p:cNvPr>
          <p:cNvCxnSpPr>
            <a:cxnSpLocks/>
          </p:cNvCxnSpPr>
          <p:nvPr/>
        </p:nvCxnSpPr>
        <p:spPr>
          <a:xfrm>
            <a:off x="8887884" y="9452604"/>
            <a:ext cx="2801886" cy="0"/>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799BFE2-BB70-B1C3-2E4A-28D44443874B}"/>
              </a:ext>
            </a:extLst>
          </p:cNvPr>
          <p:cNvSpPr txBox="1"/>
          <p:nvPr/>
        </p:nvSpPr>
        <p:spPr>
          <a:xfrm>
            <a:off x="8540023" y="11069517"/>
            <a:ext cx="1943602" cy="338554"/>
          </a:xfrm>
          <a:prstGeom prst="rect">
            <a:avLst/>
          </a:prstGeom>
          <a:solidFill>
            <a:srgbClr val="B41E1E"/>
          </a:solidFill>
        </p:spPr>
        <p:txBody>
          <a:bodyPr vert="horz" wrap="square" rtlCol="0">
            <a:spAutoFit/>
          </a:bodyPr>
          <a:lstStyle/>
          <a:p>
            <a:pPr algn="ctr"/>
            <a:r>
              <a:rPr lang="en-US" sz="1600">
                <a:solidFill>
                  <a:schemeClr val="bg1"/>
                </a:solidFill>
              </a:rPr>
              <a:t>Main Program</a:t>
            </a:r>
          </a:p>
        </p:txBody>
      </p:sp>
      <p:pic>
        <p:nvPicPr>
          <p:cNvPr id="61" name="Content Placeholder 5" descr="A screenshot of a computer&#10;&#10;AI-generated content may be incorrect.">
            <a:extLst>
              <a:ext uri="{FF2B5EF4-FFF2-40B4-BE49-F238E27FC236}">
                <a16:creationId xmlns:a16="http://schemas.microsoft.com/office/drawing/2014/main" id="{204F2A1E-9E0F-0084-5603-112D9E1CCF6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697332" y="13462044"/>
            <a:ext cx="2276323" cy="983732"/>
          </a:xfrm>
          <a:prstGeom prst="rect">
            <a:avLst/>
          </a:prstGeom>
        </p:spPr>
      </p:pic>
      <p:pic>
        <p:nvPicPr>
          <p:cNvPr id="62" name="Picture 61" descr="A screenshot of a computer&#10;&#10;AI-generated content may be incorrect.">
            <a:extLst>
              <a:ext uri="{FF2B5EF4-FFF2-40B4-BE49-F238E27FC236}">
                <a16:creationId xmlns:a16="http://schemas.microsoft.com/office/drawing/2014/main" id="{873F241E-90FE-B562-F748-EB9308B34A08}"/>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703276" y="11408071"/>
            <a:ext cx="2280465" cy="1646785"/>
          </a:xfrm>
          <a:prstGeom prst="rect">
            <a:avLst/>
          </a:prstGeom>
        </p:spPr>
      </p:pic>
      <p:sp>
        <p:nvSpPr>
          <p:cNvPr id="63" name="TextBox 62">
            <a:extLst>
              <a:ext uri="{FF2B5EF4-FFF2-40B4-BE49-F238E27FC236}">
                <a16:creationId xmlns:a16="http://schemas.microsoft.com/office/drawing/2014/main" id="{403DCA2A-E389-5514-EEE7-F2F380030A8C}"/>
              </a:ext>
            </a:extLst>
          </p:cNvPr>
          <p:cNvSpPr txBox="1"/>
          <p:nvPr/>
        </p:nvSpPr>
        <p:spPr>
          <a:xfrm>
            <a:off x="10702784" y="11069517"/>
            <a:ext cx="2276194" cy="338554"/>
          </a:xfrm>
          <a:prstGeom prst="rect">
            <a:avLst/>
          </a:prstGeom>
          <a:solidFill>
            <a:srgbClr val="B41E1E"/>
          </a:solidFill>
        </p:spPr>
        <p:txBody>
          <a:bodyPr vert="horz" wrap="square" rtlCol="0">
            <a:spAutoFit/>
          </a:bodyPr>
          <a:lstStyle/>
          <a:p>
            <a:pPr algn="ctr"/>
            <a:r>
              <a:rPr lang="en-US" sz="1600">
                <a:solidFill>
                  <a:schemeClr val="bg1"/>
                </a:solidFill>
              </a:rPr>
              <a:t>Growth Subroutine</a:t>
            </a:r>
          </a:p>
        </p:txBody>
      </p:sp>
      <p:sp>
        <p:nvSpPr>
          <p:cNvPr id="3072" name="TextBox 3071">
            <a:extLst>
              <a:ext uri="{FF2B5EF4-FFF2-40B4-BE49-F238E27FC236}">
                <a16:creationId xmlns:a16="http://schemas.microsoft.com/office/drawing/2014/main" id="{A053BFFC-1734-AE67-DCD9-69B57DFE90CE}"/>
              </a:ext>
            </a:extLst>
          </p:cNvPr>
          <p:cNvSpPr txBox="1"/>
          <p:nvPr/>
        </p:nvSpPr>
        <p:spPr>
          <a:xfrm>
            <a:off x="10692569" y="13119387"/>
            <a:ext cx="2298318" cy="338554"/>
          </a:xfrm>
          <a:prstGeom prst="rect">
            <a:avLst/>
          </a:prstGeom>
          <a:solidFill>
            <a:srgbClr val="B41E1E"/>
          </a:solidFill>
        </p:spPr>
        <p:txBody>
          <a:bodyPr vert="horz" wrap="square" rtlCol="0">
            <a:spAutoFit/>
          </a:bodyPr>
          <a:lstStyle/>
          <a:p>
            <a:pPr algn="ctr"/>
            <a:r>
              <a:rPr lang="en-US" sz="1600">
                <a:solidFill>
                  <a:schemeClr val="bg1"/>
                </a:solidFill>
              </a:rPr>
              <a:t>Syncing Subroutine</a:t>
            </a:r>
          </a:p>
        </p:txBody>
      </p:sp>
      <p:sp>
        <p:nvSpPr>
          <p:cNvPr id="32" name="TextBox 31">
            <a:extLst>
              <a:ext uri="{FF2B5EF4-FFF2-40B4-BE49-F238E27FC236}">
                <a16:creationId xmlns:a16="http://schemas.microsoft.com/office/drawing/2014/main" id="{4F2EA4E8-3B52-D894-2BB7-CA00A73252E5}"/>
              </a:ext>
            </a:extLst>
          </p:cNvPr>
          <p:cNvSpPr txBox="1"/>
          <p:nvPr/>
        </p:nvSpPr>
        <p:spPr>
          <a:xfrm>
            <a:off x="1068531" y="5701560"/>
            <a:ext cx="6275697" cy="82176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latin typeface="Aptos"/>
                <a:ea typeface="+mn-lt"/>
                <a:cs typeface="+mn-lt"/>
              </a:rPr>
              <a:t>This project aims to create a self-sustaining hydroponic system utilizing a Fanuc robot and a PLC (Programmable Logic Controller) to grow crops with minimal intervention. The hydroponic system was developed with a primary focus on the robotic system's operation to monitor the plant growth process. </a:t>
            </a:r>
          </a:p>
          <a:p>
            <a:endParaRPr lang="en-US" sz="2200">
              <a:latin typeface="Aptos"/>
              <a:ea typeface="+mn-lt"/>
              <a:cs typeface="+mn-lt"/>
            </a:endParaRPr>
          </a:p>
          <a:p>
            <a:r>
              <a:rPr lang="en-US" sz="2200">
                <a:latin typeface="Aptos"/>
                <a:ea typeface="+mn-lt"/>
                <a:cs typeface="+mn-lt"/>
              </a:rPr>
              <a:t>The underlying tools to achieve the desired outcome are a Fanuc Robot (ER-4iA) and its teach pendant, a Cognex camera (Insight 7802C) with the insight explorer software, and a Rockwell automation PLC (Model) and MHI (Human Machine Interface) running on the Studio 5000 software and factory talk, respectively. </a:t>
            </a:r>
          </a:p>
          <a:p>
            <a:endParaRPr lang="en-US" sz="2200">
              <a:latin typeface="Aptos"/>
              <a:ea typeface="+mn-lt"/>
              <a:cs typeface="+mn-lt"/>
            </a:endParaRPr>
          </a:p>
          <a:p>
            <a:r>
              <a:rPr lang="en-US" sz="2200">
                <a:latin typeface="Aptos"/>
                <a:ea typeface="+mn-lt"/>
                <a:cs typeface="+mn-lt"/>
              </a:rPr>
              <a:t>Various challenges were overcome, such as establishing communication between the robot and the PLC and aligning the robot's outputs with the PLC's input to synchronize plant counts and send commands to the robot via the HMI screen. </a:t>
            </a:r>
          </a:p>
          <a:p>
            <a:endParaRPr lang="en-US" sz="2200">
              <a:latin typeface="Aptos"/>
              <a:ea typeface="+mn-lt"/>
              <a:cs typeface="+mn-lt"/>
            </a:endParaRPr>
          </a:p>
          <a:p>
            <a:r>
              <a:rPr lang="en-US" sz="2200">
                <a:latin typeface="Aptos"/>
                <a:ea typeface="+mn-lt"/>
                <a:cs typeface="+mn-lt"/>
              </a:rPr>
              <a:t>Ultimately, this project successfully achieved its goals, and the system operates effectively.</a:t>
            </a:r>
            <a:endParaRPr lang="en-US" sz="2200">
              <a:latin typeface="Aptos"/>
            </a:endParaRPr>
          </a:p>
        </p:txBody>
      </p:sp>
      <p:cxnSp>
        <p:nvCxnSpPr>
          <p:cNvPr id="3073" name="Straight Connector 3072">
            <a:extLst>
              <a:ext uri="{FF2B5EF4-FFF2-40B4-BE49-F238E27FC236}">
                <a16:creationId xmlns:a16="http://schemas.microsoft.com/office/drawing/2014/main" id="{E0C13C73-B108-751E-275C-D4821C7BE0D5}"/>
              </a:ext>
            </a:extLst>
          </p:cNvPr>
          <p:cNvCxnSpPr>
            <a:cxnSpLocks/>
          </p:cNvCxnSpPr>
          <p:nvPr/>
        </p:nvCxnSpPr>
        <p:spPr>
          <a:xfrm>
            <a:off x="8746218" y="6885064"/>
            <a:ext cx="0" cy="879716"/>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cxnSp>
        <p:nvCxnSpPr>
          <p:cNvPr id="3076" name="Straight Connector 3075">
            <a:extLst>
              <a:ext uri="{FF2B5EF4-FFF2-40B4-BE49-F238E27FC236}">
                <a16:creationId xmlns:a16="http://schemas.microsoft.com/office/drawing/2014/main" id="{077AC87D-1D1F-A2D6-6E4F-039C2B40FCC3}"/>
              </a:ext>
            </a:extLst>
          </p:cNvPr>
          <p:cNvCxnSpPr>
            <a:cxnSpLocks/>
          </p:cNvCxnSpPr>
          <p:nvPr/>
        </p:nvCxnSpPr>
        <p:spPr>
          <a:xfrm>
            <a:off x="8737056" y="8111884"/>
            <a:ext cx="0" cy="658736"/>
          </a:xfrm>
          <a:prstGeom prst="line">
            <a:avLst/>
          </a:prstGeom>
          <a:ln w="38100">
            <a:solidFill>
              <a:srgbClr val="B41E1E"/>
            </a:solidFill>
          </a:ln>
        </p:spPr>
        <p:style>
          <a:lnRef idx="1">
            <a:schemeClr val="accent1"/>
          </a:lnRef>
          <a:fillRef idx="0">
            <a:schemeClr val="accent1"/>
          </a:fillRef>
          <a:effectRef idx="0">
            <a:schemeClr val="accent1"/>
          </a:effectRef>
          <a:fontRef idx="minor">
            <a:schemeClr val="tx1"/>
          </a:fontRef>
        </p:style>
      </p:cxnSp>
      <p:pic>
        <p:nvPicPr>
          <p:cNvPr id="3080" name="Content Placeholder 5" descr="A white background with black text&#10;&#10;AI-generated content may be incorrect.">
            <a:extLst>
              <a:ext uri="{FF2B5EF4-FFF2-40B4-BE49-F238E27FC236}">
                <a16:creationId xmlns:a16="http://schemas.microsoft.com/office/drawing/2014/main" id="{B936D314-5A48-D4CD-0ED2-ECA48F21DEBB}"/>
              </a:ext>
            </a:extLst>
          </p:cNvPr>
          <p:cNvPicPr>
            <a:picLocks noChangeAspect="1"/>
          </p:cNvPicPr>
          <p:nvPr/>
        </p:nvPicPr>
        <p:blipFill>
          <a:blip r:embed="rId17">
            <a:extLst>
              <a:ext uri="{28A0092B-C50C-407E-A947-70E740481C1C}">
                <a14:useLocalDpi xmlns:a14="http://schemas.microsoft.com/office/drawing/2010/main" val="0"/>
              </a:ext>
            </a:extLst>
          </a:blip>
          <a:srcRect l="658" r="43130"/>
          <a:stretch/>
        </p:blipFill>
        <p:spPr>
          <a:xfrm>
            <a:off x="13199104" y="11415468"/>
            <a:ext cx="2112340" cy="1765400"/>
          </a:xfrm>
          <a:prstGeom prst="rect">
            <a:avLst/>
          </a:prstGeom>
        </p:spPr>
      </p:pic>
      <p:sp>
        <p:nvSpPr>
          <p:cNvPr id="3081" name="TextBox 3080">
            <a:extLst>
              <a:ext uri="{FF2B5EF4-FFF2-40B4-BE49-F238E27FC236}">
                <a16:creationId xmlns:a16="http://schemas.microsoft.com/office/drawing/2014/main" id="{0D47384F-DC1C-4310-3423-57B957E62FCC}"/>
              </a:ext>
            </a:extLst>
          </p:cNvPr>
          <p:cNvSpPr txBox="1"/>
          <p:nvPr/>
        </p:nvSpPr>
        <p:spPr>
          <a:xfrm>
            <a:off x="13198137" y="11069517"/>
            <a:ext cx="2112340" cy="338554"/>
          </a:xfrm>
          <a:prstGeom prst="rect">
            <a:avLst/>
          </a:prstGeom>
          <a:solidFill>
            <a:srgbClr val="B41E1E"/>
          </a:solidFill>
        </p:spPr>
        <p:txBody>
          <a:bodyPr vert="horz" wrap="square" rtlCol="0">
            <a:spAutoFit/>
          </a:bodyPr>
          <a:lstStyle/>
          <a:p>
            <a:pPr algn="ctr"/>
            <a:r>
              <a:rPr lang="en-US" sz="1600">
                <a:solidFill>
                  <a:schemeClr val="bg1"/>
                </a:solidFill>
              </a:rPr>
              <a:t>Ethernet Connections</a:t>
            </a:r>
          </a:p>
        </p:txBody>
      </p:sp>
      <p:sp>
        <p:nvSpPr>
          <p:cNvPr id="3091" name="TextBox 3090">
            <a:extLst>
              <a:ext uri="{FF2B5EF4-FFF2-40B4-BE49-F238E27FC236}">
                <a16:creationId xmlns:a16="http://schemas.microsoft.com/office/drawing/2014/main" id="{653EEBA4-DA81-1300-1CCD-35E5E3F59DD9}"/>
              </a:ext>
            </a:extLst>
          </p:cNvPr>
          <p:cNvSpPr txBox="1"/>
          <p:nvPr/>
        </p:nvSpPr>
        <p:spPr>
          <a:xfrm>
            <a:off x="23327424" y="11022334"/>
            <a:ext cx="6624011" cy="3383106"/>
          </a:xfrm>
          <a:prstGeom prst="rect">
            <a:avLst/>
          </a:prstGeom>
          <a:noFill/>
        </p:spPr>
        <p:txBody>
          <a:bodyPr wrap="square" rtlCol="0">
            <a:spAutoFit/>
          </a:bodyPr>
          <a:lstStyle/>
          <a:p>
            <a:pPr indent="-457200">
              <a:lnSpc>
                <a:spcPct val="150000"/>
              </a:lnSpc>
            </a:pPr>
            <a:r>
              <a:rPr lang="en-US" sz="1200" b="0" i="0">
                <a:latin typeface="Times New Roman"/>
              </a:rPr>
              <a:t>[1] D. Rodríguez-Nieto, E. Navas, and R. Fernández, “Automated seeding in hydroponic greenhouse with a dual-arm robotic system | IEEE Journals &amp; Magazine | IEEE Xplore,” Automated Seeding in Hydroponic Greenhouse With a Dual-Arm Robotic System, </a:t>
            </a:r>
            <a:r>
              <a:rPr lang="en-US" sz="1200" b="0" i="0" u="sng" strike="noStrike">
                <a:solidFill>
                  <a:srgbClr val="0000FF"/>
                </a:solidFill>
                <a:latin typeface="Times New Roman"/>
                <a:hlinkClick r:id="rId18"/>
              </a:rPr>
              <a:t>https://ieeexplore.ieee.org/abstract/document/10884759</a:t>
            </a:r>
            <a:r>
              <a:rPr lang="en-US" sz="1200" b="0" i="0">
                <a:latin typeface="Times New Roman"/>
              </a:rPr>
              <a:t> (accessed Apr. 28, 2025).  </a:t>
            </a:r>
            <a:endParaRPr lang="en-US" sz="1200" b="0" i="0">
              <a:latin typeface="Times New Roman"/>
              <a:cs typeface="Times New Roman"/>
            </a:endParaRPr>
          </a:p>
          <a:p>
            <a:pPr algn="l" rtl="0">
              <a:lnSpc>
                <a:spcPct val="150000"/>
              </a:lnSpc>
            </a:pPr>
            <a:r>
              <a:rPr lang="en-US" sz="1200" b="0" i="0">
                <a:latin typeface="Times New Roman"/>
              </a:rPr>
              <a:t>[2] Anurag Shrivastava a et al., “Automatic robotic system design and development for 	vertical hydroponic farming using IOT and Big Data Analysis,” Materials Today: Proceedings, </a:t>
            </a:r>
            <a:r>
              <a:rPr lang="en-US" sz="1200" b="0" i="0" u="sng" strike="noStrike">
                <a:solidFill>
                  <a:srgbClr val="0000FF"/>
                </a:solidFill>
                <a:latin typeface="Times New Roman"/>
                <a:hlinkClick r:id="rId19"/>
              </a:rPr>
              <a:t>https://www.sciencedirect.com/science/article/abs/pii/S2214785321051531</a:t>
            </a:r>
            <a:r>
              <a:rPr lang="en-US" sz="1200" b="0" i="0">
                <a:latin typeface="Times New Roman"/>
              </a:rPr>
              <a:t> (accessed Apr. 27, 2025).  </a:t>
            </a:r>
            <a:endParaRPr lang="en-US" sz="1200" b="0" i="0">
              <a:latin typeface="Times New Roman"/>
              <a:cs typeface="Times New Roman"/>
            </a:endParaRPr>
          </a:p>
          <a:p>
            <a:pPr algn="l" rtl="0">
              <a:lnSpc>
                <a:spcPct val="150000"/>
              </a:lnSpc>
            </a:pPr>
            <a:r>
              <a:rPr lang="en-US" sz="1200" b="0" i="0">
                <a:latin typeface="Times New Roman"/>
              </a:rPr>
              <a:t>[3] Haider Ali Khan a 1 et al., “Design and development of machine vision robotic arm for vegetable crops in hydroponics,” Smart Agricultural Technology, </a:t>
            </a:r>
            <a:r>
              <a:rPr lang="en-US" sz="1200" b="0" i="0" u="sng" strike="noStrike">
                <a:solidFill>
                  <a:srgbClr val="0000FF"/>
                </a:solidFill>
                <a:latin typeface="Times New Roman"/>
                <a:hlinkClick r:id="rId20"/>
              </a:rPr>
              <a:t>https://www.sciencedirect.com/science/article/pii/S2772375524002338</a:t>
            </a:r>
            <a:r>
              <a:rPr lang="en-US" sz="1200" b="0" i="0">
                <a:latin typeface="Times New Roman"/>
              </a:rPr>
              <a:t> (accessed Apr. 27, 2025).  </a:t>
            </a:r>
            <a:endParaRPr lang="en-US" sz="1200" b="0" i="0">
              <a:latin typeface="Times New Roman"/>
              <a:cs typeface="Times New Roman"/>
            </a:endParaRPr>
          </a:p>
          <a:p>
            <a:pPr algn="l" rtl="0">
              <a:lnSpc>
                <a:spcPct val="150000"/>
              </a:lnSpc>
            </a:pPr>
            <a:r>
              <a:rPr lang="en-US" sz="1200" b="0" i="0">
                <a:latin typeface="Times New Roman"/>
              </a:rPr>
              <a:t>[4] Jung Eek Son 1, 1, 2, and A. systems, “Hydroponic Systems,” Plant Factory (Second 	Edition), </a:t>
            </a:r>
            <a:r>
              <a:rPr lang="en-US" sz="1200" b="0" i="0" u="sng" strike="noStrike">
                <a:solidFill>
                  <a:srgbClr val="0000FF"/>
                </a:solidFill>
                <a:latin typeface="Times New Roman"/>
                <a:hlinkClick r:id="rId21"/>
              </a:rPr>
              <a:t>https://www.sciencedirect.com/science/article/abs/pii/B9780128166918000200</a:t>
            </a:r>
            <a:r>
              <a:rPr lang="en-US" sz="1200" b="0" i="0">
                <a:latin typeface="Times New Roman"/>
              </a:rPr>
              <a:t> (accessed Apr.27, 2025). </a:t>
            </a:r>
            <a:endParaRPr lang="en-US" sz="1200" b="0" i="0">
              <a:latin typeface="Times New Roman"/>
              <a:cs typeface="Times New Roman"/>
            </a:endParaRPr>
          </a:p>
        </p:txBody>
      </p:sp>
    </p:spTree>
    <p:extLst>
      <p:ext uri="{BB962C8B-B14F-4D97-AF65-F5344CB8AC3E}">
        <p14:creationId xmlns:p14="http://schemas.microsoft.com/office/powerpoint/2010/main" val="3531817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908</Words>
  <Application>Microsoft Office PowerPoint</Application>
  <PresentationFormat>Custom</PresentationFormat>
  <Paragraphs>66</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Aptos</vt:lpstr>
      <vt:lpstr>Aptos Display</vt:lpstr>
      <vt:lpstr>Arial</vt:lpstr>
      <vt:lpstr>Arial,Sans-Serif</vt:lpstr>
      <vt:lpstr>Calibri</vt:lpstr>
      <vt:lpstr>Calibri Light</vt:lpstr>
      <vt:lpstr>Quattrocento</vt:lpstr>
      <vt:lpstr>Quattrocento Sans</vt:lpstr>
      <vt:lpstr>Times New Roman</vt:lpstr>
      <vt:lpstr>Office 2013 - 2022 Theme</vt:lpstr>
      <vt:lpstr>PowerPoint Presentation</vt:lpstr>
    </vt:vector>
  </TitlesOfParts>
  <Company>Dartmouth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Memory in the Two Cerebral Hemispheres M.G. Funnell, M.K. Colvin, &amp; M.S. Gazzaniga Center for Cognitive Neuroscience, Dartmouth College</dc:title>
  <dc:creator>Margaret Funnell</dc:creator>
  <cp:lastModifiedBy>Sonia Mary Chacko</cp:lastModifiedBy>
  <cp:revision>12</cp:revision>
  <cp:lastPrinted>2003-03-25T14:30:39Z</cp:lastPrinted>
  <dcterms:created xsi:type="dcterms:W3CDTF">2003-03-14T19:43:06Z</dcterms:created>
  <dcterms:modified xsi:type="dcterms:W3CDTF">2025-04-29T12:58:17Z</dcterms:modified>
</cp:coreProperties>
</file>