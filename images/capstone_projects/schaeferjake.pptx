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4"/>
  </p:sldMasterIdLst>
  <p:notesMasterIdLst>
    <p:notesMasterId r:id="rId6"/>
  </p:notesMasterIdLst>
  <p:sldIdLst>
    <p:sldId id="257" r:id="rId5"/>
  </p:sldIdLst>
  <p:sldSz cx="31089600" cy="219456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9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BC1374-5ACA-4C56-A101-445AAF9A8F9B}" v="19" dt="2025-04-28T01:25:51.2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4" autoAdjust="0"/>
    <p:restoredTop sz="90929"/>
  </p:normalViewPr>
  <p:slideViewPr>
    <p:cSldViewPr>
      <p:cViewPr>
        <p:scale>
          <a:sx n="33" d="100"/>
          <a:sy n="33" d="100"/>
        </p:scale>
        <p:origin x="802" y="-581"/>
      </p:cViewPr>
      <p:guideLst>
        <p:guide orient="horz" pos="6912"/>
        <p:guide pos="979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6443233C-E338-44E9-9B22-591913A2AD26}" type="datetimeFigureOut">
              <a:rPr lang="en-US" smtClean="0"/>
              <a:t>4/29/2025</a:t>
            </a:fld>
            <a:endParaRPr lang="en-US" dirty="0"/>
          </a:p>
        </p:txBody>
      </p:sp>
      <p:sp>
        <p:nvSpPr>
          <p:cNvPr id="4" name="Slide Image Placeholder 3"/>
          <p:cNvSpPr>
            <a:spLocks noGrp="1" noRot="1" noChangeAspect="1"/>
          </p:cNvSpPr>
          <p:nvPr>
            <p:ph type="sldImg" idx="2"/>
          </p:nvPr>
        </p:nvSpPr>
        <p:spPr>
          <a:xfrm>
            <a:off x="2932113" y="857250"/>
            <a:ext cx="3279775"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86AD4FE-DBC6-46D7-BB4E-13431C8F2CBA}" type="slidenum">
              <a:rPr lang="en-US" smtClean="0"/>
              <a:t>‹#›</a:t>
            </a:fld>
            <a:endParaRPr lang="en-US" dirty="0"/>
          </a:p>
        </p:txBody>
      </p:sp>
    </p:spTree>
    <p:extLst>
      <p:ext uri="{BB962C8B-B14F-4D97-AF65-F5344CB8AC3E}">
        <p14:creationId xmlns:p14="http://schemas.microsoft.com/office/powerpoint/2010/main" val="1074949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6AD4FE-DBC6-46D7-BB4E-13431C8F2CBA}" type="slidenum">
              <a:rPr lang="en-US" smtClean="0"/>
              <a:t>1</a:t>
            </a:fld>
            <a:endParaRPr lang="en-US" dirty="0"/>
          </a:p>
        </p:txBody>
      </p:sp>
    </p:spTree>
    <p:extLst>
      <p:ext uri="{BB962C8B-B14F-4D97-AF65-F5344CB8AC3E}">
        <p14:creationId xmlns:p14="http://schemas.microsoft.com/office/powerpoint/2010/main" val="3253147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1720" y="3591562"/>
            <a:ext cx="2642616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3886200" y="11526522"/>
            <a:ext cx="233172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fld id="{87E2F82D-3616-4467-A056-E894D5735046}" type="slidenum">
              <a:rPr lang="en-US" altLang="en-US" smtClean="0"/>
              <a:pPr/>
              <a:t>‹#›</a:t>
            </a:fld>
            <a:endParaRPr lang="en-US" altLang="en-US" dirty="0"/>
          </a:p>
        </p:txBody>
      </p:sp>
    </p:spTree>
    <p:extLst>
      <p:ext uri="{BB962C8B-B14F-4D97-AF65-F5344CB8AC3E}">
        <p14:creationId xmlns:p14="http://schemas.microsoft.com/office/powerpoint/2010/main" val="362105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fld id="{BCA119C6-817E-4242-83A3-C8FC571DD821}" type="slidenum">
              <a:rPr lang="en-US" altLang="en-US" smtClean="0"/>
              <a:pPr/>
              <a:t>‹#›</a:t>
            </a:fld>
            <a:endParaRPr lang="en-US" altLang="en-US" dirty="0"/>
          </a:p>
        </p:txBody>
      </p:sp>
    </p:spTree>
    <p:extLst>
      <p:ext uri="{BB962C8B-B14F-4D97-AF65-F5344CB8AC3E}">
        <p14:creationId xmlns:p14="http://schemas.microsoft.com/office/powerpoint/2010/main" val="4056806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21219" y="5471167"/>
            <a:ext cx="2681478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121219" y="14686287"/>
            <a:ext cx="2681478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fld id="{F4192726-DD1F-4C44-94D0-F43B3C6AC185}" type="slidenum">
              <a:rPr lang="en-US" altLang="en-US" smtClean="0"/>
              <a:pPr/>
              <a:t>‹#›</a:t>
            </a:fld>
            <a:endParaRPr lang="en-US" altLang="en-US" dirty="0"/>
          </a:p>
        </p:txBody>
      </p:sp>
    </p:spTree>
    <p:extLst>
      <p:ext uri="{BB962C8B-B14F-4D97-AF65-F5344CB8AC3E}">
        <p14:creationId xmlns:p14="http://schemas.microsoft.com/office/powerpoint/2010/main" val="367954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374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7391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dirty="0"/>
          </a:p>
        </p:txBody>
      </p:sp>
      <p:sp>
        <p:nvSpPr>
          <p:cNvPr id="6" name="Footer Placeholder 5"/>
          <p:cNvSpPr>
            <a:spLocks noGrp="1"/>
          </p:cNvSpPr>
          <p:nvPr>
            <p:ph type="ftr" sz="quarter" idx="11"/>
          </p:nvPr>
        </p:nvSpPr>
        <p:spPr/>
        <p:txBody>
          <a:bodyPr/>
          <a:lstStyle/>
          <a:p>
            <a:pPr>
              <a:defRPr/>
            </a:pPr>
            <a:endParaRPr lang="en-US" altLang="en-US" dirty="0"/>
          </a:p>
        </p:txBody>
      </p:sp>
      <p:sp>
        <p:nvSpPr>
          <p:cNvPr id="7" name="Slide Number Placeholder 6"/>
          <p:cNvSpPr>
            <a:spLocks noGrp="1"/>
          </p:cNvSpPr>
          <p:nvPr>
            <p:ph type="sldNum" sz="quarter" idx="12"/>
          </p:nvPr>
        </p:nvSpPr>
        <p:spPr/>
        <p:txBody>
          <a:bodyPr/>
          <a:lstStyle/>
          <a:p>
            <a:fld id="{186C27BE-A5E0-47D6-A899-CADB1153DCDF}" type="slidenum">
              <a:rPr lang="en-US" altLang="en-US" smtClean="0"/>
              <a:pPr/>
              <a:t>‹#›</a:t>
            </a:fld>
            <a:endParaRPr lang="en-US" altLang="en-US" dirty="0"/>
          </a:p>
        </p:txBody>
      </p:sp>
    </p:spTree>
    <p:extLst>
      <p:ext uri="{BB962C8B-B14F-4D97-AF65-F5344CB8AC3E}">
        <p14:creationId xmlns:p14="http://schemas.microsoft.com/office/powerpoint/2010/main" val="312383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1459" y="1168405"/>
            <a:ext cx="2681478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41463" y="5379722"/>
            <a:ext cx="13152356"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141463" y="8016240"/>
            <a:ext cx="13152356"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739112" y="5379722"/>
            <a:ext cx="13217129"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5739112" y="8016240"/>
            <a:ext cx="13217129"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dirty="0"/>
          </a:p>
        </p:txBody>
      </p:sp>
      <p:sp>
        <p:nvSpPr>
          <p:cNvPr id="8" name="Footer Placeholder 7"/>
          <p:cNvSpPr>
            <a:spLocks noGrp="1"/>
          </p:cNvSpPr>
          <p:nvPr>
            <p:ph type="ftr" sz="quarter" idx="11"/>
          </p:nvPr>
        </p:nvSpPr>
        <p:spPr/>
        <p:txBody>
          <a:bodyPr/>
          <a:lstStyle/>
          <a:p>
            <a:pPr>
              <a:defRPr/>
            </a:pPr>
            <a:endParaRPr lang="en-US" altLang="en-US" dirty="0"/>
          </a:p>
        </p:txBody>
      </p:sp>
      <p:sp>
        <p:nvSpPr>
          <p:cNvPr id="9" name="Slide Number Placeholder 8"/>
          <p:cNvSpPr>
            <a:spLocks noGrp="1"/>
          </p:cNvSpPr>
          <p:nvPr>
            <p:ph type="sldNum" sz="quarter" idx="12"/>
          </p:nvPr>
        </p:nvSpPr>
        <p:spPr/>
        <p:txBody>
          <a:bodyPr/>
          <a:lstStyle/>
          <a:p>
            <a:fld id="{A8D83365-3921-44D2-91EA-BF09235FA2BD}" type="slidenum">
              <a:rPr lang="en-US" altLang="en-US" smtClean="0"/>
              <a:pPr/>
              <a:t>‹#›</a:t>
            </a:fld>
            <a:endParaRPr lang="en-US" altLang="en-US" dirty="0"/>
          </a:p>
        </p:txBody>
      </p:sp>
    </p:spTree>
    <p:extLst>
      <p:ext uri="{BB962C8B-B14F-4D97-AF65-F5344CB8AC3E}">
        <p14:creationId xmlns:p14="http://schemas.microsoft.com/office/powerpoint/2010/main" val="3338663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dirty="0"/>
          </a:p>
        </p:txBody>
      </p:sp>
      <p:sp>
        <p:nvSpPr>
          <p:cNvPr id="4" name="Footer Placeholder 3"/>
          <p:cNvSpPr>
            <a:spLocks noGrp="1"/>
          </p:cNvSpPr>
          <p:nvPr>
            <p:ph type="ftr" sz="quarter" idx="11"/>
          </p:nvPr>
        </p:nvSpPr>
        <p:spPr/>
        <p:txBody>
          <a:bodyPr/>
          <a:lstStyle/>
          <a:p>
            <a:pPr>
              <a:defRPr/>
            </a:pPr>
            <a:endParaRPr lang="en-US" altLang="en-US" dirty="0"/>
          </a:p>
        </p:txBody>
      </p:sp>
      <p:sp>
        <p:nvSpPr>
          <p:cNvPr id="5" name="Slide Number Placeholder 4"/>
          <p:cNvSpPr>
            <a:spLocks noGrp="1"/>
          </p:cNvSpPr>
          <p:nvPr>
            <p:ph type="sldNum" sz="quarter" idx="12"/>
          </p:nvPr>
        </p:nvSpPr>
        <p:spPr/>
        <p:txBody>
          <a:bodyPr/>
          <a:lstStyle/>
          <a:p>
            <a:fld id="{934B8FBB-A22D-48A9-86F8-F488C1EC41E7}" type="slidenum">
              <a:rPr lang="en-US" altLang="en-US" smtClean="0"/>
              <a:pPr/>
              <a:t>‹#›</a:t>
            </a:fld>
            <a:endParaRPr lang="en-US" altLang="en-US" dirty="0"/>
          </a:p>
        </p:txBody>
      </p:sp>
    </p:spTree>
    <p:extLst>
      <p:ext uri="{BB962C8B-B14F-4D97-AF65-F5344CB8AC3E}">
        <p14:creationId xmlns:p14="http://schemas.microsoft.com/office/powerpoint/2010/main" val="144668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dirty="0"/>
          </a:p>
        </p:txBody>
      </p:sp>
      <p:sp>
        <p:nvSpPr>
          <p:cNvPr id="3" name="Footer Placeholder 2"/>
          <p:cNvSpPr>
            <a:spLocks noGrp="1"/>
          </p:cNvSpPr>
          <p:nvPr>
            <p:ph type="ftr" sz="quarter" idx="11"/>
          </p:nvPr>
        </p:nvSpPr>
        <p:spPr/>
        <p:txBody>
          <a:bodyPr/>
          <a:lstStyle/>
          <a:p>
            <a:pPr>
              <a:defRPr/>
            </a:pPr>
            <a:endParaRPr lang="en-US" altLang="en-US" dirty="0"/>
          </a:p>
        </p:txBody>
      </p:sp>
      <p:sp>
        <p:nvSpPr>
          <p:cNvPr id="4" name="Slide Number Placeholder 3"/>
          <p:cNvSpPr>
            <a:spLocks noGrp="1"/>
          </p:cNvSpPr>
          <p:nvPr>
            <p:ph type="sldNum" sz="quarter" idx="12"/>
          </p:nvPr>
        </p:nvSpPr>
        <p:spPr/>
        <p:txBody>
          <a:bodyPr/>
          <a:lstStyle/>
          <a:p>
            <a:fld id="{0853FCE1-1DB8-4EE9-BEDE-5D17530D2F0D}" type="slidenum">
              <a:rPr lang="en-US" altLang="en-US" smtClean="0"/>
              <a:pPr/>
              <a:t>‹#›</a:t>
            </a:fld>
            <a:endParaRPr lang="en-US" altLang="en-US" dirty="0"/>
          </a:p>
        </p:txBody>
      </p:sp>
    </p:spTree>
    <p:extLst>
      <p:ext uri="{BB962C8B-B14F-4D97-AF65-F5344CB8AC3E}">
        <p14:creationId xmlns:p14="http://schemas.microsoft.com/office/powerpoint/2010/main" val="197485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217129" y="3159765"/>
            <a:ext cx="1573911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dirty="0"/>
          </a:p>
        </p:txBody>
      </p:sp>
      <p:sp>
        <p:nvSpPr>
          <p:cNvPr id="6" name="Footer Placeholder 5"/>
          <p:cNvSpPr>
            <a:spLocks noGrp="1"/>
          </p:cNvSpPr>
          <p:nvPr>
            <p:ph type="ftr" sz="quarter" idx="11"/>
          </p:nvPr>
        </p:nvSpPr>
        <p:spPr/>
        <p:txBody>
          <a:bodyPr/>
          <a:lstStyle/>
          <a:p>
            <a:pPr>
              <a:defRPr/>
            </a:pPr>
            <a:endParaRPr lang="en-US" altLang="en-US" dirty="0"/>
          </a:p>
        </p:txBody>
      </p:sp>
      <p:sp>
        <p:nvSpPr>
          <p:cNvPr id="7" name="Slide Number Placeholder 6"/>
          <p:cNvSpPr>
            <a:spLocks noGrp="1"/>
          </p:cNvSpPr>
          <p:nvPr>
            <p:ph type="sldNum" sz="quarter" idx="12"/>
          </p:nvPr>
        </p:nvSpPr>
        <p:spPr/>
        <p:txBody>
          <a:bodyPr/>
          <a:lstStyle/>
          <a:p>
            <a:fld id="{536D9969-BE9E-4688-B55A-CB6B14DF5421}" type="slidenum">
              <a:rPr lang="en-US" altLang="en-US" smtClean="0"/>
              <a:pPr/>
              <a:t>‹#›</a:t>
            </a:fld>
            <a:endParaRPr lang="en-US" altLang="en-US" dirty="0"/>
          </a:p>
        </p:txBody>
      </p:sp>
    </p:spTree>
    <p:extLst>
      <p:ext uri="{BB962C8B-B14F-4D97-AF65-F5344CB8AC3E}">
        <p14:creationId xmlns:p14="http://schemas.microsoft.com/office/powerpoint/2010/main" val="45438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217129" y="3159765"/>
            <a:ext cx="1573911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dirty="0"/>
              <a:t>Click icon to add picture</a:t>
            </a:r>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dirty="0"/>
          </a:p>
        </p:txBody>
      </p:sp>
      <p:sp>
        <p:nvSpPr>
          <p:cNvPr id="6" name="Footer Placeholder 5"/>
          <p:cNvSpPr>
            <a:spLocks noGrp="1"/>
          </p:cNvSpPr>
          <p:nvPr>
            <p:ph type="ftr" sz="quarter" idx="11"/>
          </p:nvPr>
        </p:nvSpPr>
        <p:spPr/>
        <p:txBody>
          <a:bodyPr/>
          <a:lstStyle/>
          <a:p>
            <a:pPr>
              <a:defRPr/>
            </a:pPr>
            <a:endParaRPr lang="en-US" altLang="en-US" dirty="0"/>
          </a:p>
        </p:txBody>
      </p:sp>
      <p:sp>
        <p:nvSpPr>
          <p:cNvPr id="7" name="Slide Number Placeholder 6"/>
          <p:cNvSpPr>
            <a:spLocks noGrp="1"/>
          </p:cNvSpPr>
          <p:nvPr>
            <p:ph type="sldNum" sz="quarter" idx="12"/>
          </p:nvPr>
        </p:nvSpPr>
        <p:spPr/>
        <p:txBody>
          <a:bodyPr/>
          <a:lstStyle/>
          <a:p>
            <a:fld id="{170827FB-9D8C-4C8F-AA33-59014C04D849}" type="slidenum">
              <a:rPr lang="en-US" altLang="en-US" smtClean="0"/>
              <a:pPr/>
              <a:t>‹#›</a:t>
            </a:fld>
            <a:endParaRPr lang="en-US" altLang="en-US" dirty="0"/>
          </a:p>
        </p:txBody>
      </p:sp>
    </p:spTree>
    <p:extLst>
      <p:ext uri="{BB962C8B-B14F-4D97-AF65-F5344CB8AC3E}">
        <p14:creationId xmlns:p14="http://schemas.microsoft.com/office/powerpoint/2010/main" val="87832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fld id="{92B3B6C8-5DF7-4ECA-B705-5E5573EEC491}" type="slidenum">
              <a:rPr lang="en-US" altLang="en-US" smtClean="0"/>
              <a:pPr/>
              <a:t>‹#›</a:t>
            </a:fld>
            <a:endParaRPr lang="en-US" altLang="en-US" dirty="0"/>
          </a:p>
        </p:txBody>
      </p:sp>
    </p:spTree>
    <p:extLst>
      <p:ext uri="{BB962C8B-B14F-4D97-AF65-F5344CB8AC3E}">
        <p14:creationId xmlns:p14="http://schemas.microsoft.com/office/powerpoint/2010/main" val="33373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248497" y="1168400"/>
            <a:ext cx="6703695"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137412" y="1168400"/>
            <a:ext cx="1972246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fld id="{53B11DE4-35AF-4E00-85A0-B84C18D78EE9}" type="slidenum">
              <a:rPr lang="en-US" altLang="en-US" smtClean="0"/>
              <a:pPr/>
              <a:t>‹#›</a:t>
            </a:fld>
            <a:endParaRPr lang="en-US" altLang="en-US" dirty="0"/>
          </a:p>
        </p:txBody>
      </p:sp>
    </p:spTree>
    <p:extLst>
      <p:ext uri="{BB962C8B-B14F-4D97-AF65-F5344CB8AC3E}">
        <p14:creationId xmlns:p14="http://schemas.microsoft.com/office/powerpoint/2010/main" val="60296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7410" y="1168405"/>
            <a:ext cx="2681478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37410" y="5842000"/>
            <a:ext cx="2681478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137410" y="20340325"/>
            <a:ext cx="699516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pPr>
              <a:defRPr/>
            </a:pPr>
            <a:endParaRPr lang="en-US" altLang="en-US" dirty="0"/>
          </a:p>
        </p:txBody>
      </p:sp>
      <p:sp>
        <p:nvSpPr>
          <p:cNvPr id="5" name="Footer Placeholder 4"/>
          <p:cNvSpPr>
            <a:spLocks noGrp="1"/>
          </p:cNvSpPr>
          <p:nvPr>
            <p:ph type="ftr" sz="quarter" idx="3"/>
          </p:nvPr>
        </p:nvSpPr>
        <p:spPr>
          <a:xfrm>
            <a:off x="10298430" y="20340325"/>
            <a:ext cx="1049274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pPr>
              <a:defRPr/>
            </a:pPr>
            <a:endParaRPr lang="en-US" altLang="en-US" dirty="0"/>
          </a:p>
        </p:txBody>
      </p:sp>
      <p:sp>
        <p:nvSpPr>
          <p:cNvPr id="6" name="Slide Number Placeholder 5"/>
          <p:cNvSpPr>
            <a:spLocks noGrp="1"/>
          </p:cNvSpPr>
          <p:nvPr>
            <p:ph type="sldNum" sz="quarter" idx="4"/>
          </p:nvPr>
        </p:nvSpPr>
        <p:spPr>
          <a:xfrm>
            <a:off x="21957030" y="20340325"/>
            <a:ext cx="699516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26495AE-97DF-403D-B20F-BDC3AFF068C2}" type="slidenum">
              <a:rPr lang="en-US" altLang="en-US" smtClean="0"/>
              <a:pPr/>
              <a:t>‹#›</a:t>
            </a:fld>
            <a:endParaRPr lang="en-US" altLang="en-US" dirty="0"/>
          </a:p>
        </p:txBody>
      </p:sp>
    </p:spTree>
    <p:extLst>
      <p:ext uri="{BB962C8B-B14F-4D97-AF65-F5344CB8AC3E}">
        <p14:creationId xmlns:p14="http://schemas.microsoft.com/office/powerpoint/2010/main" val="160694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CFA9FEE-8D4E-A591-CA5E-7AFC7A209190}"/>
              </a:ext>
            </a:extLst>
          </p:cNvPr>
          <p:cNvSpPr>
            <a:spLocks noChangeArrowheads="1"/>
          </p:cNvSpPr>
          <p:nvPr/>
        </p:nvSpPr>
        <p:spPr bwMode="auto">
          <a:xfrm>
            <a:off x="337418" y="215613"/>
            <a:ext cx="30414764" cy="3541251"/>
          </a:xfrm>
          <a:prstGeom prst="round2DiagRect">
            <a:avLst/>
          </a:prstGeom>
          <a:solidFill>
            <a:schemeClr val="bg1">
              <a:lumMod val="95000"/>
            </a:schemeClr>
          </a:solidFill>
          <a:ln w="9525">
            <a:noFill/>
            <a:miter lim="800000"/>
          </a:ln>
        </p:spPr>
        <p:txBody>
          <a:bodyPr lIns="73147" tIns="36574" rIns="73147" bIns="36574" anchor="ctr"/>
          <a:lstStyle>
            <a:defPPr>
              <a:defRPr kern="1200"/>
            </a:defPPr>
          </a:lstStyle>
          <a:p>
            <a:pPr algn="ctr"/>
            <a:r>
              <a:rPr lang="en-US" sz="8000" dirty="0"/>
              <a:t>Piezoelectric Energy Harvester for </a:t>
            </a:r>
          </a:p>
          <a:p>
            <a:pPr algn="ctr"/>
            <a:r>
              <a:rPr lang="en-US" sz="8000" dirty="0"/>
              <a:t>Inspection Counterweight Beeper</a:t>
            </a:r>
            <a:br>
              <a:rPr lang="en-US" sz="5667" b="1" dirty="0">
                <a:latin typeface="Quattrocento" panose="02020802030000000404" pitchFamily="18" charset="0"/>
              </a:rPr>
            </a:br>
            <a:r>
              <a:rPr lang="en-US" sz="5500" dirty="0">
                <a:latin typeface="Quattrocento" panose="02020802030000000404" pitchFamily="18" charset="0"/>
              </a:rPr>
              <a:t>Jake Schaefer</a:t>
            </a:r>
            <a:endParaRPr lang="en-US" sz="5000" dirty="0">
              <a:latin typeface="Quattrocento" panose="02020802030000000404" pitchFamily="18" charset="0"/>
            </a:endParaRPr>
          </a:p>
        </p:txBody>
      </p:sp>
      <p:sp>
        <p:nvSpPr>
          <p:cNvPr id="4" name="Rectangle 10">
            <a:extLst>
              <a:ext uri="{FF2B5EF4-FFF2-40B4-BE49-F238E27FC236}">
                <a16:creationId xmlns:a16="http://schemas.microsoft.com/office/drawing/2014/main" id="{62EEC462-7E7D-DFDA-F112-4B94BF86D32E}"/>
              </a:ext>
            </a:extLst>
          </p:cNvPr>
          <p:cNvSpPr>
            <a:spLocks noChangeArrowheads="1"/>
          </p:cNvSpPr>
          <p:nvPr/>
        </p:nvSpPr>
        <p:spPr bwMode="auto">
          <a:xfrm>
            <a:off x="8195900" y="4091561"/>
            <a:ext cx="7097490" cy="664067"/>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Methodology and Implementation</a:t>
            </a:r>
          </a:p>
        </p:txBody>
      </p:sp>
      <p:sp>
        <p:nvSpPr>
          <p:cNvPr id="5" name="Rectangle 10">
            <a:extLst>
              <a:ext uri="{FF2B5EF4-FFF2-40B4-BE49-F238E27FC236}">
                <a16:creationId xmlns:a16="http://schemas.microsoft.com/office/drawing/2014/main" id="{4F2B0B02-87E5-E2AF-952D-6C0078B64E22}"/>
              </a:ext>
            </a:extLst>
          </p:cNvPr>
          <p:cNvSpPr>
            <a:spLocks noChangeArrowheads="1"/>
          </p:cNvSpPr>
          <p:nvPr/>
        </p:nvSpPr>
        <p:spPr bwMode="auto">
          <a:xfrm>
            <a:off x="16003615" y="4120628"/>
            <a:ext cx="6632787"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Results and Discussion</a:t>
            </a:r>
          </a:p>
        </p:txBody>
      </p:sp>
      <p:sp>
        <p:nvSpPr>
          <p:cNvPr id="6" name="Rectangle 10">
            <a:extLst>
              <a:ext uri="{FF2B5EF4-FFF2-40B4-BE49-F238E27FC236}">
                <a16:creationId xmlns:a16="http://schemas.microsoft.com/office/drawing/2014/main" id="{636398ED-1B1B-341D-5D77-5F757E2670BA}"/>
              </a:ext>
            </a:extLst>
          </p:cNvPr>
          <p:cNvSpPr>
            <a:spLocks noChangeArrowheads="1"/>
          </p:cNvSpPr>
          <p:nvPr/>
        </p:nvSpPr>
        <p:spPr bwMode="auto">
          <a:xfrm>
            <a:off x="23305658" y="4091561"/>
            <a:ext cx="7172958" cy="611268"/>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Conclusion</a:t>
            </a:r>
          </a:p>
        </p:txBody>
      </p:sp>
      <p:sp>
        <p:nvSpPr>
          <p:cNvPr id="7" name="Rectangle 10">
            <a:extLst>
              <a:ext uri="{FF2B5EF4-FFF2-40B4-BE49-F238E27FC236}">
                <a16:creationId xmlns:a16="http://schemas.microsoft.com/office/drawing/2014/main" id="{41256205-A9B0-3314-1DF2-23A5BFFF9107}"/>
              </a:ext>
            </a:extLst>
          </p:cNvPr>
          <p:cNvSpPr>
            <a:spLocks noChangeArrowheads="1"/>
          </p:cNvSpPr>
          <p:nvPr/>
        </p:nvSpPr>
        <p:spPr bwMode="auto">
          <a:xfrm>
            <a:off x="606888" y="11412331"/>
            <a:ext cx="6592202" cy="563107"/>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Introduction</a:t>
            </a:r>
          </a:p>
        </p:txBody>
      </p:sp>
      <p:sp>
        <p:nvSpPr>
          <p:cNvPr id="8" name="Rectangle 10">
            <a:extLst>
              <a:ext uri="{FF2B5EF4-FFF2-40B4-BE49-F238E27FC236}">
                <a16:creationId xmlns:a16="http://schemas.microsoft.com/office/drawing/2014/main" id="{07E0BC13-539E-376D-6221-DC8776ACA92F}"/>
              </a:ext>
            </a:extLst>
          </p:cNvPr>
          <p:cNvSpPr>
            <a:spLocks noChangeArrowheads="1"/>
          </p:cNvSpPr>
          <p:nvPr/>
        </p:nvSpPr>
        <p:spPr bwMode="auto">
          <a:xfrm>
            <a:off x="23305526" y="10371189"/>
            <a:ext cx="7241136"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References</a:t>
            </a:r>
          </a:p>
        </p:txBody>
      </p:sp>
      <p:sp>
        <p:nvSpPr>
          <p:cNvPr id="14" name="Rectangle 10">
            <a:extLst>
              <a:ext uri="{FF2B5EF4-FFF2-40B4-BE49-F238E27FC236}">
                <a16:creationId xmlns:a16="http://schemas.microsoft.com/office/drawing/2014/main" id="{B3F2B393-920F-D261-A387-10282A2EA52A}"/>
              </a:ext>
            </a:extLst>
          </p:cNvPr>
          <p:cNvSpPr>
            <a:spLocks noChangeArrowheads="1"/>
          </p:cNvSpPr>
          <p:nvPr/>
        </p:nvSpPr>
        <p:spPr bwMode="auto">
          <a:xfrm>
            <a:off x="432644" y="5056486"/>
            <a:ext cx="6766446" cy="6033839"/>
          </a:xfrm>
          <a:prstGeom prst="round2DiagRect">
            <a:avLst>
              <a:gd name="adj1" fmla="val 6827"/>
              <a:gd name="adj2" fmla="val 113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defRPr/>
            </a:pPr>
            <a:endParaRPr lang="en-US" sz="2400" b="1" dirty="0">
              <a:noFill/>
              <a:latin typeface="Quattrocento" panose="02020802030000000404" pitchFamily="18" charset="0"/>
            </a:endParaRPr>
          </a:p>
        </p:txBody>
      </p:sp>
      <p:sp>
        <p:nvSpPr>
          <p:cNvPr id="17" name="Rectangle 10">
            <a:extLst>
              <a:ext uri="{FF2B5EF4-FFF2-40B4-BE49-F238E27FC236}">
                <a16:creationId xmlns:a16="http://schemas.microsoft.com/office/drawing/2014/main" id="{C7540361-BB1D-1F97-AD38-28C1AA546DA4}"/>
              </a:ext>
            </a:extLst>
          </p:cNvPr>
          <p:cNvSpPr>
            <a:spLocks noChangeArrowheads="1"/>
          </p:cNvSpPr>
          <p:nvPr/>
        </p:nvSpPr>
        <p:spPr bwMode="auto">
          <a:xfrm>
            <a:off x="8195900" y="5056487"/>
            <a:ext cx="7037915" cy="16064658"/>
          </a:xfrm>
          <a:prstGeom prst="round2DiagRect">
            <a:avLst>
              <a:gd name="adj1" fmla="val 6827"/>
              <a:gd name="adj2" fmla="val 346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dirty="0">
              <a:noFill/>
              <a:latin typeface="Quattrocento" panose="02020802030000000404" pitchFamily="18" charset="0"/>
            </a:endParaRPr>
          </a:p>
        </p:txBody>
      </p:sp>
      <p:sp>
        <p:nvSpPr>
          <p:cNvPr id="19" name="Rectangle 10">
            <a:extLst>
              <a:ext uri="{FF2B5EF4-FFF2-40B4-BE49-F238E27FC236}">
                <a16:creationId xmlns:a16="http://schemas.microsoft.com/office/drawing/2014/main" id="{55D80D3B-B48E-B2C9-F144-96673EADEE9C}"/>
              </a:ext>
            </a:extLst>
          </p:cNvPr>
          <p:cNvSpPr>
            <a:spLocks noChangeArrowheads="1"/>
          </p:cNvSpPr>
          <p:nvPr/>
        </p:nvSpPr>
        <p:spPr bwMode="auto">
          <a:xfrm>
            <a:off x="23305526" y="5023215"/>
            <a:ext cx="7158344" cy="5109781"/>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dirty="0">
              <a:noFill/>
              <a:latin typeface="Quattrocento" panose="02020802030000000404" pitchFamily="18" charset="0"/>
            </a:endParaRPr>
          </a:p>
        </p:txBody>
      </p:sp>
      <p:sp>
        <p:nvSpPr>
          <p:cNvPr id="20" name="Rectangle 10">
            <a:extLst>
              <a:ext uri="{FF2B5EF4-FFF2-40B4-BE49-F238E27FC236}">
                <a16:creationId xmlns:a16="http://schemas.microsoft.com/office/drawing/2014/main" id="{085BEEBA-5CDB-2CD7-06AC-21DFBE193CBF}"/>
              </a:ext>
            </a:extLst>
          </p:cNvPr>
          <p:cNvSpPr>
            <a:spLocks noChangeArrowheads="1"/>
          </p:cNvSpPr>
          <p:nvPr/>
        </p:nvSpPr>
        <p:spPr bwMode="auto">
          <a:xfrm>
            <a:off x="16053295" y="5056487"/>
            <a:ext cx="6507657" cy="9573913"/>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dirty="0">
              <a:noFill/>
              <a:latin typeface="Quattrocento" panose="02020802030000000404" pitchFamily="18" charset="0"/>
            </a:endParaRPr>
          </a:p>
        </p:txBody>
      </p:sp>
      <p:sp>
        <p:nvSpPr>
          <p:cNvPr id="21" name="Rectangle 10">
            <a:extLst>
              <a:ext uri="{FF2B5EF4-FFF2-40B4-BE49-F238E27FC236}">
                <a16:creationId xmlns:a16="http://schemas.microsoft.com/office/drawing/2014/main" id="{C8443A62-DD12-B4DF-3D4D-DF311ABE0DCB}"/>
              </a:ext>
            </a:extLst>
          </p:cNvPr>
          <p:cNvSpPr>
            <a:spLocks noChangeArrowheads="1"/>
          </p:cNvSpPr>
          <p:nvPr/>
        </p:nvSpPr>
        <p:spPr bwMode="auto">
          <a:xfrm>
            <a:off x="395796" y="12297443"/>
            <a:ext cx="6895841" cy="8823702"/>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dirty="0">
              <a:noFill/>
              <a:latin typeface="Quattrocento" panose="02020802030000000404" pitchFamily="18" charset="0"/>
            </a:endParaRPr>
          </a:p>
        </p:txBody>
      </p:sp>
      <p:sp>
        <p:nvSpPr>
          <p:cNvPr id="22" name="Rectangle 10">
            <a:extLst>
              <a:ext uri="{FF2B5EF4-FFF2-40B4-BE49-F238E27FC236}">
                <a16:creationId xmlns:a16="http://schemas.microsoft.com/office/drawing/2014/main" id="{02D32A73-8566-BD19-AA5F-CF4418B1357A}"/>
              </a:ext>
            </a:extLst>
          </p:cNvPr>
          <p:cNvSpPr>
            <a:spLocks noChangeArrowheads="1"/>
          </p:cNvSpPr>
          <p:nvPr/>
        </p:nvSpPr>
        <p:spPr bwMode="auto">
          <a:xfrm>
            <a:off x="23299298" y="13391461"/>
            <a:ext cx="7247363" cy="611268"/>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Project Team</a:t>
            </a:r>
            <a:endParaRPr lang="en-US" sz="2400" b="1" dirty="0">
              <a:solidFill>
                <a:schemeClr val="bg1"/>
              </a:solidFill>
              <a:latin typeface="Quattrocento" panose="02020802030000000404" pitchFamily="18" charset="0"/>
            </a:endParaRPr>
          </a:p>
        </p:txBody>
      </p:sp>
      <p:pic>
        <p:nvPicPr>
          <p:cNvPr id="3078" name="Picture 6">
            <a:extLst>
              <a:ext uri="{FF2B5EF4-FFF2-40B4-BE49-F238E27FC236}">
                <a16:creationId xmlns:a16="http://schemas.microsoft.com/office/drawing/2014/main" id="{D414772E-614C-C824-438C-924E7FD4C4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39" y="910131"/>
            <a:ext cx="5318761" cy="1547788"/>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10">
            <a:extLst>
              <a:ext uri="{FF2B5EF4-FFF2-40B4-BE49-F238E27FC236}">
                <a16:creationId xmlns:a16="http://schemas.microsoft.com/office/drawing/2014/main" id="{3BDD11BB-3B2D-4E34-784B-7827A6C68691}"/>
              </a:ext>
            </a:extLst>
          </p:cNvPr>
          <p:cNvSpPr>
            <a:spLocks noChangeArrowheads="1"/>
          </p:cNvSpPr>
          <p:nvPr/>
        </p:nvSpPr>
        <p:spPr bwMode="auto">
          <a:xfrm>
            <a:off x="23239439" y="17164467"/>
            <a:ext cx="7239177" cy="630198"/>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Acknowledgements</a:t>
            </a:r>
          </a:p>
        </p:txBody>
      </p:sp>
      <p:sp>
        <p:nvSpPr>
          <p:cNvPr id="26" name="Rectangle 10">
            <a:extLst>
              <a:ext uri="{FF2B5EF4-FFF2-40B4-BE49-F238E27FC236}">
                <a16:creationId xmlns:a16="http://schemas.microsoft.com/office/drawing/2014/main" id="{7973899A-7636-87C4-2A13-FF8D33D321F5}"/>
              </a:ext>
            </a:extLst>
          </p:cNvPr>
          <p:cNvSpPr>
            <a:spLocks noChangeArrowheads="1"/>
          </p:cNvSpPr>
          <p:nvPr/>
        </p:nvSpPr>
        <p:spPr bwMode="auto">
          <a:xfrm>
            <a:off x="23175111" y="17984861"/>
            <a:ext cx="7239176" cy="3541251"/>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dirty="0">
              <a:latin typeface="Quattrocento" panose="02020802030000000404" pitchFamily="18" charset="0"/>
            </a:endParaRPr>
          </a:p>
        </p:txBody>
      </p:sp>
      <p:sp>
        <p:nvSpPr>
          <p:cNvPr id="3" name="Rectangle 10">
            <a:extLst>
              <a:ext uri="{FF2B5EF4-FFF2-40B4-BE49-F238E27FC236}">
                <a16:creationId xmlns:a16="http://schemas.microsoft.com/office/drawing/2014/main" id="{2322E805-983F-9253-3B0A-5F5DDC88459B}"/>
              </a:ext>
            </a:extLst>
          </p:cNvPr>
          <p:cNvSpPr>
            <a:spLocks noChangeArrowheads="1"/>
          </p:cNvSpPr>
          <p:nvPr/>
        </p:nvSpPr>
        <p:spPr bwMode="auto">
          <a:xfrm>
            <a:off x="519289" y="4131661"/>
            <a:ext cx="6881861" cy="623968"/>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Abstract</a:t>
            </a:r>
          </a:p>
        </p:txBody>
      </p:sp>
      <p:pic>
        <p:nvPicPr>
          <p:cNvPr id="28" name="Picture 27" descr="A black and orange letter&#10;&#10;AI-generated content may be incorrect.">
            <a:extLst>
              <a:ext uri="{FF2B5EF4-FFF2-40B4-BE49-F238E27FC236}">
                <a16:creationId xmlns:a16="http://schemas.microsoft.com/office/drawing/2014/main" id="{A9F8526F-8656-CD5D-B24B-53101F7B73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59855" y="1023840"/>
            <a:ext cx="5318761" cy="1521452"/>
          </a:xfrm>
          <a:prstGeom prst="rect">
            <a:avLst/>
          </a:prstGeom>
        </p:spPr>
      </p:pic>
      <p:sp>
        <p:nvSpPr>
          <p:cNvPr id="31" name="Rectangle 10">
            <a:extLst>
              <a:ext uri="{FF2B5EF4-FFF2-40B4-BE49-F238E27FC236}">
                <a16:creationId xmlns:a16="http://schemas.microsoft.com/office/drawing/2014/main" id="{33C7406B-2A4D-9D5D-812A-3F4DC5137EC4}"/>
              </a:ext>
            </a:extLst>
          </p:cNvPr>
          <p:cNvSpPr>
            <a:spLocks noChangeArrowheads="1"/>
          </p:cNvSpPr>
          <p:nvPr/>
        </p:nvSpPr>
        <p:spPr bwMode="auto">
          <a:xfrm>
            <a:off x="16082070" y="14900859"/>
            <a:ext cx="650765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Project/Prototype Images</a:t>
            </a:r>
          </a:p>
        </p:txBody>
      </p:sp>
      <p:sp>
        <p:nvSpPr>
          <p:cNvPr id="32" name="Rectangle 10">
            <a:extLst>
              <a:ext uri="{FF2B5EF4-FFF2-40B4-BE49-F238E27FC236}">
                <a16:creationId xmlns:a16="http://schemas.microsoft.com/office/drawing/2014/main" id="{69FF1C72-F5A1-A64F-C5A6-937B4CA2462B}"/>
              </a:ext>
            </a:extLst>
          </p:cNvPr>
          <p:cNvSpPr>
            <a:spLocks noChangeArrowheads="1"/>
          </p:cNvSpPr>
          <p:nvPr/>
        </p:nvSpPr>
        <p:spPr bwMode="auto">
          <a:xfrm>
            <a:off x="23305527" y="11176581"/>
            <a:ext cx="7158344" cy="2024684"/>
          </a:xfrm>
          <a:prstGeom prst="round2DiagRect">
            <a:avLst>
              <a:gd name="adj1" fmla="val 6827"/>
              <a:gd name="adj2" fmla="val 2794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dirty="0">
              <a:noFill/>
              <a:latin typeface="Quattrocento" panose="02020802030000000404" pitchFamily="18" charset="0"/>
            </a:endParaRPr>
          </a:p>
        </p:txBody>
      </p:sp>
      <p:sp>
        <p:nvSpPr>
          <p:cNvPr id="9" name="TextBox 8">
            <a:extLst>
              <a:ext uri="{FF2B5EF4-FFF2-40B4-BE49-F238E27FC236}">
                <a16:creationId xmlns:a16="http://schemas.microsoft.com/office/drawing/2014/main" id="{D203E0E0-E942-2B97-C65B-ECDB1A4BCB77}"/>
              </a:ext>
            </a:extLst>
          </p:cNvPr>
          <p:cNvSpPr txBox="1"/>
          <p:nvPr/>
        </p:nvSpPr>
        <p:spPr>
          <a:xfrm>
            <a:off x="653594" y="5261085"/>
            <a:ext cx="6355002" cy="5924699"/>
          </a:xfrm>
          <a:prstGeom prst="rect">
            <a:avLst/>
          </a:prstGeom>
          <a:noFill/>
        </p:spPr>
        <p:txBody>
          <a:bodyPr wrap="square" rtlCol="0">
            <a:spAutoFit/>
          </a:bodyPr>
          <a:lstStyle/>
          <a:p>
            <a:r>
              <a:rPr lang="en-US" sz="1900" dirty="0"/>
              <a:t>Elevator counterweights play a critical role in ensuring proper balance and function within elevator systems. However, they also present a significant safety risk for maintenance personnel when working inside the hoist way. When counterweight movement goes undetected, workers face potential injury or even fatal accidents. This capstone project addresses the issue by developing the </a:t>
            </a:r>
            <a:r>
              <a:rPr lang="en-US" sz="1900" i="1" dirty="0"/>
              <a:t>Piezoelectric Energy Harvester for Inspection Counterweight Beeper</a:t>
            </a:r>
            <a:r>
              <a:rPr lang="en-US" sz="1900" dirty="0"/>
              <a:t>, a self-powered safety system designed to alert workers of counterweight movement using piezoelectric energy harvesting. By converting mechanical motion into electrical energy, this technology powers a flashing light and buzzer, serving as an independent warning system without requiring an external power source. This project validates the feasibility of piezoelectric energy harvesting in safety applications while contributing to advancements in green energy solutions and industrial safety. The system's ability to autonomously generate power enhances workplace safety and promotes the development of self-sustaining safety technologies.</a:t>
            </a:r>
          </a:p>
          <a:p>
            <a:endParaRPr lang="en-US" dirty="0"/>
          </a:p>
        </p:txBody>
      </p:sp>
      <p:sp>
        <p:nvSpPr>
          <p:cNvPr id="10" name="TextBox 9">
            <a:extLst>
              <a:ext uri="{FF2B5EF4-FFF2-40B4-BE49-F238E27FC236}">
                <a16:creationId xmlns:a16="http://schemas.microsoft.com/office/drawing/2014/main" id="{461F9891-AC64-DB87-CEBD-ADDFE0DDD7C1}"/>
              </a:ext>
            </a:extLst>
          </p:cNvPr>
          <p:cNvSpPr txBox="1"/>
          <p:nvPr/>
        </p:nvSpPr>
        <p:spPr>
          <a:xfrm>
            <a:off x="794467" y="12564957"/>
            <a:ext cx="6214129" cy="8556188"/>
          </a:xfrm>
          <a:prstGeom prst="rect">
            <a:avLst/>
          </a:prstGeom>
          <a:noFill/>
        </p:spPr>
        <p:txBody>
          <a:bodyPr wrap="square" rtlCol="0">
            <a:spAutoFit/>
          </a:bodyPr>
          <a:lstStyle/>
          <a:p>
            <a:pPr>
              <a:buNone/>
            </a:pPr>
            <a:r>
              <a:rPr lang="en-US" sz="1900" dirty="0"/>
              <a:t>Elevator counterweights are essential for efficient elevator operation, as they help balance the load and minimize energy consumption. However, during maintenance, counterweights can move silently, posing serious hazards to workers who may be in close proximity. Without a clear and immediate warning system, counterweight movements can result in severe injuries or fatalities.</a:t>
            </a:r>
          </a:p>
          <a:p>
            <a:pPr>
              <a:buNone/>
            </a:pPr>
            <a:r>
              <a:rPr lang="en-US" sz="1900" dirty="0"/>
              <a:t>To mitigate these risks, this capstone project introduces the Inspection Counterweight Beeper Box, a self-powered safety alert system using piezoelectric energy harvesting. Existing warning systems only operate within limited range of elevator speeds and have limited battery life, which can be unreliable or unavailable in certain conditions. This system eliminates that limitation by capturing mechanical energy and converting it into electrical power, ensuring that maintenance personnel receive timely warnings without reliance on batteries or external electrical sources.</a:t>
            </a:r>
          </a:p>
          <a:p>
            <a:pPr>
              <a:buNone/>
            </a:pPr>
            <a:endParaRPr lang="en-US" sz="1900" dirty="0"/>
          </a:p>
          <a:p>
            <a:pPr>
              <a:buNone/>
            </a:pPr>
            <a:r>
              <a:rPr lang="en-US" sz="1900" dirty="0"/>
              <a:t>The project is driven by two primary motivations:</a:t>
            </a:r>
          </a:p>
          <a:p>
            <a:pPr>
              <a:buFont typeface="+mj-lt"/>
              <a:buAutoNum type="arabicPeriod"/>
            </a:pPr>
            <a:r>
              <a:rPr lang="en-US" sz="1900" dirty="0"/>
              <a:t> Enhancing safety standards for elevator maintenance personnel.</a:t>
            </a:r>
          </a:p>
          <a:p>
            <a:pPr>
              <a:buFont typeface="+mj-lt"/>
              <a:buAutoNum type="arabicPeriod"/>
            </a:pPr>
            <a:r>
              <a:rPr lang="en-US" sz="1900" dirty="0"/>
              <a:t> Integrating green energy solutions into industrial safety systems.</a:t>
            </a:r>
          </a:p>
          <a:p>
            <a:pPr>
              <a:buFont typeface="+mj-lt"/>
              <a:buAutoNum type="arabicPeriod"/>
            </a:pPr>
            <a:endParaRPr lang="en-US" sz="1900" dirty="0"/>
          </a:p>
          <a:p>
            <a:r>
              <a:rPr lang="en-US" sz="1900" dirty="0"/>
              <a:t>By combining energy-efficient innovations with workplace safety measures, the Inspection Counterweight Beeper Box supports the broader goal of developing sustainable safety technologies that improve industry standards.</a:t>
            </a:r>
          </a:p>
          <a:p>
            <a:endParaRPr lang="en-US" dirty="0"/>
          </a:p>
        </p:txBody>
      </p:sp>
      <p:sp>
        <p:nvSpPr>
          <p:cNvPr id="11" name="TextBox 10">
            <a:extLst>
              <a:ext uri="{FF2B5EF4-FFF2-40B4-BE49-F238E27FC236}">
                <a16:creationId xmlns:a16="http://schemas.microsoft.com/office/drawing/2014/main" id="{F527C410-CBD6-F135-232C-A5B48897CC64}"/>
              </a:ext>
            </a:extLst>
          </p:cNvPr>
          <p:cNvSpPr txBox="1"/>
          <p:nvPr/>
        </p:nvSpPr>
        <p:spPr>
          <a:xfrm>
            <a:off x="8539361" y="5276617"/>
            <a:ext cx="6556921" cy="16450657"/>
          </a:xfrm>
          <a:prstGeom prst="rect">
            <a:avLst/>
          </a:prstGeom>
          <a:noFill/>
        </p:spPr>
        <p:txBody>
          <a:bodyPr wrap="square" rtlCol="0">
            <a:spAutoFit/>
          </a:bodyPr>
          <a:lstStyle/>
          <a:p>
            <a:pPr>
              <a:buNone/>
            </a:pPr>
            <a:r>
              <a:rPr lang="en-US" sz="1900" dirty="0"/>
              <a:t>The project focused on developing and validating a piezoelectric energy harvester capable of generating consistent electrical power for a warning system that includes a buzzer and flashing light. The methodology consisted of several key phases:</a:t>
            </a:r>
          </a:p>
          <a:p>
            <a:pPr>
              <a:buNone/>
            </a:pPr>
            <a:endParaRPr lang="en-US" sz="1900" dirty="0"/>
          </a:p>
          <a:p>
            <a:pPr>
              <a:buNone/>
            </a:pPr>
            <a:r>
              <a:rPr lang="en-US" sz="1900" dirty="0"/>
              <a:t>1. Design and Development</a:t>
            </a:r>
          </a:p>
          <a:p>
            <a:pPr>
              <a:buFont typeface="Arial" panose="020B0604020202020204" pitchFamily="34" charset="0"/>
              <a:buChar char="•"/>
            </a:pPr>
            <a:r>
              <a:rPr lang="en-US" sz="1900" dirty="0"/>
              <a:t>A piezoelectric harvester was designed to efficiently capture vibrational and mechanical energy generated by counterweight movement.</a:t>
            </a:r>
          </a:p>
          <a:p>
            <a:pPr>
              <a:buNone/>
            </a:pPr>
            <a:r>
              <a:rPr lang="en-US" sz="1900" dirty="0"/>
              <a:t>2. Electrical System Validation</a:t>
            </a:r>
          </a:p>
          <a:p>
            <a:pPr>
              <a:buFont typeface="Arial" panose="020B0604020202020204" pitchFamily="34" charset="0"/>
              <a:buChar char="•"/>
            </a:pPr>
            <a:r>
              <a:rPr lang="en-US" sz="1900" dirty="0"/>
              <a:t>Testing was conducted to confirm the harvester’s ability to generate a steady 9V output, sufficient to charge a battery and continuously power the safety system.</a:t>
            </a:r>
          </a:p>
          <a:p>
            <a:pPr>
              <a:buFont typeface="Arial" panose="020B0604020202020204" pitchFamily="34" charset="0"/>
              <a:buChar char="•"/>
            </a:pPr>
            <a:r>
              <a:rPr lang="en-US" sz="1900" dirty="0"/>
              <a:t>The battery system was optimized for efficiency and long-term reliability to ensure functionality across various elevator conditions.</a:t>
            </a:r>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endParaRPr lang="en-US" sz="1900" dirty="0"/>
          </a:p>
          <a:p>
            <a:pPr>
              <a:buFont typeface="Arial" panose="020B0604020202020204" pitchFamily="34" charset="0"/>
              <a:buChar char="•"/>
            </a:pPr>
            <a:endParaRPr lang="en-US" sz="1900" dirty="0"/>
          </a:p>
          <a:p>
            <a:pPr>
              <a:buNone/>
            </a:pPr>
            <a:r>
              <a:rPr lang="en-US" sz="1900" dirty="0"/>
              <a:t>3. Mechanical System Optimization</a:t>
            </a:r>
          </a:p>
          <a:p>
            <a:pPr>
              <a:buFont typeface="Arial" panose="020B0604020202020204" pitchFamily="34" charset="0"/>
              <a:buChar char="•"/>
            </a:pPr>
            <a:r>
              <a:rPr lang="en-US" sz="1900" dirty="0"/>
              <a:t>The system was tested under different counterweight speeds to verify its adaptability across multiple operational scenarios.</a:t>
            </a:r>
          </a:p>
          <a:p>
            <a:pPr>
              <a:buFont typeface="Arial" panose="020B0604020202020204" pitchFamily="34" charset="0"/>
              <a:buChar char="•"/>
            </a:pPr>
            <a:r>
              <a:rPr lang="en-US" sz="1900" dirty="0"/>
              <a:t>Components were reinforced to withstand harsh environments and maintain consistent energy conversion.</a:t>
            </a:r>
          </a:p>
          <a:p>
            <a:pPr>
              <a:buNone/>
            </a:pPr>
            <a:r>
              <a:rPr lang="en-US" sz="1900" dirty="0"/>
              <a:t>4. Prototype Testing</a:t>
            </a:r>
          </a:p>
          <a:p>
            <a:pPr>
              <a:buFont typeface="Arial" panose="020B0604020202020204" pitchFamily="34" charset="0"/>
              <a:buChar char="•"/>
            </a:pPr>
            <a:r>
              <a:rPr lang="en-US" sz="1900" dirty="0"/>
              <a:t>A working prototype was developed and assessed under simulated elevator conditions.</a:t>
            </a:r>
          </a:p>
          <a:p>
            <a:pPr>
              <a:buFont typeface="Arial" panose="020B0604020202020204" pitchFamily="34" charset="0"/>
              <a:buChar char="•"/>
            </a:pPr>
            <a:r>
              <a:rPr lang="en-US" sz="1900" dirty="0"/>
              <a:t>Data was collected on power output, efficiency, and activation response, providing insights for further refinement of the technology.</a:t>
            </a:r>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pPr>
              <a:buFont typeface="Arial" panose="020B0604020202020204" pitchFamily="34" charset="0"/>
              <a:buChar char="•"/>
            </a:pPr>
            <a:endParaRPr lang="en-US" sz="1900" dirty="0"/>
          </a:p>
          <a:p>
            <a:r>
              <a:rPr lang="en-US" sz="1900" dirty="0"/>
              <a:t>By carefully designing and implementing a self-sustaining energy system, this project delivers a practical safety solution that enhances workplace protection without requiring constant maintenance or external power sources.</a:t>
            </a:r>
          </a:p>
          <a:p>
            <a:endParaRPr lang="en-US" dirty="0"/>
          </a:p>
        </p:txBody>
      </p:sp>
      <p:sp>
        <p:nvSpPr>
          <p:cNvPr id="12" name="TextBox 11">
            <a:extLst>
              <a:ext uri="{FF2B5EF4-FFF2-40B4-BE49-F238E27FC236}">
                <a16:creationId xmlns:a16="http://schemas.microsoft.com/office/drawing/2014/main" id="{8FB17206-E60E-C9CE-AD13-AB2768F0C22E}"/>
              </a:ext>
            </a:extLst>
          </p:cNvPr>
          <p:cNvSpPr txBox="1"/>
          <p:nvPr/>
        </p:nvSpPr>
        <p:spPr>
          <a:xfrm>
            <a:off x="16331716" y="5230576"/>
            <a:ext cx="6030475" cy="9787295"/>
          </a:xfrm>
          <a:prstGeom prst="rect">
            <a:avLst/>
          </a:prstGeom>
          <a:noFill/>
        </p:spPr>
        <p:txBody>
          <a:bodyPr wrap="square" rtlCol="0">
            <a:spAutoFit/>
          </a:bodyPr>
          <a:lstStyle/>
          <a:p>
            <a:pPr>
              <a:buNone/>
            </a:pPr>
            <a:r>
              <a:rPr lang="en-US" sz="1900" dirty="0"/>
              <a:t>Testing results confirmed that the piezoelectric harvester successfully produced a stable and continuous output exceeding 9V, validating its ability to autonomously power the warning system. The system remained effective across varying counterweight speeds, ensuring reliability in diverse operating conditions.</a:t>
            </a:r>
          </a:p>
          <a:p>
            <a:pPr>
              <a:buNone/>
            </a:pPr>
            <a:endParaRPr lang="en-US" sz="1900" dirty="0"/>
          </a:p>
          <a:p>
            <a:pPr>
              <a:buNone/>
            </a:pPr>
            <a:r>
              <a:rPr lang="en-US" sz="1900" dirty="0"/>
              <a:t>Key findings include:</a:t>
            </a:r>
          </a:p>
          <a:p>
            <a:pPr>
              <a:buFont typeface="Arial" panose="020B0604020202020204" pitchFamily="34" charset="0"/>
              <a:buChar char="•"/>
            </a:pPr>
            <a:r>
              <a:rPr lang="en-US" sz="1900" dirty="0"/>
              <a:t>Consistent voltage generation under multiple test scenarios.</a:t>
            </a:r>
          </a:p>
          <a:p>
            <a:pPr>
              <a:buFont typeface="Arial" panose="020B0604020202020204" pitchFamily="34" charset="0"/>
              <a:buChar char="•"/>
            </a:pPr>
            <a:r>
              <a:rPr lang="en-US" sz="2000" dirty="0"/>
              <a:t>Consistent produced a stable voltage output, exceeding the expected 9V requirement for battery charging.</a:t>
            </a:r>
          </a:p>
          <a:p>
            <a:pPr>
              <a:buNone/>
            </a:pPr>
            <a:endParaRPr lang="en-US" sz="1900" dirty="0"/>
          </a:p>
          <a:p>
            <a:pPr>
              <a:buNone/>
            </a:pPr>
            <a:r>
              <a:rPr lang="en-US" sz="1900" dirty="0"/>
              <a:t>Beyond its immediate application for elevator maintenance safety, this project opens opportunities for further development in self-powered industrial warning systems, supporting broader advancements in energy-efficient technologies. </a:t>
            </a:r>
          </a:p>
          <a:p>
            <a:pPr>
              <a:buNone/>
            </a:pPr>
            <a:endParaRPr lang="en-US" sz="1900" dirty="0"/>
          </a:p>
          <a:p>
            <a:pPr>
              <a:buNone/>
            </a:pPr>
            <a:r>
              <a:rPr lang="en-US" sz="1900" dirty="0"/>
              <a:t>Future improvements may focus on:</a:t>
            </a:r>
          </a:p>
          <a:p>
            <a:pPr>
              <a:buFont typeface="Arial" panose="020B0604020202020204" pitchFamily="34" charset="0"/>
              <a:buChar char="•"/>
            </a:pPr>
            <a:r>
              <a:rPr lang="en-US" sz="1900" dirty="0"/>
              <a:t>Enhancing energy storage capacity for extended functionality.</a:t>
            </a:r>
          </a:p>
          <a:p>
            <a:pPr>
              <a:buFont typeface="Arial" panose="020B0604020202020204" pitchFamily="34" charset="0"/>
              <a:buChar char="•"/>
            </a:pPr>
            <a:r>
              <a:rPr lang="en-US" sz="1900" dirty="0"/>
              <a:t>Optimizing piezoelectric materials to increase energy conversion efficiency.</a:t>
            </a:r>
          </a:p>
          <a:p>
            <a:pPr>
              <a:buFont typeface="Arial" panose="020B0604020202020204" pitchFamily="34" charset="0"/>
              <a:buChar char="•"/>
            </a:pPr>
            <a:r>
              <a:rPr lang="en-US" sz="1900" dirty="0"/>
              <a:t>Exploring integration with other elevator safety mechanisms for comprehensive hazard prevention.</a:t>
            </a:r>
          </a:p>
          <a:p>
            <a:pPr>
              <a:buFont typeface="Arial" panose="020B0604020202020204" pitchFamily="34" charset="0"/>
              <a:buChar char="•"/>
            </a:pPr>
            <a:endParaRPr lang="en-US" sz="1900" dirty="0"/>
          </a:p>
          <a:p>
            <a:r>
              <a:rPr lang="en-US" sz="1900" dirty="0"/>
              <a:t>Next steps:</a:t>
            </a:r>
          </a:p>
          <a:p>
            <a:pPr>
              <a:buFont typeface="Arial" panose="020B0604020202020204" pitchFamily="34" charset="0"/>
              <a:buChar char="•"/>
            </a:pPr>
            <a:r>
              <a:rPr lang="en-US" sz="2000" dirty="0"/>
              <a:t>Develop an electrical board with the necessary voltage </a:t>
            </a:r>
            <a:r>
              <a:rPr lang="en-US" sz="2000" b="1" dirty="0"/>
              <a:t>regulation, filtering, and conversion</a:t>
            </a:r>
            <a:r>
              <a:rPr lang="en-US" sz="2000" dirty="0"/>
              <a:t> components for efficient battery charging</a:t>
            </a:r>
          </a:p>
          <a:p>
            <a:endParaRPr lang="en-US" dirty="0"/>
          </a:p>
          <a:p>
            <a:endParaRPr lang="en-US" dirty="0"/>
          </a:p>
        </p:txBody>
      </p:sp>
      <p:sp>
        <p:nvSpPr>
          <p:cNvPr id="13" name="TextBox 12">
            <a:extLst>
              <a:ext uri="{FF2B5EF4-FFF2-40B4-BE49-F238E27FC236}">
                <a16:creationId xmlns:a16="http://schemas.microsoft.com/office/drawing/2014/main" id="{E77788DE-640E-A8E5-9EF1-33B7D54F7B48}"/>
              </a:ext>
            </a:extLst>
          </p:cNvPr>
          <p:cNvSpPr txBox="1"/>
          <p:nvPr/>
        </p:nvSpPr>
        <p:spPr>
          <a:xfrm>
            <a:off x="23531159" y="5261085"/>
            <a:ext cx="6653774" cy="5047536"/>
          </a:xfrm>
          <a:prstGeom prst="rect">
            <a:avLst/>
          </a:prstGeom>
          <a:noFill/>
        </p:spPr>
        <p:txBody>
          <a:bodyPr wrap="square" rtlCol="0">
            <a:spAutoFit/>
          </a:bodyPr>
          <a:lstStyle/>
          <a:p>
            <a:pPr>
              <a:buNone/>
            </a:pPr>
            <a:r>
              <a:rPr lang="en-US" sz="1900" dirty="0"/>
              <a:t>The </a:t>
            </a:r>
            <a:r>
              <a:rPr lang="en-US" sz="1900" i="1" dirty="0"/>
              <a:t>Piezoelectric Energy Harvester for Inspection Counterweight Beeper Box </a:t>
            </a:r>
            <a:r>
              <a:rPr lang="en-US" sz="1900" dirty="0"/>
              <a:t>demonstrates the successful application of piezoelectric technology in developing a self-powered industrial safety system. By converting mechanical motion into electrical energy, the system effectively eliminates dependency on external power sources.</a:t>
            </a:r>
          </a:p>
          <a:p>
            <a:pPr>
              <a:buNone/>
            </a:pPr>
            <a:r>
              <a:rPr lang="en-US" sz="1900" dirty="0"/>
              <a:t>This innovation contributes to workplace safety by ensuring maintenance personnel receive timely alerts regarding counterweight movement, reducing the risk of injuries or fatalities. The project aligns with sustainability and energy efficiency goals, reinforcing the potential of piezoelectric energy harvesting in industrial safety applications.</a:t>
            </a:r>
          </a:p>
          <a:p>
            <a:r>
              <a:rPr lang="en-US" sz="1900" dirty="0"/>
              <a:t>As future improvements enhance its energy storage capability and efficiency, this technology has the potential to be integrated into larger-scale elevator safety systems, supporting the industry’s commitment to safer and more sustainable solutions.</a:t>
            </a:r>
          </a:p>
          <a:p>
            <a:endParaRPr lang="en-US" dirty="0"/>
          </a:p>
        </p:txBody>
      </p:sp>
      <p:sp>
        <p:nvSpPr>
          <p:cNvPr id="27" name="TextBox 26">
            <a:extLst>
              <a:ext uri="{FF2B5EF4-FFF2-40B4-BE49-F238E27FC236}">
                <a16:creationId xmlns:a16="http://schemas.microsoft.com/office/drawing/2014/main" id="{49D91DA5-95CF-E150-CB1D-A7B4F52E393D}"/>
              </a:ext>
            </a:extLst>
          </p:cNvPr>
          <p:cNvSpPr txBox="1"/>
          <p:nvPr/>
        </p:nvSpPr>
        <p:spPr>
          <a:xfrm>
            <a:off x="23533185" y="11314371"/>
            <a:ext cx="6635683" cy="1754326"/>
          </a:xfrm>
          <a:prstGeom prst="rect">
            <a:avLst/>
          </a:prstGeom>
          <a:noFill/>
        </p:spPr>
        <p:txBody>
          <a:bodyPr wrap="square" rtlCol="0">
            <a:spAutoFit/>
          </a:bodyPr>
          <a:lstStyle/>
          <a:p>
            <a:r>
              <a:rPr lang="en-US" sz="1200" dirty="0"/>
              <a:t>1. Priya, Shashank, et al. "A Review on Piezoelectric Energy Harvesting: Materials, Methods, and Circuits." *Energy Harvesting and Systems*, vol. 4, no. 1, 2017, MIT Open Access, https://dspace.mit.edu/bitstream/handle/1721.1/119839/ehs-AReviewonPiezoelectricEnergyHarvesting.pdf.  2. Ghazanfarian, Jafar, et al. "Piezoelectric Energy Harvesting: A Systematic Review of Reviews." *arXiv.org*, 2021, https://arxiv.org/pdf/2101.09312.  3. Zhou, Mengqi, et al. "Research Progress and Latest Achievements of Road Piezoelectric Vibration Energy Capture Technology Based on Intelligent Transportation Construction." *Intelligent Transportation Infrastructure*, vol. 2, 2023, Oxford Academic, https://academic.oup.com/iti/article/doi/10.1093/iti/liad014/7260582.</a:t>
            </a:r>
          </a:p>
        </p:txBody>
      </p:sp>
      <p:sp>
        <p:nvSpPr>
          <p:cNvPr id="30" name="TextBox 29">
            <a:extLst>
              <a:ext uri="{FF2B5EF4-FFF2-40B4-BE49-F238E27FC236}">
                <a16:creationId xmlns:a16="http://schemas.microsoft.com/office/drawing/2014/main" id="{36DB7276-9747-4789-CCFB-A5BBCBAE50FE}"/>
              </a:ext>
            </a:extLst>
          </p:cNvPr>
          <p:cNvSpPr txBox="1"/>
          <p:nvPr/>
        </p:nvSpPr>
        <p:spPr>
          <a:xfrm>
            <a:off x="23485049" y="18131510"/>
            <a:ext cx="6731957" cy="3308598"/>
          </a:xfrm>
          <a:prstGeom prst="rect">
            <a:avLst/>
          </a:prstGeom>
          <a:noFill/>
        </p:spPr>
        <p:txBody>
          <a:bodyPr wrap="square" rtlCol="0">
            <a:spAutoFit/>
          </a:bodyPr>
          <a:lstStyle/>
          <a:p>
            <a:r>
              <a:rPr lang="en-US" sz="1900" dirty="0"/>
              <a:t>This project was made possible thanks to the support and expertise of </a:t>
            </a:r>
            <a:r>
              <a:rPr lang="en-US" sz="1900" i="1" dirty="0"/>
              <a:t>Wurtec Inc.</a:t>
            </a:r>
            <a:r>
              <a:rPr lang="en-US" sz="1900" dirty="0"/>
              <a:t> whose commitment to safety innovation continues to drive industry advancements. </a:t>
            </a:r>
          </a:p>
          <a:p>
            <a:r>
              <a:rPr lang="en-US" sz="1900" dirty="0"/>
              <a:t>Special appreciation goes to faculty advisors, industry mentors, and peers, whose guidance and insights were instrumental in shaping and refining this capstone project. Their contributions helped ensure the success of the </a:t>
            </a:r>
            <a:r>
              <a:rPr lang="en-US" sz="1900" i="1" dirty="0"/>
              <a:t>Piezoelectric Energy Harvester for Inspection Counterweight Beeper Box</a:t>
            </a:r>
            <a:r>
              <a:rPr lang="en-US" sz="1900" dirty="0"/>
              <a:t> in its mission to enhance safety and promote sustainable engineering solutions.</a:t>
            </a:r>
          </a:p>
          <a:p>
            <a:endParaRPr lang="en-US" sz="1900" dirty="0"/>
          </a:p>
          <a:p>
            <a:r>
              <a:rPr lang="en-US" sz="1900" b="1" dirty="0"/>
              <a:t>Funding Source: </a:t>
            </a:r>
            <a:r>
              <a:rPr lang="en-US" sz="1900" i="1" dirty="0"/>
              <a:t>Wurtec Inc.</a:t>
            </a:r>
          </a:p>
        </p:txBody>
      </p:sp>
      <p:pic>
        <p:nvPicPr>
          <p:cNvPr id="35" name="Picture 34">
            <a:extLst>
              <a:ext uri="{FF2B5EF4-FFF2-40B4-BE49-F238E27FC236}">
                <a16:creationId xmlns:a16="http://schemas.microsoft.com/office/drawing/2014/main" id="{C13F956E-85C2-8369-4AF8-17FCBC19094D}"/>
              </a:ext>
            </a:extLst>
          </p:cNvPr>
          <p:cNvPicPr>
            <a:picLocks noChangeAspect="1"/>
          </p:cNvPicPr>
          <p:nvPr/>
        </p:nvPicPr>
        <p:blipFill>
          <a:blip r:embed="rId5"/>
          <a:srcRect l="6392" t="30046" b="21874"/>
          <a:stretch/>
        </p:blipFill>
        <p:spPr>
          <a:xfrm>
            <a:off x="23485049" y="14237987"/>
            <a:ext cx="6900164" cy="265810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6" name="Picture 35">
            <a:extLst>
              <a:ext uri="{FF2B5EF4-FFF2-40B4-BE49-F238E27FC236}">
                <a16:creationId xmlns:a16="http://schemas.microsoft.com/office/drawing/2014/main" id="{7C85E137-25D9-A932-8B63-99791F9113EC}"/>
              </a:ext>
            </a:extLst>
          </p:cNvPr>
          <p:cNvPicPr>
            <a:picLocks noChangeAspect="1"/>
          </p:cNvPicPr>
          <p:nvPr/>
        </p:nvPicPr>
        <p:blipFill>
          <a:blip r:embed="rId6"/>
          <a:stretch>
            <a:fillRect/>
          </a:stretch>
        </p:blipFill>
        <p:spPr>
          <a:xfrm>
            <a:off x="8979580" y="10181509"/>
            <a:ext cx="5478318" cy="3209952"/>
          </a:xfrm>
          <a:prstGeom prst="rect">
            <a:avLst/>
          </a:prstGeom>
        </p:spPr>
      </p:pic>
      <p:pic>
        <p:nvPicPr>
          <p:cNvPr id="39" name="Picture 38">
            <a:extLst>
              <a:ext uri="{FF2B5EF4-FFF2-40B4-BE49-F238E27FC236}">
                <a16:creationId xmlns:a16="http://schemas.microsoft.com/office/drawing/2014/main" id="{89BA2FB7-11C9-1751-1946-5118153EAF4B}"/>
              </a:ext>
            </a:extLst>
          </p:cNvPr>
          <p:cNvPicPr>
            <a:picLocks noChangeAspect="1"/>
          </p:cNvPicPr>
          <p:nvPr/>
        </p:nvPicPr>
        <p:blipFill>
          <a:blip r:embed="rId7"/>
          <a:srcRect l="2637" t="26328" r="7962" b="27124"/>
          <a:stretch/>
        </p:blipFill>
        <p:spPr>
          <a:xfrm>
            <a:off x="8805219" y="17021992"/>
            <a:ext cx="5827040" cy="2275467"/>
          </a:xfrm>
          <a:prstGeom prst="rect">
            <a:avLst/>
          </a:prstGeom>
        </p:spPr>
      </p:pic>
      <p:pic>
        <p:nvPicPr>
          <p:cNvPr id="40" name="Picture 39">
            <a:extLst>
              <a:ext uri="{FF2B5EF4-FFF2-40B4-BE49-F238E27FC236}">
                <a16:creationId xmlns:a16="http://schemas.microsoft.com/office/drawing/2014/main" id="{6E92283F-12EE-37D5-64B1-E62DE168A5EC}"/>
              </a:ext>
            </a:extLst>
          </p:cNvPr>
          <p:cNvPicPr>
            <a:picLocks noChangeAspect="1"/>
          </p:cNvPicPr>
          <p:nvPr/>
        </p:nvPicPr>
        <p:blipFill>
          <a:blip r:embed="rId8"/>
          <a:stretch>
            <a:fillRect/>
          </a:stretch>
        </p:blipFill>
        <p:spPr>
          <a:xfrm>
            <a:off x="16219140" y="15776264"/>
            <a:ext cx="4779106" cy="2491457"/>
          </a:xfrm>
          <a:prstGeom prst="rect">
            <a:avLst/>
          </a:prstGeom>
        </p:spPr>
      </p:pic>
      <p:pic>
        <p:nvPicPr>
          <p:cNvPr id="41" name="Picture 40">
            <a:extLst>
              <a:ext uri="{FF2B5EF4-FFF2-40B4-BE49-F238E27FC236}">
                <a16:creationId xmlns:a16="http://schemas.microsoft.com/office/drawing/2014/main" id="{AB45967C-2008-6681-42C4-E100289F4051}"/>
              </a:ext>
            </a:extLst>
          </p:cNvPr>
          <p:cNvPicPr>
            <a:picLocks noChangeAspect="1"/>
          </p:cNvPicPr>
          <p:nvPr/>
        </p:nvPicPr>
        <p:blipFill>
          <a:blip r:embed="rId9"/>
          <a:stretch>
            <a:fillRect/>
          </a:stretch>
        </p:blipFill>
        <p:spPr>
          <a:xfrm>
            <a:off x="20764126" y="17300264"/>
            <a:ext cx="1591505" cy="3599091"/>
          </a:xfrm>
          <a:prstGeom prst="rect">
            <a:avLst/>
          </a:prstGeom>
        </p:spPr>
      </p:pic>
      <p:pic>
        <p:nvPicPr>
          <p:cNvPr id="42" name="Picture 41">
            <a:extLst>
              <a:ext uri="{FF2B5EF4-FFF2-40B4-BE49-F238E27FC236}">
                <a16:creationId xmlns:a16="http://schemas.microsoft.com/office/drawing/2014/main" id="{24339576-C12D-E980-82C3-FE7318FBFC26}"/>
              </a:ext>
            </a:extLst>
          </p:cNvPr>
          <p:cNvPicPr>
            <a:picLocks noChangeAspect="1"/>
          </p:cNvPicPr>
          <p:nvPr/>
        </p:nvPicPr>
        <p:blipFill>
          <a:blip r:embed="rId10"/>
          <a:stretch>
            <a:fillRect/>
          </a:stretch>
        </p:blipFill>
        <p:spPr>
          <a:xfrm>
            <a:off x="16915653" y="18496321"/>
            <a:ext cx="3637848" cy="3063718"/>
          </a:xfrm>
          <a:prstGeom prst="rect">
            <a:avLst/>
          </a:prstGeom>
        </p:spPr>
      </p:pic>
    </p:spTree>
    <p:extLst>
      <p:ext uri="{BB962C8B-B14F-4D97-AF65-F5344CB8AC3E}">
        <p14:creationId xmlns:p14="http://schemas.microsoft.com/office/powerpoint/2010/main" val="3531817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EF341284BAA4442B4FF4DF8C9F4F5AF" ma:contentTypeVersion="15" ma:contentTypeDescription="Create a new document." ma:contentTypeScope="" ma:versionID="7c829eca4ed43a63f7fdc68065dc765a">
  <xsd:schema xmlns:xsd="http://www.w3.org/2001/XMLSchema" xmlns:xs="http://www.w3.org/2001/XMLSchema" xmlns:p="http://schemas.microsoft.com/office/2006/metadata/properties" xmlns:ns3="9e2a9515-e287-4c4d-8438-9790ab04a97e" xmlns:ns4="00418fa8-2e86-4f9c-a797-9c682230705d" targetNamespace="http://schemas.microsoft.com/office/2006/metadata/properties" ma:root="true" ma:fieldsID="ca4ec2f9284c930fb59415f2cdf1d676" ns3:_="" ns4:_="">
    <xsd:import namespace="9e2a9515-e287-4c4d-8438-9790ab04a97e"/>
    <xsd:import namespace="00418fa8-2e86-4f9c-a797-9c682230705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2a9515-e287-4c4d-8438-9790ab04a9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0418fa8-2e86-4f9c-a797-9c682230705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e2a9515-e287-4c4d-8438-9790ab04a97e" xsi:nil="true"/>
  </documentManagement>
</p:properties>
</file>

<file path=customXml/itemProps1.xml><?xml version="1.0" encoding="utf-8"?>
<ds:datastoreItem xmlns:ds="http://schemas.openxmlformats.org/officeDocument/2006/customXml" ds:itemID="{2DE8B2BC-B1AE-41B3-BD97-69E2C87EA897}">
  <ds:schemaRefs>
    <ds:schemaRef ds:uri="http://schemas.microsoft.com/sharepoint/v3/contenttype/forms"/>
  </ds:schemaRefs>
</ds:datastoreItem>
</file>

<file path=customXml/itemProps2.xml><?xml version="1.0" encoding="utf-8"?>
<ds:datastoreItem xmlns:ds="http://schemas.openxmlformats.org/officeDocument/2006/customXml" ds:itemID="{4465ACC5-D11E-45DE-A715-511F6F8399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2a9515-e287-4c4d-8438-9790ab04a97e"/>
    <ds:schemaRef ds:uri="00418fa8-2e86-4f9c-a797-9c68223070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F587CAC-AD74-481E-B227-E936FA04E209}">
  <ds:schemaRefs>
    <ds:schemaRef ds:uri="http://schemas.microsoft.com/office/2006/metadata/properties"/>
    <ds:schemaRef ds:uri="9e2a9515-e287-4c4d-8438-9790ab04a97e"/>
    <ds:schemaRef ds:uri="http://schemas.microsoft.com/office/2006/documentManagement/types"/>
    <ds:schemaRef ds:uri="http://purl.org/dc/terms/"/>
    <ds:schemaRef ds:uri="http://purl.org/dc/elements/1.1/"/>
    <ds:schemaRef ds:uri="00418fa8-2e86-4f9c-a797-9c682230705d"/>
    <ds:schemaRef ds:uri="http://schemas.openxmlformats.org/package/2006/metadata/core-properties"/>
    <ds:schemaRef ds:uri="http://purl.org/dc/dcmitype/"/>
    <ds:schemaRef ds:uri="http://www.w3.org/XML/1998/namespa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10931</TotalTime>
  <Words>1126</Words>
  <Application>Microsoft Office PowerPoint</Application>
  <PresentationFormat>Custom</PresentationFormat>
  <Paragraphs>80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Calibri Light</vt:lpstr>
      <vt:lpstr>Quattrocento</vt:lpstr>
      <vt:lpstr>Office 2013 - 2022 Theme</vt:lpstr>
      <vt:lpstr>PowerPoint Presentation</vt:lpstr>
    </vt:vector>
  </TitlesOfParts>
  <Company>Dartmouth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Memory in the Two Cerebral Hemispheres M.G. Funnell, M.K. Colvin, &amp; M.S. Gazzaniga Center for Cognitive Neuroscience, Dartmouth College</dc:title>
  <dc:creator>Margaret Funnell</dc:creator>
  <cp:lastModifiedBy>Sonia Mary Chacko</cp:lastModifiedBy>
  <cp:revision>36</cp:revision>
  <cp:lastPrinted>2003-03-25T14:30:39Z</cp:lastPrinted>
  <dcterms:created xsi:type="dcterms:W3CDTF">2003-03-14T19:43:06Z</dcterms:created>
  <dcterms:modified xsi:type="dcterms:W3CDTF">2025-04-29T12:59:15Z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0x0101008EF341284BAA4442B4FF4DF8C9F4F5AF</vt:lpwstr>
  </property>
</Properties>
</file>